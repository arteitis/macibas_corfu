
<file path=[Content_Types].xml><?xml version="1.0" encoding="utf-8"?>
<Types xmlns="http://schemas.openxmlformats.org/package/2006/content-types">
  <Default Extension="jpeg" ContentType="image/jpeg"/>
  <Default Extension="jp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9"/>
  </p:notesMasterIdLst>
  <p:sldIdLst>
    <p:sldId id="256" r:id="rId2"/>
    <p:sldId id="288" r:id="rId3"/>
    <p:sldId id="279" r:id="rId4"/>
    <p:sldId id="258" r:id="rId5"/>
    <p:sldId id="259" r:id="rId6"/>
    <p:sldId id="260" r:id="rId7"/>
    <p:sldId id="261" r:id="rId8"/>
    <p:sldId id="262" r:id="rId9"/>
    <p:sldId id="280" r:id="rId10"/>
    <p:sldId id="263" r:id="rId11"/>
    <p:sldId id="264" r:id="rId12"/>
    <p:sldId id="265" r:id="rId13"/>
    <p:sldId id="266" r:id="rId14"/>
    <p:sldId id="267" r:id="rId15"/>
    <p:sldId id="268" r:id="rId16"/>
    <p:sldId id="269" r:id="rId17"/>
    <p:sldId id="270" r:id="rId18"/>
    <p:sldId id="289" r:id="rId19"/>
    <p:sldId id="291" r:id="rId20"/>
    <p:sldId id="293" r:id="rId21"/>
    <p:sldId id="271" r:id="rId22"/>
    <p:sldId id="272" r:id="rId23"/>
    <p:sldId id="273" r:id="rId24"/>
    <p:sldId id="274" r:id="rId25"/>
    <p:sldId id="281" r:id="rId26"/>
    <p:sldId id="283" r:id="rId27"/>
    <p:sldId id="2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Φωτεινό στυλ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Χωρίς στυλ, πλέγμα πίνακα">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Φωτεινό στυλ 3 - Έμφαση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7" autoAdjust="0"/>
    <p:restoredTop sz="85451" autoAdjust="0"/>
  </p:normalViewPr>
  <p:slideViewPr>
    <p:cSldViewPr snapToGrid="0">
      <p:cViewPr varScale="1">
        <p:scale>
          <a:sx n="91" d="100"/>
          <a:sy n="91" d="100"/>
        </p:scale>
        <p:origin x="1272" y="7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IOS DIMITRAKOPOULOS" userId="0614bc40-ecc2-4674-8a86-e5df437c2e7b" providerId="ADAL" clId="{241D36BE-FE1E-4FC3-99E3-E69D34DF589D}"/>
    <pc:docChg chg="undo custSel addSld delSld modSld sldOrd">
      <pc:chgData name="GEORGIOS DIMITRAKOPOULOS" userId="0614bc40-ecc2-4674-8a86-e5df437c2e7b" providerId="ADAL" clId="{241D36BE-FE1E-4FC3-99E3-E69D34DF589D}" dt="2026-10-14T15:52:54.300" v="257" actId="20577"/>
      <pc:docMkLst>
        <pc:docMk/>
      </pc:docMkLst>
      <pc:sldChg chg="modSp add">
        <pc:chgData name="GEORGIOS DIMITRAKOPOULOS" userId="0614bc40-ecc2-4674-8a86-e5df437c2e7b" providerId="ADAL" clId="{241D36BE-FE1E-4FC3-99E3-E69D34DF589D}" dt="2026-10-14T10:45:01.611" v="2"/>
        <pc:sldMkLst>
          <pc:docMk/>
          <pc:sldMk cId="0" sldId="257"/>
        </pc:sldMkLst>
        <pc:spChg chg="mod">
          <ac:chgData name="GEORGIOS DIMITRAKOPOULOS" userId="0614bc40-ecc2-4674-8a86-e5df437c2e7b" providerId="ADAL" clId="{241D36BE-FE1E-4FC3-99E3-E69D34DF589D}" dt="2026-10-14T10:45:01.611" v="2"/>
          <ac:spMkLst>
            <pc:docMk/>
            <pc:sldMk cId="0" sldId="257"/>
            <ac:spMk id="7" creationId="{CF73E598-6BA8-9FA6-38EE-31771FBF08C8}"/>
          </ac:spMkLst>
        </pc:spChg>
      </pc:sldChg>
      <pc:sldChg chg="modSp add">
        <pc:chgData name="GEORGIOS DIMITRAKOPOULOS" userId="0614bc40-ecc2-4674-8a86-e5df437c2e7b" providerId="ADAL" clId="{241D36BE-FE1E-4FC3-99E3-E69D34DF589D}" dt="2026-10-14T10:46:14.727" v="3"/>
        <pc:sldMkLst>
          <pc:docMk/>
          <pc:sldMk cId="0" sldId="258"/>
        </pc:sldMkLst>
        <pc:spChg chg="mod">
          <ac:chgData name="GEORGIOS DIMITRAKOPOULOS" userId="0614bc40-ecc2-4674-8a86-e5df437c2e7b" providerId="ADAL" clId="{241D36BE-FE1E-4FC3-99E3-E69D34DF589D}" dt="2026-10-14T10:46:14.727" v="3"/>
          <ac:spMkLst>
            <pc:docMk/>
            <pc:sldMk cId="0" sldId="258"/>
            <ac:spMk id="7" creationId="{CC36293E-40B1-B280-5A4E-FF0AE6AFAD72}"/>
          </ac:spMkLst>
        </pc:spChg>
      </pc:sldChg>
      <pc:sldChg chg="add">
        <pc:chgData name="GEORGIOS DIMITRAKOPOULOS" userId="0614bc40-ecc2-4674-8a86-e5df437c2e7b" providerId="ADAL" clId="{241D36BE-FE1E-4FC3-99E3-E69D34DF589D}" dt="2026-10-14T10:41:38.689" v="1"/>
        <pc:sldMkLst>
          <pc:docMk/>
          <pc:sldMk cId="0" sldId="259"/>
        </pc:sldMkLst>
      </pc:sldChg>
      <pc:sldChg chg="add">
        <pc:chgData name="GEORGIOS DIMITRAKOPOULOS" userId="0614bc40-ecc2-4674-8a86-e5df437c2e7b" providerId="ADAL" clId="{241D36BE-FE1E-4FC3-99E3-E69D34DF589D}" dt="2026-10-14T10:41:38.689" v="1"/>
        <pc:sldMkLst>
          <pc:docMk/>
          <pc:sldMk cId="0" sldId="260"/>
        </pc:sldMkLst>
      </pc:sldChg>
      <pc:sldChg chg="add">
        <pc:chgData name="GEORGIOS DIMITRAKOPOULOS" userId="0614bc40-ecc2-4674-8a86-e5df437c2e7b" providerId="ADAL" clId="{241D36BE-FE1E-4FC3-99E3-E69D34DF589D}" dt="2026-10-14T10:41:38.689" v="1"/>
        <pc:sldMkLst>
          <pc:docMk/>
          <pc:sldMk cId="0" sldId="261"/>
        </pc:sldMkLst>
      </pc:sldChg>
      <pc:sldChg chg="add">
        <pc:chgData name="GEORGIOS DIMITRAKOPOULOS" userId="0614bc40-ecc2-4674-8a86-e5df437c2e7b" providerId="ADAL" clId="{241D36BE-FE1E-4FC3-99E3-E69D34DF589D}" dt="2026-10-14T10:41:38.689" v="1"/>
        <pc:sldMkLst>
          <pc:docMk/>
          <pc:sldMk cId="0" sldId="262"/>
        </pc:sldMkLst>
      </pc:sldChg>
      <pc:sldChg chg="add">
        <pc:chgData name="GEORGIOS DIMITRAKOPOULOS" userId="0614bc40-ecc2-4674-8a86-e5df437c2e7b" providerId="ADAL" clId="{241D36BE-FE1E-4FC3-99E3-E69D34DF589D}" dt="2026-10-14T10:41:38.689" v="1"/>
        <pc:sldMkLst>
          <pc:docMk/>
          <pc:sldMk cId="0" sldId="263"/>
        </pc:sldMkLst>
      </pc:sldChg>
      <pc:sldChg chg="add">
        <pc:chgData name="GEORGIOS DIMITRAKOPOULOS" userId="0614bc40-ecc2-4674-8a86-e5df437c2e7b" providerId="ADAL" clId="{241D36BE-FE1E-4FC3-99E3-E69D34DF589D}" dt="2026-10-14T10:41:38.689" v="1"/>
        <pc:sldMkLst>
          <pc:docMk/>
          <pc:sldMk cId="0" sldId="264"/>
        </pc:sldMkLst>
      </pc:sldChg>
      <pc:sldChg chg="add">
        <pc:chgData name="GEORGIOS DIMITRAKOPOULOS" userId="0614bc40-ecc2-4674-8a86-e5df437c2e7b" providerId="ADAL" clId="{241D36BE-FE1E-4FC3-99E3-E69D34DF589D}" dt="2026-10-14T10:41:38.689" v="1"/>
        <pc:sldMkLst>
          <pc:docMk/>
          <pc:sldMk cId="0" sldId="265"/>
        </pc:sldMkLst>
      </pc:sldChg>
      <pc:sldChg chg="add">
        <pc:chgData name="GEORGIOS DIMITRAKOPOULOS" userId="0614bc40-ecc2-4674-8a86-e5df437c2e7b" providerId="ADAL" clId="{241D36BE-FE1E-4FC3-99E3-E69D34DF589D}" dt="2026-10-14T10:41:38.689" v="1"/>
        <pc:sldMkLst>
          <pc:docMk/>
          <pc:sldMk cId="0" sldId="266"/>
        </pc:sldMkLst>
      </pc:sldChg>
      <pc:sldChg chg="add">
        <pc:chgData name="GEORGIOS DIMITRAKOPOULOS" userId="0614bc40-ecc2-4674-8a86-e5df437c2e7b" providerId="ADAL" clId="{241D36BE-FE1E-4FC3-99E3-E69D34DF589D}" dt="2026-10-14T10:41:38.689" v="1"/>
        <pc:sldMkLst>
          <pc:docMk/>
          <pc:sldMk cId="0" sldId="267"/>
        </pc:sldMkLst>
      </pc:sldChg>
      <pc:sldChg chg="add">
        <pc:chgData name="GEORGIOS DIMITRAKOPOULOS" userId="0614bc40-ecc2-4674-8a86-e5df437c2e7b" providerId="ADAL" clId="{241D36BE-FE1E-4FC3-99E3-E69D34DF589D}" dt="2026-10-14T10:41:38.689" v="1"/>
        <pc:sldMkLst>
          <pc:docMk/>
          <pc:sldMk cId="0" sldId="268"/>
        </pc:sldMkLst>
      </pc:sldChg>
      <pc:sldChg chg="add">
        <pc:chgData name="GEORGIOS DIMITRAKOPOULOS" userId="0614bc40-ecc2-4674-8a86-e5df437c2e7b" providerId="ADAL" clId="{241D36BE-FE1E-4FC3-99E3-E69D34DF589D}" dt="2026-10-14T10:41:38.689" v="1"/>
        <pc:sldMkLst>
          <pc:docMk/>
          <pc:sldMk cId="0" sldId="269"/>
        </pc:sldMkLst>
      </pc:sldChg>
      <pc:sldChg chg="add">
        <pc:chgData name="GEORGIOS DIMITRAKOPOULOS" userId="0614bc40-ecc2-4674-8a86-e5df437c2e7b" providerId="ADAL" clId="{241D36BE-FE1E-4FC3-99E3-E69D34DF589D}" dt="2026-10-14T10:41:38.689" v="1"/>
        <pc:sldMkLst>
          <pc:docMk/>
          <pc:sldMk cId="0" sldId="270"/>
        </pc:sldMkLst>
      </pc:sldChg>
      <pc:sldChg chg="add">
        <pc:chgData name="GEORGIOS DIMITRAKOPOULOS" userId="0614bc40-ecc2-4674-8a86-e5df437c2e7b" providerId="ADAL" clId="{241D36BE-FE1E-4FC3-99E3-E69D34DF589D}" dt="2026-10-14T10:41:38.689" v="1"/>
        <pc:sldMkLst>
          <pc:docMk/>
          <pc:sldMk cId="0" sldId="271"/>
        </pc:sldMkLst>
      </pc:sldChg>
      <pc:sldChg chg="add">
        <pc:chgData name="GEORGIOS DIMITRAKOPOULOS" userId="0614bc40-ecc2-4674-8a86-e5df437c2e7b" providerId="ADAL" clId="{241D36BE-FE1E-4FC3-99E3-E69D34DF589D}" dt="2026-10-14T10:41:38.689" v="1"/>
        <pc:sldMkLst>
          <pc:docMk/>
          <pc:sldMk cId="0" sldId="272"/>
        </pc:sldMkLst>
      </pc:sldChg>
      <pc:sldChg chg="add">
        <pc:chgData name="GEORGIOS DIMITRAKOPOULOS" userId="0614bc40-ecc2-4674-8a86-e5df437c2e7b" providerId="ADAL" clId="{241D36BE-FE1E-4FC3-99E3-E69D34DF589D}" dt="2026-10-14T10:41:38.689" v="1"/>
        <pc:sldMkLst>
          <pc:docMk/>
          <pc:sldMk cId="0" sldId="273"/>
        </pc:sldMkLst>
      </pc:sldChg>
      <pc:sldChg chg="add">
        <pc:chgData name="GEORGIOS DIMITRAKOPOULOS" userId="0614bc40-ecc2-4674-8a86-e5df437c2e7b" providerId="ADAL" clId="{241D36BE-FE1E-4FC3-99E3-E69D34DF589D}" dt="2026-10-14T10:41:38.689" v="1"/>
        <pc:sldMkLst>
          <pc:docMk/>
          <pc:sldMk cId="0" sldId="274"/>
        </pc:sldMkLst>
      </pc:sldChg>
      <pc:sldChg chg="addSp modSp add">
        <pc:chgData name="GEORGIOS DIMITRAKOPOULOS" userId="0614bc40-ecc2-4674-8a86-e5df437c2e7b" providerId="ADAL" clId="{241D36BE-FE1E-4FC3-99E3-E69D34DF589D}" dt="2026-10-14T10:56:24.318" v="10"/>
        <pc:sldMkLst>
          <pc:docMk/>
          <pc:sldMk cId="0" sldId="275"/>
        </pc:sldMkLst>
        <pc:spChg chg="add mod">
          <ac:chgData name="GEORGIOS DIMITRAKOPOULOS" userId="0614bc40-ecc2-4674-8a86-e5df437c2e7b" providerId="ADAL" clId="{241D36BE-FE1E-4FC3-99E3-E69D34DF589D}" dt="2026-10-14T10:56:24.318" v="10"/>
          <ac:spMkLst>
            <pc:docMk/>
            <pc:sldMk cId="0" sldId="275"/>
            <ac:spMk id="17" creationId="{632E1792-3D58-7C0B-87DF-DF908ED30A5C}"/>
          </ac:spMkLst>
        </pc:spChg>
        <pc:picChg chg="add">
          <ac:chgData name="GEORGIOS DIMITRAKOPOULOS" userId="0614bc40-ecc2-4674-8a86-e5df437c2e7b" providerId="ADAL" clId="{241D36BE-FE1E-4FC3-99E3-E69D34DF589D}" dt="2026-10-14T10:56:20.254" v="9"/>
          <ac:picMkLst>
            <pc:docMk/>
            <pc:sldMk cId="0" sldId="275"/>
            <ac:picMk id="16" creationId="{848DEC42-6175-1668-BA66-5726A1BA488C}"/>
          </ac:picMkLst>
        </pc:picChg>
        <pc:cxnChg chg="add mod">
          <ac:chgData name="GEORGIOS DIMITRAKOPOULOS" userId="0614bc40-ecc2-4674-8a86-e5df437c2e7b" providerId="ADAL" clId="{241D36BE-FE1E-4FC3-99E3-E69D34DF589D}" dt="2026-10-14T10:56:24.318" v="10"/>
          <ac:cxnSpMkLst>
            <pc:docMk/>
            <pc:sldMk cId="0" sldId="275"/>
            <ac:cxnSpMk id="18" creationId="{363B438E-5AC0-E601-28AC-1D1CD47DDA94}"/>
          </ac:cxnSpMkLst>
        </pc:cxnChg>
      </pc:sldChg>
      <pc:sldChg chg="add">
        <pc:chgData name="GEORGIOS DIMITRAKOPOULOS" userId="0614bc40-ecc2-4674-8a86-e5df437c2e7b" providerId="ADAL" clId="{241D36BE-FE1E-4FC3-99E3-E69D34DF589D}" dt="2026-10-14T10:41:38.689" v="1"/>
        <pc:sldMkLst>
          <pc:docMk/>
          <pc:sldMk cId="0" sldId="276"/>
        </pc:sldMkLst>
      </pc:sldChg>
      <pc:sldChg chg="add">
        <pc:chgData name="GEORGIOS DIMITRAKOPOULOS" userId="0614bc40-ecc2-4674-8a86-e5df437c2e7b" providerId="ADAL" clId="{241D36BE-FE1E-4FC3-99E3-E69D34DF589D}" dt="2026-10-14T10:40:31.070" v="0"/>
        <pc:sldMkLst>
          <pc:docMk/>
          <pc:sldMk cId="0" sldId="277"/>
        </pc:sldMkLst>
      </pc:sldChg>
      <pc:sldChg chg="add">
        <pc:chgData name="GEORGIOS DIMITRAKOPOULOS" userId="0614bc40-ecc2-4674-8a86-e5df437c2e7b" providerId="ADAL" clId="{241D36BE-FE1E-4FC3-99E3-E69D34DF589D}" dt="2026-10-14T10:41:38.689" v="1"/>
        <pc:sldMkLst>
          <pc:docMk/>
          <pc:sldMk cId="0" sldId="278"/>
        </pc:sldMkLst>
      </pc:sldChg>
      <pc:sldChg chg="addSp delSp modSp mod">
        <pc:chgData name="GEORGIOS DIMITRAKOPOULOS" userId="0614bc40-ecc2-4674-8a86-e5df437c2e7b" providerId="ADAL" clId="{241D36BE-FE1E-4FC3-99E3-E69D34DF589D}" dt="2026-10-14T11:33:53.760" v="27" actId="22"/>
        <pc:sldMkLst>
          <pc:docMk/>
          <pc:sldMk cId="2724765826" sldId="279"/>
        </pc:sldMkLst>
        <pc:spChg chg="add del">
          <ac:chgData name="GEORGIOS DIMITRAKOPOULOS" userId="0614bc40-ecc2-4674-8a86-e5df437c2e7b" providerId="ADAL" clId="{241D36BE-FE1E-4FC3-99E3-E69D34DF589D}" dt="2026-10-14T11:33:53.760" v="27" actId="22"/>
          <ac:spMkLst>
            <pc:docMk/>
            <pc:sldMk cId="2724765826" sldId="279"/>
            <ac:spMk id="6" creationId="{C870C8AD-E92C-BFED-74B1-8B42A0D8E3D7}"/>
          </ac:spMkLst>
        </pc:spChg>
        <pc:spChg chg="add mod">
          <ac:chgData name="GEORGIOS DIMITRAKOPOULOS" userId="0614bc40-ecc2-4674-8a86-e5df437c2e7b" providerId="ADAL" clId="{241D36BE-FE1E-4FC3-99E3-E69D34DF589D}" dt="2026-10-14T10:49:10.584" v="4"/>
          <ac:spMkLst>
            <pc:docMk/>
            <pc:sldMk cId="2724765826" sldId="279"/>
            <ac:spMk id="10" creationId="{ED1102E2-8137-7AC4-B015-D1FCEDC2ADFC}"/>
          </ac:spMkLst>
        </pc:spChg>
        <pc:cxnChg chg="add mod">
          <ac:chgData name="GEORGIOS DIMITRAKOPOULOS" userId="0614bc40-ecc2-4674-8a86-e5df437c2e7b" providerId="ADAL" clId="{241D36BE-FE1E-4FC3-99E3-E69D34DF589D}" dt="2026-10-14T10:49:13.746" v="5"/>
          <ac:cxnSpMkLst>
            <pc:docMk/>
            <pc:sldMk cId="2724765826" sldId="279"/>
            <ac:cxnSpMk id="11" creationId="{C823965C-C00B-0090-82DB-8E470E35379D}"/>
          </ac:cxnSpMkLst>
        </pc:cxnChg>
      </pc:sldChg>
      <pc:sldChg chg="addSp delSp modSp mod">
        <pc:chgData name="GEORGIOS DIMITRAKOPOULOS" userId="0614bc40-ecc2-4674-8a86-e5df437c2e7b" providerId="ADAL" clId="{241D36BE-FE1E-4FC3-99E3-E69D34DF589D}" dt="2026-10-14T15:04:50.172" v="197" actId="22"/>
        <pc:sldMkLst>
          <pc:docMk/>
          <pc:sldMk cId="2686383300" sldId="280"/>
        </pc:sldMkLst>
        <pc:spChg chg="add mod">
          <ac:chgData name="GEORGIOS DIMITRAKOPOULOS" userId="0614bc40-ecc2-4674-8a86-e5df437c2e7b" providerId="ADAL" clId="{241D36BE-FE1E-4FC3-99E3-E69D34DF589D}" dt="2026-10-14T10:56:03.341" v="8"/>
          <ac:spMkLst>
            <pc:docMk/>
            <pc:sldMk cId="2686383300" sldId="280"/>
            <ac:spMk id="18" creationId="{B50F3CE2-72FA-9C5D-1424-F6F2E6AA4BC6}"/>
          </ac:spMkLst>
        </pc:spChg>
        <pc:picChg chg="add">
          <ac:chgData name="GEORGIOS DIMITRAKOPOULOS" userId="0614bc40-ecc2-4674-8a86-e5df437c2e7b" providerId="ADAL" clId="{241D36BE-FE1E-4FC3-99E3-E69D34DF589D}" dt="2026-10-14T10:55:30.195" v="6"/>
          <ac:picMkLst>
            <pc:docMk/>
            <pc:sldMk cId="2686383300" sldId="280"/>
            <ac:picMk id="3" creationId="{EAFF0175-DC27-D83A-9525-B3A3BF447B23}"/>
          </ac:picMkLst>
        </pc:picChg>
        <pc:picChg chg="add">
          <ac:chgData name="GEORGIOS DIMITRAKOPOULOS" userId="0614bc40-ecc2-4674-8a86-e5df437c2e7b" providerId="ADAL" clId="{241D36BE-FE1E-4FC3-99E3-E69D34DF589D}" dt="2026-10-14T15:04:50.172" v="197" actId="22"/>
          <ac:picMkLst>
            <pc:docMk/>
            <pc:sldMk cId="2686383300" sldId="280"/>
            <ac:picMk id="3" creationId="{F7C01627-F205-F26B-FC28-30C06BC5A512}"/>
          </ac:picMkLst>
        </pc:picChg>
        <pc:picChg chg="add del">
          <ac:chgData name="GEORGIOS DIMITRAKOPOULOS" userId="0614bc40-ecc2-4674-8a86-e5df437c2e7b" providerId="ADAL" clId="{241D36BE-FE1E-4FC3-99E3-E69D34DF589D}" dt="2026-10-14T15:04:49.850" v="196" actId="478"/>
          <ac:picMkLst>
            <pc:docMk/>
            <pc:sldMk cId="2686383300" sldId="280"/>
            <ac:picMk id="17" creationId="{277162D2-D98C-DDD1-837A-182F2204A296}"/>
          </ac:picMkLst>
        </pc:picChg>
        <pc:cxnChg chg="add mod">
          <ac:chgData name="GEORGIOS DIMITRAKOPOULOS" userId="0614bc40-ecc2-4674-8a86-e5df437c2e7b" providerId="ADAL" clId="{241D36BE-FE1E-4FC3-99E3-E69D34DF589D}" dt="2026-10-14T10:56:03.341" v="8"/>
          <ac:cxnSpMkLst>
            <pc:docMk/>
            <pc:sldMk cId="2686383300" sldId="280"/>
            <ac:cxnSpMk id="19" creationId="{4AF40C1C-AF8E-FA97-348E-9B865A0E1396}"/>
          </ac:cxnSpMkLst>
        </pc:cxnChg>
      </pc:sldChg>
      <pc:sldChg chg="addSp delSp modSp add mod">
        <pc:chgData name="GEORGIOS DIMITRAKOPOULOS" userId="0614bc40-ecc2-4674-8a86-e5df437c2e7b" providerId="ADAL" clId="{241D36BE-FE1E-4FC3-99E3-E69D34DF589D}" dt="2026-10-14T15:51:28.482" v="205" actId="1076"/>
        <pc:sldMkLst>
          <pc:docMk/>
          <pc:sldMk cId="100477324" sldId="281"/>
        </pc:sldMkLst>
        <pc:spChg chg="mod">
          <ac:chgData name="GEORGIOS DIMITRAKOPOULOS" userId="0614bc40-ecc2-4674-8a86-e5df437c2e7b" providerId="ADAL" clId="{241D36BE-FE1E-4FC3-99E3-E69D34DF589D}" dt="2026-10-14T10:57:16.845" v="12"/>
          <ac:spMkLst>
            <pc:docMk/>
            <pc:sldMk cId="100477324" sldId="281"/>
            <ac:spMk id="5" creationId="{E57CD8BE-8C8C-427B-226C-BF49C95AB360}"/>
          </ac:spMkLst>
        </pc:spChg>
        <pc:picChg chg="del">
          <ac:chgData name="GEORGIOS DIMITRAKOPOULOS" userId="0614bc40-ecc2-4674-8a86-e5df437c2e7b" providerId="ADAL" clId="{241D36BE-FE1E-4FC3-99E3-E69D34DF589D}" dt="2026-10-14T15:51:11.162" v="198" actId="478"/>
          <ac:picMkLst>
            <pc:docMk/>
            <pc:sldMk cId="100477324" sldId="281"/>
            <ac:picMk id="7" creationId="{EF9ED314-9FD8-4678-B56F-5BF9572BC749}"/>
          </ac:picMkLst>
        </pc:picChg>
        <pc:picChg chg="add mod modCrop">
          <ac:chgData name="GEORGIOS DIMITRAKOPOULOS" userId="0614bc40-ecc2-4674-8a86-e5df437c2e7b" providerId="ADAL" clId="{241D36BE-FE1E-4FC3-99E3-E69D34DF589D}" dt="2026-10-14T15:51:28.482" v="205" actId="1076"/>
          <ac:picMkLst>
            <pc:docMk/>
            <pc:sldMk cId="100477324" sldId="281"/>
            <ac:picMk id="8" creationId="{423D7796-6996-5ADB-2EA9-DC41F995570E}"/>
          </ac:picMkLst>
        </pc:picChg>
      </pc:sldChg>
      <pc:sldChg chg="addSp add del">
        <pc:chgData name="GEORGIOS DIMITRAKOPOULOS" userId="0614bc40-ecc2-4674-8a86-e5df437c2e7b" providerId="ADAL" clId="{241D36BE-FE1E-4FC3-99E3-E69D34DF589D}" dt="2026-10-14T15:51:35.545" v="206" actId="47"/>
        <pc:sldMkLst>
          <pc:docMk/>
          <pc:sldMk cId="3053767125" sldId="282"/>
        </pc:sldMkLst>
        <pc:picChg chg="add">
          <ac:chgData name="GEORGIOS DIMITRAKOPOULOS" userId="0614bc40-ecc2-4674-8a86-e5df437c2e7b" providerId="ADAL" clId="{241D36BE-FE1E-4FC3-99E3-E69D34DF589D}" dt="2026-10-14T10:57:33.881" v="14"/>
          <ac:picMkLst>
            <pc:docMk/>
            <pc:sldMk cId="3053767125" sldId="282"/>
            <ac:picMk id="8" creationId="{0C1E35A1-1B29-C84C-206A-E520EBF74163}"/>
          </ac:picMkLst>
        </pc:picChg>
      </pc:sldChg>
      <pc:sldChg chg="addSp delSp modSp add mod">
        <pc:chgData name="GEORGIOS DIMITRAKOPOULOS" userId="0614bc40-ecc2-4674-8a86-e5df437c2e7b" providerId="ADAL" clId="{241D36BE-FE1E-4FC3-99E3-E69D34DF589D}" dt="2026-10-14T15:52:54.300" v="257" actId="20577"/>
        <pc:sldMkLst>
          <pc:docMk/>
          <pc:sldMk cId="1284826280" sldId="283"/>
        </pc:sldMkLst>
        <pc:spChg chg="add mod">
          <ac:chgData name="GEORGIOS DIMITRAKOPOULOS" userId="0614bc40-ecc2-4674-8a86-e5df437c2e7b" providerId="ADAL" clId="{241D36BE-FE1E-4FC3-99E3-E69D34DF589D}" dt="2026-10-14T15:52:54.300" v="257" actId="20577"/>
          <ac:spMkLst>
            <pc:docMk/>
            <pc:sldMk cId="1284826280" sldId="283"/>
            <ac:spMk id="8" creationId="{60CC5141-3332-8C9A-F8F2-B373D44E2F7C}"/>
          </ac:spMkLst>
        </pc:spChg>
        <pc:picChg chg="add mod">
          <ac:chgData name="GEORGIOS DIMITRAKOPOULOS" userId="0614bc40-ecc2-4674-8a86-e5df437c2e7b" providerId="ADAL" clId="{241D36BE-FE1E-4FC3-99E3-E69D34DF589D}" dt="2026-10-14T15:52:24.415" v="210" actId="1076"/>
          <ac:picMkLst>
            <pc:docMk/>
            <pc:sldMk cId="1284826280" sldId="283"/>
            <ac:picMk id="4" creationId="{6EF2B985-999D-4EC2-15AD-D1E7D4C5A398}"/>
          </ac:picMkLst>
        </pc:picChg>
        <pc:picChg chg="add del">
          <ac:chgData name="GEORGIOS DIMITRAKOPOULOS" userId="0614bc40-ecc2-4674-8a86-e5df437c2e7b" providerId="ADAL" clId="{241D36BE-FE1E-4FC3-99E3-E69D34DF589D}" dt="2026-10-14T15:52:21.131" v="207" actId="478"/>
          <ac:picMkLst>
            <pc:docMk/>
            <pc:sldMk cId="1284826280" sldId="283"/>
            <ac:picMk id="7" creationId="{25E9DA5A-0690-1339-4561-B24C34C95E34}"/>
          </ac:picMkLst>
        </pc:picChg>
      </pc:sldChg>
      <pc:sldChg chg="addSp add del">
        <pc:chgData name="GEORGIOS DIMITRAKOPOULOS" userId="0614bc40-ecc2-4674-8a86-e5df437c2e7b" providerId="ADAL" clId="{241D36BE-FE1E-4FC3-99E3-E69D34DF589D}" dt="2026-10-14T15:04:06.515" v="195" actId="47"/>
        <pc:sldMkLst>
          <pc:docMk/>
          <pc:sldMk cId="561816392" sldId="284"/>
        </pc:sldMkLst>
        <pc:picChg chg="add">
          <ac:chgData name="GEORGIOS DIMITRAKOPOULOS" userId="0614bc40-ecc2-4674-8a86-e5df437c2e7b" providerId="ADAL" clId="{241D36BE-FE1E-4FC3-99E3-E69D34DF589D}" dt="2026-10-14T10:58:21.061" v="18"/>
          <ac:picMkLst>
            <pc:docMk/>
            <pc:sldMk cId="561816392" sldId="284"/>
            <ac:picMk id="8" creationId="{456C0F10-771F-4D1D-4CF8-30A1382B34A1}"/>
          </ac:picMkLst>
        </pc:picChg>
      </pc:sldChg>
      <pc:sldChg chg="addSp add del ord">
        <pc:chgData name="GEORGIOS DIMITRAKOPOULOS" userId="0614bc40-ecc2-4674-8a86-e5df437c2e7b" providerId="ADAL" clId="{241D36BE-FE1E-4FC3-99E3-E69D34DF589D}" dt="2026-10-14T15:04:00.986" v="194" actId="47"/>
        <pc:sldMkLst>
          <pc:docMk/>
          <pc:sldMk cId="3615017625" sldId="286"/>
        </pc:sldMkLst>
        <pc:picChg chg="add">
          <ac:chgData name="GEORGIOS DIMITRAKOPOULOS" userId="0614bc40-ecc2-4674-8a86-e5df437c2e7b" providerId="ADAL" clId="{241D36BE-FE1E-4FC3-99E3-E69D34DF589D}" dt="2026-10-14T10:59:14.073" v="20"/>
          <ac:picMkLst>
            <pc:docMk/>
            <pc:sldMk cId="3615017625" sldId="286"/>
            <ac:picMk id="7" creationId="{CC171F76-2F0A-8E48-B295-DF1691F895A0}"/>
          </ac:picMkLst>
        </pc:picChg>
      </pc:sldChg>
      <pc:sldChg chg="addSp delSp modSp new del mod">
        <pc:chgData name="GEORGIOS DIMITRAKOPOULOS" userId="0614bc40-ecc2-4674-8a86-e5df437c2e7b" providerId="ADAL" clId="{241D36BE-FE1E-4FC3-99E3-E69D34DF589D}" dt="2026-10-14T11:34:13.135" v="36" actId="47"/>
        <pc:sldMkLst>
          <pc:docMk/>
          <pc:sldMk cId="825176907" sldId="287"/>
        </pc:sldMkLst>
        <pc:picChg chg="add del mod">
          <ac:chgData name="GEORGIOS DIMITRAKOPOULOS" userId="0614bc40-ecc2-4674-8a86-e5df437c2e7b" providerId="ADAL" clId="{241D36BE-FE1E-4FC3-99E3-E69D34DF589D}" dt="2026-10-14T11:34:06.252" v="32" actId="21"/>
          <ac:picMkLst>
            <pc:docMk/>
            <pc:sldMk cId="825176907" sldId="287"/>
            <ac:picMk id="4" creationId="{6B2D26ED-51E0-AD00-CEAB-103DB00A12C3}"/>
          </ac:picMkLst>
        </pc:picChg>
      </pc:sldChg>
      <pc:sldChg chg="addSp delSp modSp add mod ord">
        <pc:chgData name="GEORGIOS DIMITRAKOPOULOS" userId="0614bc40-ecc2-4674-8a86-e5df437c2e7b" providerId="ADAL" clId="{241D36BE-FE1E-4FC3-99E3-E69D34DF589D}" dt="2026-10-14T11:34:11.474" v="35" actId="1076"/>
        <pc:sldMkLst>
          <pc:docMk/>
          <pc:sldMk cId="189303551" sldId="288"/>
        </pc:sldMkLst>
        <pc:spChg chg="del">
          <ac:chgData name="GEORGIOS DIMITRAKOPOULOS" userId="0614bc40-ecc2-4674-8a86-e5df437c2e7b" providerId="ADAL" clId="{241D36BE-FE1E-4FC3-99E3-E69D34DF589D}" dt="2026-10-14T11:34:03.806" v="31" actId="478"/>
          <ac:spMkLst>
            <pc:docMk/>
            <pc:sldMk cId="189303551" sldId="288"/>
            <ac:spMk id="2" creationId="{E64B20D9-3E07-9FC5-A860-BFEAB9AEF9A1}"/>
          </ac:spMkLst>
        </pc:spChg>
        <pc:spChg chg="del">
          <ac:chgData name="GEORGIOS DIMITRAKOPOULOS" userId="0614bc40-ecc2-4674-8a86-e5df437c2e7b" providerId="ADAL" clId="{241D36BE-FE1E-4FC3-99E3-E69D34DF589D}" dt="2026-10-14T11:34:03.806" v="31" actId="478"/>
          <ac:spMkLst>
            <pc:docMk/>
            <pc:sldMk cId="189303551" sldId="288"/>
            <ac:spMk id="10" creationId="{F197EF59-3971-5E4A-D24B-BFDE9F792558}"/>
          </ac:spMkLst>
        </pc:spChg>
        <pc:spChg chg="del">
          <ac:chgData name="GEORGIOS DIMITRAKOPOULOS" userId="0614bc40-ecc2-4674-8a86-e5df437c2e7b" providerId="ADAL" clId="{241D36BE-FE1E-4FC3-99E3-E69D34DF589D}" dt="2026-10-14T11:34:03.806" v="31" actId="478"/>
          <ac:spMkLst>
            <pc:docMk/>
            <pc:sldMk cId="189303551" sldId="288"/>
            <ac:spMk id="13" creationId="{8F1E502E-C290-202E-C962-BE9BC8BD9218}"/>
          </ac:spMkLst>
        </pc:spChg>
        <pc:spChg chg="del">
          <ac:chgData name="GEORGIOS DIMITRAKOPOULOS" userId="0614bc40-ecc2-4674-8a86-e5df437c2e7b" providerId="ADAL" clId="{241D36BE-FE1E-4FC3-99E3-E69D34DF589D}" dt="2026-10-14T11:34:03.806" v="31" actId="478"/>
          <ac:spMkLst>
            <pc:docMk/>
            <pc:sldMk cId="189303551" sldId="288"/>
            <ac:spMk id="15" creationId="{36F12005-DDD6-079D-4748-58D73600D687}"/>
          </ac:spMkLst>
        </pc:spChg>
        <pc:spChg chg="del">
          <ac:chgData name="GEORGIOS DIMITRAKOPOULOS" userId="0614bc40-ecc2-4674-8a86-e5df437c2e7b" providerId="ADAL" clId="{241D36BE-FE1E-4FC3-99E3-E69D34DF589D}" dt="2026-10-14T11:34:03.806" v="31" actId="478"/>
          <ac:spMkLst>
            <pc:docMk/>
            <pc:sldMk cId="189303551" sldId="288"/>
            <ac:spMk id="17" creationId="{116269E3-705A-F274-01DA-B93FB17B04A6}"/>
          </ac:spMkLst>
        </pc:spChg>
        <pc:spChg chg="del">
          <ac:chgData name="GEORGIOS DIMITRAKOPOULOS" userId="0614bc40-ecc2-4674-8a86-e5df437c2e7b" providerId="ADAL" clId="{241D36BE-FE1E-4FC3-99E3-E69D34DF589D}" dt="2026-10-14T11:34:03.806" v="31" actId="478"/>
          <ac:spMkLst>
            <pc:docMk/>
            <pc:sldMk cId="189303551" sldId="288"/>
            <ac:spMk id="19" creationId="{03B0BF28-7B26-DD62-518E-831B86350F53}"/>
          </ac:spMkLst>
        </pc:spChg>
        <pc:spChg chg="del">
          <ac:chgData name="GEORGIOS DIMITRAKOPOULOS" userId="0614bc40-ecc2-4674-8a86-e5df437c2e7b" providerId="ADAL" clId="{241D36BE-FE1E-4FC3-99E3-E69D34DF589D}" dt="2026-10-14T11:34:03.806" v="31" actId="478"/>
          <ac:spMkLst>
            <pc:docMk/>
            <pc:sldMk cId="189303551" sldId="288"/>
            <ac:spMk id="25" creationId="{92311E71-D1BE-E9B2-580C-B8723E9303A7}"/>
          </ac:spMkLst>
        </pc:spChg>
        <pc:spChg chg="del">
          <ac:chgData name="GEORGIOS DIMITRAKOPOULOS" userId="0614bc40-ecc2-4674-8a86-e5df437c2e7b" providerId="ADAL" clId="{241D36BE-FE1E-4FC3-99E3-E69D34DF589D}" dt="2026-10-14T11:34:03.806" v="31" actId="478"/>
          <ac:spMkLst>
            <pc:docMk/>
            <pc:sldMk cId="189303551" sldId="288"/>
            <ac:spMk id="27" creationId="{715F3365-B21A-EEE0-5DDF-10C95A338A73}"/>
          </ac:spMkLst>
        </pc:spChg>
        <pc:spChg chg="del">
          <ac:chgData name="GEORGIOS DIMITRAKOPOULOS" userId="0614bc40-ecc2-4674-8a86-e5df437c2e7b" providerId="ADAL" clId="{241D36BE-FE1E-4FC3-99E3-E69D34DF589D}" dt="2026-10-14T11:34:03.806" v="31" actId="478"/>
          <ac:spMkLst>
            <pc:docMk/>
            <pc:sldMk cId="189303551" sldId="288"/>
            <ac:spMk id="31" creationId="{164E09ED-0A92-F296-5AC9-E84BE9E91215}"/>
          </ac:spMkLst>
        </pc:spChg>
        <pc:spChg chg="del">
          <ac:chgData name="GEORGIOS DIMITRAKOPOULOS" userId="0614bc40-ecc2-4674-8a86-e5df437c2e7b" providerId="ADAL" clId="{241D36BE-FE1E-4FC3-99E3-E69D34DF589D}" dt="2026-10-14T11:34:03.806" v="31" actId="478"/>
          <ac:spMkLst>
            <pc:docMk/>
            <pc:sldMk cId="189303551" sldId="288"/>
            <ac:spMk id="33" creationId="{96CE6096-B98F-FAA6-BDE4-269E630C30AC}"/>
          </ac:spMkLst>
        </pc:spChg>
        <pc:picChg chg="add mod">
          <ac:chgData name="GEORGIOS DIMITRAKOPOULOS" userId="0614bc40-ecc2-4674-8a86-e5df437c2e7b" providerId="ADAL" clId="{241D36BE-FE1E-4FC3-99E3-E69D34DF589D}" dt="2026-10-14T11:34:11.474" v="35" actId="1076"/>
          <ac:picMkLst>
            <pc:docMk/>
            <pc:sldMk cId="189303551" sldId="288"/>
            <ac:picMk id="6" creationId="{14CED609-F62F-BCE4-CB0E-AC1EB30BAC8A}"/>
          </ac:picMkLst>
        </pc:picChg>
      </pc:sldChg>
      <pc:sldChg chg="addSp delSp modSp add mod">
        <pc:chgData name="GEORGIOS DIMITRAKOPOULOS" userId="0614bc40-ecc2-4674-8a86-e5df437c2e7b" providerId="ADAL" clId="{241D36BE-FE1E-4FC3-99E3-E69D34DF589D}" dt="2026-10-14T13:38:35.712" v="58" actId="1076"/>
        <pc:sldMkLst>
          <pc:docMk/>
          <pc:sldMk cId="132461760" sldId="289"/>
        </pc:sldMkLst>
        <pc:spChg chg="mod">
          <ac:chgData name="GEORGIOS DIMITRAKOPOULOS" userId="0614bc40-ecc2-4674-8a86-e5df437c2e7b" providerId="ADAL" clId="{241D36BE-FE1E-4FC3-99E3-E69D34DF589D}" dt="2026-10-14T13:37:55.920" v="55" actId="20577"/>
          <ac:spMkLst>
            <pc:docMk/>
            <pc:sldMk cId="132461760" sldId="289"/>
            <ac:spMk id="5" creationId="{C91E8601-BFED-B444-3E77-C91295506E10}"/>
          </ac:spMkLst>
        </pc:spChg>
        <pc:spChg chg="del">
          <ac:chgData name="GEORGIOS DIMITRAKOPOULOS" userId="0614bc40-ecc2-4674-8a86-e5df437c2e7b" providerId="ADAL" clId="{241D36BE-FE1E-4FC3-99E3-E69D34DF589D}" dt="2026-10-14T13:36:50.655" v="39" actId="478"/>
          <ac:spMkLst>
            <pc:docMk/>
            <pc:sldMk cId="132461760" sldId="289"/>
            <ac:spMk id="20" creationId="{1244B806-251C-23B5-36F8-7E9B74555615}"/>
          </ac:spMkLst>
        </pc:spChg>
        <pc:spChg chg="del">
          <ac:chgData name="GEORGIOS DIMITRAKOPOULOS" userId="0614bc40-ecc2-4674-8a86-e5df437c2e7b" providerId="ADAL" clId="{241D36BE-FE1E-4FC3-99E3-E69D34DF589D}" dt="2026-10-14T13:36:48.727" v="38" actId="478"/>
          <ac:spMkLst>
            <pc:docMk/>
            <pc:sldMk cId="132461760" sldId="289"/>
            <ac:spMk id="30" creationId="{B9342814-247A-B506-D3C1-15E8E550447E}"/>
          </ac:spMkLst>
        </pc:spChg>
        <pc:spChg chg="del">
          <ac:chgData name="GEORGIOS DIMITRAKOPOULOS" userId="0614bc40-ecc2-4674-8a86-e5df437c2e7b" providerId="ADAL" clId="{241D36BE-FE1E-4FC3-99E3-E69D34DF589D}" dt="2026-10-14T13:36:48.727" v="38" actId="478"/>
          <ac:spMkLst>
            <pc:docMk/>
            <pc:sldMk cId="132461760" sldId="289"/>
            <ac:spMk id="32" creationId="{7A05EC92-8CC0-D83B-C565-64598456D553}"/>
          </ac:spMkLst>
        </pc:spChg>
        <pc:spChg chg="del">
          <ac:chgData name="GEORGIOS DIMITRAKOPOULOS" userId="0614bc40-ecc2-4674-8a86-e5df437c2e7b" providerId="ADAL" clId="{241D36BE-FE1E-4FC3-99E3-E69D34DF589D}" dt="2026-10-14T13:36:48.727" v="38" actId="478"/>
          <ac:spMkLst>
            <pc:docMk/>
            <pc:sldMk cId="132461760" sldId="289"/>
            <ac:spMk id="34" creationId="{84F40B43-E908-632C-2754-DC1A520BA480}"/>
          </ac:spMkLst>
        </pc:spChg>
        <pc:spChg chg="del">
          <ac:chgData name="GEORGIOS DIMITRAKOPOULOS" userId="0614bc40-ecc2-4674-8a86-e5df437c2e7b" providerId="ADAL" clId="{241D36BE-FE1E-4FC3-99E3-E69D34DF589D}" dt="2026-10-14T13:36:48.727" v="38" actId="478"/>
          <ac:spMkLst>
            <pc:docMk/>
            <pc:sldMk cId="132461760" sldId="289"/>
            <ac:spMk id="40" creationId="{FAE481CB-B978-9077-978A-1D8D7035AB2A}"/>
          </ac:spMkLst>
        </pc:spChg>
        <pc:spChg chg="del">
          <ac:chgData name="GEORGIOS DIMITRAKOPOULOS" userId="0614bc40-ecc2-4674-8a86-e5df437c2e7b" providerId="ADAL" clId="{241D36BE-FE1E-4FC3-99E3-E69D34DF589D}" dt="2026-10-14T13:36:48.727" v="38" actId="478"/>
          <ac:spMkLst>
            <pc:docMk/>
            <pc:sldMk cId="132461760" sldId="289"/>
            <ac:spMk id="42" creationId="{46AED2D8-8E7B-7C07-E8AC-4AE47E8B74CB}"/>
          </ac:spMkLst>
        </pc:spChg>
        <pc:spChg chg="del">
          <ac:chgData name="GEORGIOS DIMITRAKOPOULOS" userId="0614bc40-ecc2-4674-8a86-e5df437c2e7b" providerId="ADAL" clId="{241D36BE-FE1E-4FC3-99E3-E69D34DF589D}" dt="2026-10-14T13:36:48.727" v="38" actId="478"/>
          <ac:spMkLst>
            <pc:docMk/>
            <pc:sldMk cId="132461760" sldId="289"/>
            <ac:spMk id="43" creationId="{01860C3F-3708-4F1E-80C2-FC05397E4F03}"/>
          </ac:spMkLst>
        </pc:spChg>
        <pc:spChg chg="del">
          <ac:chgData name="GEORGIOS DIMITRAKOPOULOS" userId="0614bc40-ecc2-4674-8a86-e5df437c2e7b" providerId="ADAL" clId="{241D36BE-FE1E-4FC3-99E3-E69D34DF589D}" dt="2026-10-14T13:36:48.727" v="38" actId="478"/>
          <ac:spMkLst>
            <pc:docMk/>
            <pc:sldMk cId="132461760" sldId="289"/>
            <ac:spMk id="52" creationId="{69B61271-2100-F36F-FE18-A582B6C71B8B}"/>
          </ac:spMkLst>
        </pc:spChg>
        <pc:spChg chg="del">
          <ac:chgData name="GEORGIOS DIMITRAKOPOULOS" userId="0614bc40-ecc2-4674-8a86-e5df437c2e7b" providerId="ADAL" clId="{241D36BE-FE1E-4FC3-99E3-E69D34DF589D}" dt="2026-10-14T13:36:48.727" v="38" actId="478"/>
          <ac:spMkLst>
            <pc:docMk/>
            <pc:sldMk cId="132461760" sldId="289"/>
            <ac:spMk id="53" creationId="{D5A12F50-6E4D-BF2C-516B-1B9A248C34D6}"/>
          </ac:spMkLst>
        </pc:spChg>
        <pc:spChg chg="del">
          <ac:chgData name="GEORGIOS DIMITRAKOPOULOS" userId="0614bc40-ecc2-4674-8a86-e5df437c2e7b" providerId="ADAL" clId="{241D36BE-FE1E-4FC3-99E3-E69D34DF589D}" dt="2026-10-14T13:36:48.727" v="38" actId="478"/>
          <ac:spMkLst>
            <pc:docMk/>
            <pc:sldMk cId="132461760" sldId="289"/>
            <ac:spMk id="54" creationId="{4CA4A303-543A-1E19-8FD9-6D75449233C4}"/>
          </ac:spMkLst>
        </pc:spChg>
        <pc:spChg chg="del">
          <ac:chgData name="GEORGIOS DIMITRAKOPOULOS" userId="0614bc40-ecc2-4674-8a86-e5df437c2e7b" providerId="ADAL" clId="{241D36BE-FE1E-4FC3-99E3-E69D34DF589D}" dt="2026-10-14T13:36:48.727" v="38" actId="478"/>
          <ac:spMkLst>
            <pc:docMk/>
            <pc:sldMk cId="132461760" sldId="289"/>
            <ac:spMk id="60" creationId="{74CD07C1-314A-3BED-20F1-F718651C734B}"/>
          </ac:spMkLst>
        </pc:spChg>
        <pc:picChg chg="add mod modCrop">
          <ac:chgData name="GEORGIOS DIMITRAKOPOULOS" userId="0614bc40-ecc2-4674-8a86-e5df437c2e7b" providerId="ADAL" clId="{241D36BE-FE1E-4FC3-99E3-E69D34DF589D}" dt="2026-10-14T13:38:35.712" v="58" actId="1076"/>
          <ac:picMkLst>
            <pc:docMk/>
            <pc:sldMk cId="132461760" sldId="289"/>
            <ac:picMk id="7" creationId="{40BAAFB7-5862-664E-2B26-8D92E71FBE0E}"/>
          </ac:picMkLst>
        </pc:picChg>
      </pc:sldChg>
      <pc:sldChg chg="new del">
        <pc:chgData name="GEORGIOS DIMITRAKOPOULOS" userId="0614bc40-ecc2-4674-8a86-e5df437c2e7b" providerId="ADAL" clId="{241D36BE-FE1E-4FC3-99E3-E69D34DF589D}" dt="2026-10-14T13:38:43.004" v="62" actId="47"/>
        <pc:sldMkLst>
          <pc:docMk/>
          <pc:sldMk cId="2206376886" sldId="290"/>
        </pc:sldMkLst>
      </pc:sldChg>
      <pc:sldChg chg="addSp delSp modSp add mod">
        <pc:chgData name="GEORGIOS DIMITRAKOPOULOS" userId="0614bc40-ecc2-4674-8a86-e5df437c2e7b" providerId="ADAL" clId="{241D36BE-FE1E-4FC3-99E3-E69D34DF589D}" dt="2026-10-14T13:41:54.501" v="188" actId="20577"/>
        <pc:sldMkLst>
          <pc:docMk/>
          <pc:sldMk cId="666279465" sldId="291"/>
        </pc:sldMkLst>
        <pc:spChg chg="add mod">
          <ac:chgData name="GEORGIOS DIMITRAKOPOULOS" userId="0614bc40-ecc2-4674-8a86-e5df437c2e7b" providerId="ADAL" clId="{241D36BE-FE1E-4FC3-99E3-E69D34DF589D}" dt="2026-10-14T13:41:54.501" v="188" actId="20577"/>
          <ac:spMkLst>
            <pc:docMk/>
            <pc:sldMk cId="666279465" sldId="291"/>
            <ac:spMk id="8" creationId="{A178B8AC-6CFA-97D3-5377-DA2480D2B56D}"/>
          </ac:spMkLst>
        </pc:spChg>
        <pc:picChg chg="del">
          <ac:chgData name="GEORGIOS DIMITRAKOPOULOS" userId="0614bc40-ecc2-4674-8a86-e5df437c2e7b" providerId="ADAL" clId="{241D36BE-FE1E-4FC3-99E3-E69D34DF589D}" dt="2026-10-14T13:38:50.633" v="63" actId="478"/>
          <ac:picMkLst>
            <pc:docMk/>
            <pc:sldMk cId="666279465" sldId="291"/>
            <ac:picMk id="7" creationId="{E4FF4F20-F845-B2B2-9401-D360AFDC9BC2}"/>
          </ac:picMkLst>
        </pc:picChg>
      </pc:sldChg>
      <pc:sldChg chg="add del">
        <pc:chgData name="GEORGIOS DIMITRAKOPOULOS" userId="0614bc40-ecc2-4674-8a86-e5df437c2e7b" providerId="ADAL" clId="{241D36BE-FE1E-4FC3-99E3-E69D34DF589D}" dt="2026-10-14T13:39:45.127" v="89" actId="47"/>
        <pc:sldMkLst>
          <pc:docMk/>
          <pc:sldMk cId="335665445" sldId="292"/>
        </pc:sldMkLst>
      </pc:sldChg>
      <pc:sldChg chg="modSp add mod">
        <pc:chgData name="GEORGIOS DIMITRAKOPOULOS" userId="0614bc40-ecc2-4674-8a86-e5df437c2e7b" providerId="ADAL" clId="{241D36BE-FE1E-4FC3-99E3-E69D34DF589D}" dt="2026-10-14T13:42:46.553" v="193" actId="2711"/>
        <pc:sldMkLst>
          <pc:docMk/>
          <pc:sldMk cId="3712363636" sldId="293"/>
        </pc:sldMkLst>
        <pc:spChg chg="mod">
          <ac:chgData name="GEORGIOS DIMITRAKOPOULOS" userId="0614bc40-ecc2-4674-8a86-e5df437c2e7b" providerId="ADAL" clId="{241D36BE-FE1E-4FC3-99E3-E69D34DF589D}" dt="2026-10-14T13:40:09.884" v="97"/>
          <ac:spMkLst>
            <pc:docMk/>
            <pc:sldMk cId="3712363636" sldId="293"/>
            <ac:spMk id="5" creationId="{1960EF63-6D8A-9775-4F64-5E43C4268248}"/>
          </ac:spMkLst>
        </pc:spChg>
        <pc:spChg chg="mod">
          <ac:chgData name="GEORGIOS DIMITRAKOPOULOS" userId="0614bc40-ecc2-4674-8a86-e5df437c2e7b" providerId="ADAL" clId="{241D36BE-FE1E-4FC3-99E3-E69D34DF589D}" dt="2026-10-14T13:42:46.553" v="193" actId="2711"/>
          <ac:spMkLst>
            <pc:docMk/>
            <pc:sldMk cId="3712363636" sldId="293"/>
            <ac:spMk id="8" creationId="{DDB01615-F8F2-F816-62DD-D5312D75CCAB}"/>
          </ac:spMkLst>
        </pc:spChg>
      </pc:sldChg>
      <pc:sldChg chg="add del">
        <pc:chgData name="GEORGIOS DIMITRAKOPOULOS" userId="0614bc40-ecc2-4674-8a86-e5df437c2e7b" providerId="ADAL" clId="{241D36BE-FE1E-4FC3-99E3-E69D34DF589D}" dt="2026-10-14T13:39:49.299" v="91"/>
        <pc:sldMkLst>
          <pc:docMk/>
          <pc:sldMk cId="2970815191" sldId="29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D01C68-55D2-4C14-9B32-C2F33BA3755E}" type="datetimeFigureOut">
              <a:rPr lang="en-US" smtClean="0"/>
              <a:pPr/>
              <a:t>10/14/2026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1051150-C67E-4D2F-9BF4-705362A3BE8E}" type="slidenum">
              <a:rPr lang="en-US" smtClean="0"/>
              <a:pPr/>
              <a:t>‹#›</a:t>
            </a:fld>
            <a:endParaRPr lang="en-US"/>
          </a:p>
        </p:txBody>
      </p:sp>
    </p:spTree>
    <p:extLst>
      <p:ext uri="{BB962C8B-B14F-4D97-AF65-F5344CB8AC3E}">
        <p14:creationId xmlns:p14="http://schemas.microsoft.com/office/powerpoint/2010/main" val="409591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E1051150-C67E-4D2F-9BF4-705362A3BE8E}" type="slidenum">
              <a:rPr lang="en-US" smtClean="0"/>
              <a:pPr/>
              <a:t>1</a:t>
            </a:fld>
            <a:endParaRPr lang="en-US"/>
          </a:p>
        </p:txBody>
      </p:sp>
    </p:spTree>
    <p:extLst>
      <p:ext uri="{BB962C8B-B14F-4D97-AF65-F5344CB8AC3E}">
        <p14:creationId xmlns:p14="http://schemas.microsoft.com/office/powerpoint/2010/main" val="24325892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fld id="{44E6E4DE-A039-4B1B-8F06-9F044EF27911}" type="datetime1">
              <a:rPr lang="en-US" smtClean="0"/>
              <a:pPr/>
              <a:t>10/14/2026</a:t>
            </a:fld>
            <a:endParaRPr lang="en-US"/>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endParaRPr lang="en-US"/>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fld id="{D76DAB58-458B-4587-9722-10D93947061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146629"/>
            <a:ext cx="10972800" cy="4860664"/>
          </a:xfrm>
          <a:noFill/>
        </p:spPr>
        <p:txBody>
          <a:bodyPr/>
          <a:lstStyle>
            <a:lvl1pPr>
              <a:defRPr sz="2400">
                <a:latin typeface="Calibri" panose="020F0502020204030204" pitchFamily="34" charset="0"/>
                <a:cs typeface="Calibri" panose="020F0502020204030204" pitchFamily="34" charset="0"/>
              </a:defRPr>
            </a:lvl1pPr>
            <a:lvl2pPr>
              <a:defRPr sz="2200">
                <a:latin typeface="Calibri" panose="020F0502020204030204" pitchFamily="34" charset="0"/>
                <a:cs typeface="Calibri" panose="020F0502020204030204" pitchFamily="34" charset="0"/>
              </a:defRPr>
            </a:lvl2pPr>
            <a:lvl3pPr>
              <a:defRPr sz="2000">
                <a:latin typeface="Calibri" panose="020F0502020204030204" pitchFamily="34" charset="0"/>
                <a:cs typeface="Calibri" panose="020F0502020204030204" pitchFamily="34" charset="0"/>
              </a:defRPr>
            </a:lvl3pPr>
            <a:lvl4pPr>
              <a:defRPr sz="1800">
                <a:latin typeface="Calibri" panose="020F0502020204030204" pitchFamily="34" charset="0"/>
                <a:cs typeface="Calibri" panose="020F0502020204030204" pitchFamily="34" charset="0"/>
              </a:defRPr>
            </a:lvl4pPr>
            <a:lvl5pPr>
              <a:defRPr sz="1700">
                <a:latin typeface="Calibri" panose="020F0502020204030204" pitchFamily="34" charset="0"/>
                <a:cs typeface="Calibri" panose="020F0502020204030204" pitchFamily="34" charset="0"/>
              </a:defRPr>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lvl1pPr>
              <a:defRPr sz="1200"/>
            </a:lvl1pPr>
            <a:extLst/>
          </a:lstStyle>
          <a:p>
            <a:fld id="{2C5DD394-9492-482A-B001-FBF606C724B5}" type="datetime1">
              <a:rPr lang="en-US" smtClean="0"/>
              <a:pPr/>
              <a:t>10/14/2026</a:t>
            </a:fld>
            <a:endParaRPr lang="en-US"/>
          </a:p>
        </p:txBody>
      </p:sp>
      <p:sp>
        <p:nvSpPr>
          <p:cNvPr id="5" name="Footer Placeholder 4"/>
          <p:cNvSpPr>
            <a:spLocks noGrp="1"/>
          </p:cNvSpPr>
          <p:nvPr>
            <p:ph type="ftr" sz="quarter" idx="11"/>
          </p:nvPr>
        </p:nvSpPr>
        <p:spPr/>
        <p:txBody>
          <a:bodyPr/>
          <a:lstStyle>
            <a:lvl1pPr>
              <a:defRPr sz="1200"/>
            </a:lvl1pPr>
            <a:extLst/>
          </a:lstStyle>
          <a:p>
            <a:endParaRPr lang="en-US"/>
          </a:p>
        </p:txBody>
      </p:sp>
      <p:sp>
        <p:nvSpPr>
          <p:cNvPr id="6" name="Slide Number Placeholder 5"/>
          <p:cNvSpPr>
            <a:spLocks noGrp="1"/>
          </p:cNvSpPr>
          <p:nvPr>
            <p:ph type="sldNum" sz="quarter" idx="12"/>
          </p:nvPr>
        </p:nvSpPr>
        <p:spPr/>
        <p:txBody>
          <a:bodyPr/>
          <a:lstStyle>
            <a:lvl1pPr>
              <a:defRPr sz="1200"/>
            </a:lvl1pPr>
            <a:extLst/>
          </a:lstStyle>
          <a:p>
            <a:fld id="{D76DAB58-458B-4587-9722-10D939470610}" type="slidenum">
              <a:rPr lang="en-US" smtClean="0"/>
              <a:pPr/>
              <a:t>‹#›</a:t>
            </a:fld>
            <a:endParaRPr lang="en-US"/>
          </a:p>
        </p:txBody>
      </p:sp>
      <p:sp>
        <p:nvSpPr>
          <p:cNvPr id="2" name="Ορθογώνιο 1">
            <a:extLst>
              <a:ext uri="{FF2B5EF4-FFF2-40B4-BE49-F238E27FC236}">
                <a16:creationId xmlns:a16="http://schemas.microsoft.com/office/drawing/2014/main" id="{E184D6D2-6312-4F6C-8AD9-013510133639}"/>
              </a:ext>
            </a:extLst>
          </p:cNvPr>
          <p:cNvSpPr/>
          <p:nvPr userDrawn="1"/>
        </p:nvSpPr>
        <p:spPr>
          <a:xfrm>
            <a:off x="0" y="0"/>
            <a:ext cx="12192000" cy="1030514"/>
          </a:xfrm>
          <a:prstGeom prst="rect">
            <a:avLst/>
          </a:prstGeom>
          <a:gradFill flip="none" rotWithShape="1">
            <a:gsLst>
              <a:gs pos="0">
                <a:schemeClr val="accent1">
                  <a:lumMod val="67000"/>
                </a:schemeClr>
              </a:gs>
              <a:gs pos="34000">
                <a:schemeClr val="accent1">
                  <a:lumMod val="97000"/>
                  <a:lumOff val="3000"/>
                </a:schemeClr>
              </a:gs>
              <a:gs pos="100000">
                <a:schemeClr val="accent1">
                  <a:lumMod val="60000"/>
                  <a:lumOff val="4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p:cNvSpPr>
            <a:spLocks noGrp="1"/>
          </p:cNvSpPr>
          <p:nvPr>
            <p:ph type="title"/>
          </p:nvPr>
        </p:nvSpPr>
        <p:spPr>
          <a:xfrm>
            <a:off x="609600" y="274638"/>
            <a:ext cx="10972800" cy="587454"/>
          </a:xfrm>
        </p:spPr>
        <p:txBody>
          <a:bodyPr rtlCol="0">
            <a:noAutofit/>
          </a:bodyPr>
          <a:lstStyle>
            <a:lvl1pPr>
              <a:defRPr sz="3400">
                <a:latin typeface="Calibri" panose="020F0502020204030204" pitchFamily="34" charset="0"/>
                <a:cs typeface="Calibri" panose="020F0502020204030204" pitchFamily="34" charset="0"/>
              </a:defRPr>
            </a:lvl1pPr>
          </a:lstStyle>
          <a:p>
            <a:r>
              <a:rPr kumimoji="0" lang="en-US" dirty="0"/>
              <a:t>Click to edit Master title style</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21ACF12-F5D8-4B33-8449-3E8AA153F220}" type="datetime1">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6DAB58-458B-4587-9722-10D939470610}" type="slidenum">
              <a:rPr lang="en-US" smtClean="0"/>
              <a:pPr/>
              <a:t>‹#›</a:t>
            </a:fld>
            <a:endParaRPr lang="en-US"/>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8E805E2-36E0-4ACE-8108-05CEF79EDC78}" type="datetime1">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6DAB58-458B-4587-9722-10D939470610}" type="slidenum">
              <a:rPr lang="en-US" smtClean="0"/>
              <a:pPr/>
              <a:t>‹#›</a:t>
            </a:fld>
            <a:endParaRPr lang="en-US"/>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0C6CAA8B-62F4-4EF3-8F96-949D9E2B1BCA}" type="datetime1">
              <a:rPr lang="en-US" smtClean="0"/>
              <a:pPr/>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76DAB58-458B-4587-9722-10D93947061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A265ACA9-68AE-40A7-B4DF-457D7DB0D6DE}" type="datetime1">
              <a:rPr lang="en-US" smtClean="0"/>
              <a:pPr/>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76DAB58-458B-4587-9722-10D939470610}" type="slidenum">
              <a:rPr lang="en-US" smtClean="0"/>
              <a:pPr/>
              <a:t>‹#›</a:t>
            </a:fld>
            <a:endParaRPr lang="en-US"/>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0140B3-8984-4571-87C8-9E3DEC93E231}" type="datetime1">
              <a:rPr lang="en-US" smtClean="0"/>
              <a:pPr/>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76DAB58-458B-4587-9722-10D93947061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fld id="{FBCAD48B-5AD3-413F-A288-138043340C4E}" type="datetime1">
              <a:rPr lang="en-US" smtClean="0"/>
              <a:pPr/>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76DAB58-458B-4587-9722-10D939470610}"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a:t>Click icon to add picture</a:t>
            </a:r>
            <a:endParaRPr kumimoji="0" lang="en-US" dirty="0"/>
          </a:p>
        </p:txBody>
      </p:sp>
      <p:sp>
        <p:nvSpPr>
          <p:cNvPr id="5" name="Date Placeholder 4"/>
          <p:cNvSpPr>
            <a:spLocks noGrp="1"/>
          </p:cNvSpPr>
          <p:nvPr>
            <p:ph type="dt" sz="half" idx="10"/>
          </p:nvPr>
        </p:nvSpPr>
        <p:spPr/>
        <p:txBody>
          <a:bodyPr/>
          <a:lstStyle>
            <a:lvl1pPr>
              <a:defRPr>
                <a:solidFill>
                  <a:schemeClr val="tx1"/>
                </a:solidFill>
              </a:defRPr>
            </a:lvl1pPr>
            <a:extLst/>
          </a:lstStyle>
          <a:p>
            <a:fld id="{CAEA96AB-0C23-489A-988F-519BC20986DE}" type="datetime1">
              <a:rPr lang="en-US" smtClean="0"/>
              <a:pPr/>
              <a:t>10/14/2026</a:t>
            </a:fld>
            <a:endParaRPr lang="en-US"/>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endParaRPr lang="en-US"/>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fld id="{D76DAB58-458B-4587-9722-10D939470610}" type="slidenum">
              <a:rPr lang="en-US" smtClean="0"/>
              <a:pPr/>
              <a:t>‹#›</a:t>
            </a:fld>
            <a:endParaRPr lang="en-US"/>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ight Triangle 9"/>
          <p:cNvSpPr>
            <a:spLocks/>
          </p:cNvSpPr>
          <p:nvPr/>
        </p:nvSpPr>
        <p:spPr bwMode="auto">
          <a:xfrm>
            <a:off x="-8056" y="5791253"/>
            <a:ext cx="4536419" cy="1080868"/>
          </a:xfrm>
          <a:prstGeom prst="rtTriangle">
            <a:avLst/>
          </a:pr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F2C17CD-C4AB-4A65-942A-C95872D0B603}" type="datetime1">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6DAB58-458B-4587-9722-10D93947061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CB850D77-A8A0-4EC7-AEEC-6084E305F8C2}" type="datetime1">
              <a:rPr lang="en-US" smtClean="0"/>
              <a:pPr/>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76DAB58-458B-4587-9722-10D93947061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665697" y="5944936"/>
            <a:ext cx="6587499" cy="921076"/>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Freeform 11"/>
          <p:cNvSpPr>
            <a:spLocks/>
          </p:cNvSpPr>
          <p:nvPr/>
        </p:nvSpPr>
        <p:spPr bwMode="auto">
          <a:xfrm>
            <a:off x="647623" y="5939011"/>
            <a:ext cx="4920601" cy="9334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591" h="588">
                <a:moveTo>
                  <a:pt x="0" y="0"/>
                </a:moveTo>
                <a:lnTo>
                  <a:pt x="5591" y="585"/>
                </a:lnTo>
                <a:lnTo>
                  <a:pt x="4415" y="588"/>
                </a:lnTo>
                <a:lnTo>
                  <a:pt x="12" y="4"/>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Right Triangle 13"/>
          <p:cNvSpPr>
            <a:spLocks/>
          </p:cNvSpPr>
          <p:nvPr/>
        </p:nvSpPr>
        <p:spPr bwMode="auto">
          <a:xfrm>
            <a:off x="-8056" y="5791253"/>
            <a:ext cx="4536419"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fld id="{B8A5F7A9-F988-4F14-8C8D-18EF5340F294}" type="datetime1">
              <a:rPr lang="en-US" smtClean="0"/>
              <a:pPr/>
              <a:t>10/14/2026</a:t>
            </a:fld>
            <a:endParaRPr lang="en-US"/>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endParaRPr lang="en-US"/>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fld id="{D76DAB58-458B-4587-9722-10D93947061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hf sldNum="0" hdr="0" ft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d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5E6ACBEA-250E-4AE9-BE07-99C260CCE79D}"/>
              </a:ext>
            </a:extLst>
          </p:cNvPr>
          <p:cNvSpPr>
            <a:spLocks noGrp="1"/>
          </p:cNvSpPr>
          <p:nvPr>
            <p:ph type="ctrTitle"/>
          </p:nvPr>
        </p:nvSpPr>
        <p:spPr>
          <a:xfrm>
            <a:off x="457200" y="1355666"/>
            <a:ext cx="11315338" cy="2229894"/>
          </a:xfrm>
        </p:spPr>
        <p:txBody>
          <a:bodyPr>
            <a:noAutofit/>
          </a:bodyPr>
          <a:lstStyle/>
          <a:p>
            <a:pPr algn="ctr"/>
            <a:r>
              <a:rPr lang="en-US" sz="4400" dirty="0">
                <a:latin typeface="Calibri" panose="020F0502020204030204" pitchFamily="34" charset="0"/>
                <a:ea typeface="Verdana" panose="020B0604030504040204" pitchFamily="34" charset="0"/>
                <a:cs typeface="Verdana" panose="020B0604030504040204" pitchFamily="34" charset="0"/>
              </a:rPr>
              <a:t>SOFTWARE ENGINEERING</a:t>
            </a:r>
            <a:br>
              <a:rPr lang="en-US" sz="4400" dirty="0">
                <a:latin typeface="Calibri" panose="020F0502020204030204" pitchFamily="34" charset="0"/>
                <a:ea typeface="Verdana" panose="020B0604030504040204" pitchFamily="34" charset="0"/>
                <a:cs typeface="Verdana" panose="020B0604030504040204" pitchFamily="34" charset="0"/>
              </a:rPr>
            </a:br>
            <a:br>
              <a:rPr lang="en-US" sz="4400" dirty="0">
                <a:latin typeface="Calibri" panose="020F0502020204030204" pitchFamily="34" charset="0"/>
                <a:ea typeface="Verdana" panose="020B0604030504040204" pitchFamily="34" charset="0"/>
                <a:cs typeface="Verdana" panose="020B0604030504040204" pitchFamily="34" charset="0"/>
              </a:rPr>
            </a:br>
            <a:r>
              <a:rPr lang="en-US" sz="4400" dirty="0">
                <a:latin typeface="Calibri" panose="020F0502020204030204" pitchFamily="34" charset="0"/>
                <a:ea typeface="Verdana" panose="020B0604030504040204" pitchFamily="34" charset="0"/>
                <a:cs typeface="Verdana" panose="020B0604030504040204" pitchFamily="34" charset="0"/>
              </a:rPr>
              <a:t> Software Requirements</a:t>
            </a:r>
          </a:p>
        </p:txBody>
      </p:sp>
      <p:sp>
        <p:nvSpPr>
          <p:cNvPr id="3" name="Υπότιτλος 2">
            <a:extLst>
              <a:ext uri="{FF2B5EF4-FFF2-40B4-BE49-F238E27FC236}">
                <a16:creationId xmlns:a16="http://schemas.microsoft.com/office/drawing/2014/main" id="{2612C367-E087-46B5-A349-974523BE6B0C}"/>
              </a:ext>
            </a:extLst>
          </p:cNvPr>
          <p:cNvSpPr>
            <a:spLocks noGrp="1"/>
          </p:cNvSpPr>
          <p:nvPr>
            <p:ph type="subTitle" idx="1"/>
          </p:nvPr>
        </p:nvSpPr>
        <p:spPr>
          <a:xfrm>
            <a:off x="457199" y="3757352"/>
            <a:ext cx="11315337" cy="1458585"/>
          </a:xfrm>
        </p:spPr>
        <p:txBody>
          <a:bodyPr>
            <a:normAutofit/>
          </a:bodyPr>
          <a:lstStyle/>
          <a:p>
            <a:pPr algn="ctr"/>
            <a:r>
              <a:rPr lang="en-US" sz="2400" b="1" dirty="0">
                <a:latin typeface="Calibri" panose="020F0502020204030204" pitchFamily="34" charset="0"/>
                <a:ea typeface="Verdana" panose="020B0604030504040204" pitchFamily="34" charset="0"/>
                <a:cs typeface="Verdana" panose="020B0604030504040204" pitchFamily="34" charset="0"/>
              </a:rPr>
              <a:t>George Dimitrakopoulos</a:t>
            </a:r>
          </a:p>
          <a:p>
            <a:pPr algn="ctr"/>
            <a:r>
              <a:rPr lang="en-US" sz="2400" dirty="0">
                <a:latin typeface="Calibri" panose="020F0502020204030204" pitchFamily="34" charset="0"/>
                <a:ea typeface="Verdana" panose="020B0604030504040204" pitchFamily="34" charset="0"/>
                <a:cs typeface="Verdana" panose="020B0604030504040204" pitchFamily="34" charset="0"/>
              </a:rPr>
              <a:t>dimitrakopoulos@ionio.gr</a:t>
            </a:r>
          </a:p>
        </p:txBody>
      </p:sp>
      <p:sp>
        <p:nvSpPr>
          <p:cNvPr id="7" name="Υπότιτλος 2">
            <a:extLst>
              <a:ext uri="{FF2B5EF4-FFF2-40B4-BE49-F238E27FC236}">
                <a16:creationId xmlns:a16="http://schemas.microsoft.com/office/drawing/2014/main" id="{23C3F968-F2AC-42F4-8BF2-B3198E7657E0}"/>
              </a:ext>
            </a:extLst>
          </p:cNvPr>
          <p:cNvSpPr txBox="1">
            <a:spLocks/>
          </p:cNvSpPr>
          <p:nvPr/>
        </p:nvSpPr>
        <p:spPr>
          <a:xfrm>
            <a:off x="457199" y="5605248"/>
            <a:ext cx="11315337" cy="1115617"/>
          </a:xfrm>
          <a:prstGeom prst="rect">
            <a:avLst/>
          </a:prstGeom>
        </p:spPr>
        <p:txBody>
          <a:bodyPr vert="horz" lIns="45720" rIns="45720">
            <a:normAutofit/>
          </a:bodyPr>
          <a:lstStyle>
            <a:lvl1pPr marL="0" marR="64008" indent="0" algn="r" rtl="0" eaLnBrk="1" latinLnBrk="0" hangingPunct="1">
              <a:spcBef>
                <a:spcPts val="400"/>
              </a:spcBef>
              <a:spcAft>
                <a:spcPts val="0"/>
              </a:spcAft>
              <a:buClr>
                <a:schemeClr val="accent1"/>
              </a:buClr>
              <a:buSzPct val="68000"/>
              <a:buFont typeface="Wingdings 3"/>
              <a:buNone/>
              <a:defRPr kumimoji="0" sz="2700" kern="1200">
                <a:solidFill>
                  <a:schemeClr val="tx2"/>
                </a:solidFill>
                <a:latin typeface="+mn-lt"/>
                <a:ea typeface="+mn-ea"/>
                <a:cs typeface="+mn-cs"/>
              </a:defRPr>
            </a:lvl1pPr>
            <a:lvl2pPr marL="457200" indent="0" algn="ctr" rtl="0" eaLnBrk="1" latinLnBrk="0" hangingPunct="1">
              <a:spcBef>
                <a:spcPts val="324"/>
              </a:spcBef>
              <a:buClr>
                <a:schemeClr val="accent1"/>
              </a:buClr>
              <a:buFont typeface="Verdana"/>
              <a:buNone/>
              <a:defRPr kumimoji="0" sz="2300" kern="1200">
                <a:solidFill>
                  <a:schemeClr val="tx1"/>
                </a:solidFill>
                <a:latin typeface="+mn-lt"/>
                <a:ea typeface="+mn-ea"/>
                <a:cs typeface="+mn-cs"/>
              </a:defRPr>
            </a:lvl2pPr>
            <a:lvl3pPr marL="914400" indent="0" algn="ctr" rtl="0" eaLnBrk="1" latinLnBrk="0" hangingPunct="1">
              <a:spcBef>
                <a:spcPts val="350"/>
              </a:spcBef>
              <a:buClr>
                <a:schemeClr val="accent2"/>
              </a:buClr>
              <a:buSzPct val="100000"/>
              <a:buFont typeface="Wingdings 2"/>
              <a:buNone/>
              <a:defRPr kumimoji="0" sz="2100" kern="1200">
                <a:solidFill>
                  <a:schemeClr val="tx1"/>
                </a:solidFill>
                <a:latin typeface="+mn-lt"/>
                <a:ea typeface="+mn-ea"/>
                <a:cs typeface="+mn-cs"/>
              </a:defRPr>
            </a:lvl3pPr>
            <a:lvl4pPr marL="1371600" indent="0" algn="ctr" rtl="0" eaLnBrk="1" latinLnBrk="0" hangingPunct="1">
              <a:spcBef>
                <a:spcPts val="350"/>
              </a:spcBef>
              <a:buClr>
                <a:schemeClr val="accent2"/>
              </a:buClr>
              <a:buFont typeface="Wingdings 2"/>
              <a:buNone/>
              <a:defRPr kumimoji="0" sz="1900" kern="1200">
                <a:solidFill>
                  <a:schemeClr val="tx1"/>
                </a:solidFill>
                <a:latin typeface="+mn-lt"/>
                <a:ea typeface="+mn-ea"/>
                <a:cs typeface="+mn-cs"/>
              </a:defRPr>
            </a:lvl4pPr>
            <a:lvl5pPr marL="1828800" indent="0" algn="ctr" rtl="0" eaLnBrk="1" latinLnBrk="0" hangingPunct="1">
              <a:spcBef>
                <a:spcPts val="350"/>
              </a:spcBef>
              <a:buClr>
                <a:schemeClr val="accent2"/>
              </a:buClr>
              <a:buFont typeface="Wingdings 2"/>
              <a:buNone/>
              <a:defRPr kumimoji="0" sz="1800" kern="1200">
                <a:solidFill>
                  <a:schemeClr val="tx1"/>
                </a:solidFill>
                <a:latin typeface="+mn-lt"/>
                <a:ea typeface="+mn-ea"/>
                <a:cs typeface="+mn-cs"/>
              </a:defRPr>
            </a:lvl5pPr>
            <a:lvl6pPr marL="2286000" indent="0" algn="ctr" rtl="0" eaLnBrk="1" latinLnBrk="0" hangingPunct="1">
              <a:spcBef>
                <a:spcPts val="350"/>
              </a:spcBef>
              <a:buClr>
                <a:schemeClr val="accent3"/>
              </a:buClr>
              <a:buFont typeface="Wingdings 2"/>
              <a:buNone/>
              <a:defRPr kumimoji="0" sz="1800" kern="1200">
                <a:solidFill>
                  <a:schemeClr val="tx1"/>
                </a:solidFill>
                <a:latin typeface="+mn-lt"/>
                <a:ea typeface="+mn-ea"/>
                <a:cs typeface="+mn-cs"/>
              </a:defRPr>
            </a:lvl6pPr>
            <a:lvl7pPr marL="2743200" indent="0" algn="ctr" rtl="0" eaLnBrk="1" latinLnBrk="0" hangingPunct="1">
              <a:spcBef>
                <a:spcPts val="350"/>
              </a:spcBef>
              <a:buClr>
                <a:schemeClr val="accent3"/>
              </a:buClr>
              <a:buFont typeface="Wingdings 2"/>
              <a:buNone/>
              <a:defRPr kumimoji="0" sz="1600" kern="1200">
                <a:solidFill>
                  <a:schemeClr val="tx1"/>
                </a:solidFill>
                <a:latin typeface="+mn-lt"/>
                <a:ea typeface="+mn-ea"/>
                <a:cs typeface="+mn-cs"/>
              </a:defRPr>
            </a:lvl7pPr>
            <a:lvl8pPr marL="3200400" indent="0" algn="ctr" rtl="0" eaLnBrk="1" latinLnBrk="0" hangingPunct="1">
              <a:spcBef>
                <a:spcPts val="350"/>
              </a:spcBef>
              <a:buClr>
                <a:schemeClr val="accent3"/>
              </a:buClr>
              <a:buFont typeface="Wingdings 2"/>
              <a:buNone/>
              <a:defRPr kumimoji="0" sz="1600" kern="1200">
                <a:solidFill>
                  <a:schemeClr val="tx1"/>
                </a:solidFill>
                <a:latin typeface="+mn-lt"/>
                <a:ea typeface="+mn-ea"/>
                <a:cs typeface="+mn-cs"/>
              </a:defRPr>
            </a:lvl8pPr>
            <a:lvl9pPr marL="3657600" indent="0" algn="ctr" rtl="0" eaLnBrk="1" latinLnBrk="0" hangingPunct="1">
              <a:spcBef>
                <a:spcPts val="350"/>
              </a:spcBef>
              <a:buClr>
                <a:schemeClr val="accent3"/>
              </a:buClr>
              <a:buFont typeface="Wingdings 2"/>
              <a:buNone/>
              <a:defRPr kumimoji="0" sz="1600" kern="1200" baseline="0">
                <a:solidFill>
                  <a:schemeClr val="tx1"/>
                </a:solidFill>
                <a:latin typeface="+mn-lt"/>
                <a:ea typeface="+mn-ea"/>
                <a:cs typeface="+mn-cs"/>
              </a:defRPr>
            </a:lvl9pPr>
            <a:extLst/>
          </a:lstStyle>
          <a:p>
            <a:pPr algn="l"/>
            <a:r>
              <a:rPr lang="en-US" sz="1800" dirty="0"/>
              <a:t>Department of Informatics</a:t>
            </a:r>
          </a:p>
          <a:p>
            <a:pPr algn="l"/>
            <a:r>
              <a:rPr lang="en-US" sz="1800" dirty="0"/>
              <a:t>Ionian University</a:t>
            </a:r>
            <a:endParaRPr lang="en-US" sz="2800" dirty="0">
              <a:latin typeface="Calibri" panose="020F0502020204030204" pitchFamily="34" charset="0"/>
              <a:ea typeface="Verdana" panose="020B0604030504040204" pitchFamily="34" charset="0"/>
              <a:cs typeface="Verdana" panose="020B0604030504040204" pitchFamily="34" charset="0"/>
            </a:endParaRPr>
          </a:p>
        </p:txBody>
      </p:sp>
      <p:pic>
        <p:nvPicPr>
          <p:cNvPr id="8" name="Εικόνα 7">
            <a:extLst>
              <a:ext uri="{FF2B5EF4-FFF2-40B4-BE49-F238E27FC236}">
                <a16:creationId xmlns:a16="http://schemas.microsoft.com/office/drawing/2014/main" id="{A3A5D6B7-C33F-4D6A-994F-256D9AB4E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462" y="237692"/>
            <a:ext cx="1428750" cy="1457325"/>
          </a:xfrm>
          <a:prstGeom prst="rect">
            <a:avLst/>
          </a:prstGeom>
        </p:spPr>
      </p:pic>
    </p:spTree>
    <p:extLst>
      <p:ext uri="{BB962C8B-B14F-4D97-AF65-F5344CB8AC3E}">
        <p14:creationId xmlns:p14="http://schemas.microsoft.com/office/powerpoint/2010/main" val="1019250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93646-566A-41C3-F979-C3AB00400755}"/>
            </a:ext>
          </a:extLst>
        </p:cNvPr>
        <p:cNvGrpSpPr/>
        <p:nvPr/>
      </p:nvGrpSpPr>
      <p:grpSpPr>
        <a:xfrm>
          <a:off x="0" y="0"/>
          <a:ext cx="0" cy="0"/>
          <a:chOff x="0" y="0"/>
          <a:chExt cx="0" cy="0"/>
        </a:xfrm>
      </p:grpSpPr>
      <p:sp>
        <p:nvSpPr>
          <p:cNvPr id="3" name="Τίτλος 2">
            <a:extLst>
              <a:ext uri="{FF2B5EF4-FFF2-40B4-BE49-F238E27FC236}">
                <a16:creationId xmlns:a16="http://schemas.microsoft.com/office/drawing/2014/main" id="{E3B48DD1-2FD3-B014-0564-FF3C11A856A6}"/>
              </a:ext>
            </a:extLst>
          </p:cNvPr>
          <p:cNvSpPr>
            <a:spLocks noGrp="1"/>
          </p:cNvSpPr>
          <p:nvPr>
            <p:ph type="title"/>
          </p:nvPr>
        </p:nvSpPr>
        <p:spPr/>
        <p:txBody>
          <a:bodyPr/>
          <a:lstStyle/>
          <a:p>
            <a:endParaRPr lang="en-US"/>
          </a:p>
        </p:txBody>
      </p:sp>
      <p:sp>
        <p:nvSpPr>
          <p:cNvPr id="5" name="Box 2">
            <a:extLst>
              <a:ext uri="{FF2B5EF4-FFF2-40B4-BE49-F238E27FC236}">
                <a16:creationId xmlns:a16="http://schemas.microsoft.com/office/drawing/2014/main" id="{080830E3-3EBC-34E3-205A-692E3317DEC1}"/>
              </a:ext>
            </a:extLst>
          </p:cNvPr>
          <p:cNvSpPr/>
          <p:nvPr/>
        </p:nvSpPr>
        <p:spPr>
          <a:xfrm>
            <a:off x="0" y="0"/>
            <a:ext cx="12191695" cy="6858000"/>
          </a:xfrm>
          <a:prstGeom prst="rect">
            <a:avLst/>
          </a:prstGeom>
          <a:solidFill>
            <a:srgbClr val="F6F8FB"/>
          </a:solidFill>
          <a:ln w="12700">
            <a:solidFill>
              <a:srgbClr val="F6F8FB"/>
            </a:solidFill>
          </a:ln>
        </p:spPr>
      </p:sp>
      <p:sp>
        <p:nvSpPr>
          <p:cNvPr id="7" name="Box 3">
            <a:extLst>
              <a:ext uri="{FF2B5EF4-FFF2-40B4-BE49-F238E27FC236}">
                <a16:creationId xmlns:a16="http://schemas.microsoft.com/office/drawing/2014/main" id="{4FF1C9E8-EA38-02A6-C959-C4B7474A4C83}"/>
              </a:ext>
            </a:extLst>
          </p:cNvPr>
          <p:cNvSpPr/>
          <p:nvPr/>
        </p:nvSpPr>
        <p:spPr>
          <a:xfrm>
            <a:off x="0" y="0"/>
            <a:ext cx="146304" cy="6858000"/>
          </a:xfrm>
          <a:prstGeom prst="rect">
            <a:avLst/>
          </a:prstGeom>
          <a:solidFill>
            <a:srgbClr val="25B7A5"/>
          </a:solidFill>
          <a:ln w="12700">
            <a:solidFill>
              <a:srgbClr val="25B7A5"/>
            </a:solidFill>
          </a:ln>
        </p:spPr>
      </p:sp>
      <p:sp>
        <p:nvSpPr>
          <p:cNvPr id="9" name="Footer">
            <a:extLst>
              <a:ext uri="{FF2B5EF4-FFF2-40B4-BE49-F238E27FC236}">
                <a16:creationId xmlns:a16="http://schemas.microsoft.com/office/drawing/2014/main" id="{B6CBB49A-7F4D-E899-8515-51531117424A}"/>
              </a:ext>
            </a:extLst>
          </p:cNvP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pic>
        <p:nvPicPr>
          <p:cNvPr id="6" name="Εικόνα 5" descr="The Tire Swing Cartoon">
            <a:extLst>
              <a:ext uri="{FF2B5EF4-FFF2-40B4-BE49-F238E27FC236}">
                <a16:creationId xmlns:a16="http://schemas.microsoft.com/office/drawing/2014/main" id="{14CED609-F62F-BCE4-CB0E-AC1EB30BAC8A}"/>
              </a:ext>
            </a:extLst>
          </p:cNvPr>
          <p:cNvPicPr>
            <a:picLocks noChangeAspect="1"/>
          </p:cNvPicPr>
          <p:nvPr/>
        </p:nvPicPr>
        <p:blipFill>
          <a:blip r:embed="rId2"/>
          <a:stretch>
            <a:fillRect/>
          </a:stretch>
        </p:blipFill>
        <p:spPr>
          <a:xfrm>
            <a:off x="1471448" y="146304"/>
            <a:ext cx="8087711" cy="6065784"/>
          </a:xfrm>
          <a:prstGeom prst="rect">
            <a:avLst/>
          </a:prstGeom>
        </p:spPr>
      </p:pic>
    </p:spTree>
    <p:extLst>
      <p:ext uri="{BB962C8B-B14F-4D97-AF65-F5344CB8AC3E}">
        <p14:creationId xmlns:p14="http://schemas.microsoft.com/office/powerpoint/2010/main" val="189303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περιεχομένου 1">
            <a:extLst>
              <a:ext uri="{FF2B5EF4-FFF2-40B4-BE49-F238E27FC236}">
                <a16:creationId xmlns:a16="http://schemas.microsoft.com/office/drawing/2014/main" id="{307691B8-6F88-6BA5-AFB2-F6F6BAAB3D7F}"/>
              </a:ext>
            </a:extLst>
          </p:cNvPr>
          <p:cNvSpPr>
            <a:spLocks noGrp="1"/>
          </p:cNvSpPr>
          <p:nvPr>
            <p:ph idx="1"/>
          </p:nvPr>
        </p:nvSpPr>
        <p:spPr/>
        <p:txBody>
          <a:bodyPr/>
          <a:lstStyle/>
          <a:p>
            <a:endParaRPr lang="en-US"/>
          </a:p>
        </p:txBody>
      </p:sp>
      <p:sp>
        <p:nvSpPr>
          <p:cNvPr id="3" name="Τίτλος 2">
            <a:extLst>
              <a:ext uri="{FF2B5EF4-FFF2-40B4-BE49-F238E27FC236}">
                <a16:creationId xmlns:a16="http://schemas.microsoft.com/office/drawing/2014/main" id="{FFB29878-7861-D8EC-F0EB-008E6A1850AA}"/>
              </a:ext>
            </a:extLst>
          </p:cNvPr>
          <p:cNvSpPr>
            <a:spLocks noGrp="1"/>
          </p:cNvSpPr>
          <p:nvPr>
            <p:ph type="title"/>
          </p:nvPr>
        </p:nvSpPr>
        <p:spPr/>
        <p:txBody>
          <a:bodyPr/>
          <a:lstStyle/>
          <a:p>
            <a:endParaRPr lang="en-US"/>
          </a:p>
        </p:txBody>
      </p:sp>
      <p:sp>
        <p:nvSpPr>
          <p:cNvPr id="5" name="Box 2">
            <a:extLst>
              <a:ext uri="{FF2B5EF4-FFF2-40B4-BE49-F238E27FC236}">
                <a16:creationId xmlns:a16="http://schemas.microsoft.com/office/drawing/2014/main" id="{D336B0D4-9CB9-4EAA-5BA9-2D246882AE01}"/>
              </a:ext>
            </a:extLst>
          </p:cNvPr>
          <p:cNvSpPr/>
          <p:nvPr/>
        </p:nvSpPr>
        <p:spPr>
          <a:xfrm>
            <a:off x="0" y="0"/>
            <a:ext cx="12191695" cy="6858000"/>
          </a:xfrm>
          <a:prstGeom prst="rect">
            <a:avLst/>
          </a:prstGeom>
          <a:solidFill>
            <a:srgbClr val="F6F8FB"/>
          </a:solidFill>
          <a:ln w="12700">
            <a:solidFill>
              <a:srgbClr val="F6F8FB"/>
            </a:solidFill>
          </a:ln>
        </p:spPr>
      </p:sp>
      <p:sp>
        <p:nvSpPr>
          <p:cNvPr id="7" name="Box 3">
            <a:extLst>
              <a:ext uri="{FF2B5EF4-FFF2-40B4-BE49-F238E27FC236}">
                <a16:creationId xmlns:a16="http://schemas.microsoft.com/office/drawing/2014/main" id="{38A61ECF-FB80-4329-4BD3-08D3E89D2437}"/>
              </a:ext>
            </a:extLst>
          </p:cNvPr>
          <p:cNvSpPr/>
          <p:nvPr/>
        </p:nvSpPr>
        <p:spPr>
          <a:xfrm>
            <a:off x="0" y="0"/>
            <a:ext cx="146304" cy="6858000"/>
          </a:xfrm>
          <a:prstGeom prst="rect">
            <a:avLst/>
          </a:prstGeom>
          <a:solidFill>
            <a:srgbClr val="25B7A5"/>
          </a:solidFill>
          <a:ln w="12700">
            <a:solidFill>
              <a:srgbClr val="25B7A5"/>
            </a:solidFill>
          </a:ln>
        </p:spPr>
      </p:sp>
      <p:sp>
        <p:nvSpPr>
          <p:cNvPr id="9" name="Footer">
            <a:extLst>
              <a:ext uri="{FF2B5EF4-FFF2-40B4-BE49-F238E27FC236}">
                <a16:creationId xmlns:a16="http://schemas.microsoft.com/office/drawing/2014/main" id="{C27B18A1-AE29-A486-DA5F-D5DD8AFA90F7}"/>
              </a:ext>
            </a:extLst>
          </p:cNvP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10" name="Τίτλος 6">
            <a:extLst>
              <a:ext uri="{FF2B5EF4-FFF2-40B4-BE49-F238E27FC236}">
                <a16:creationId xmlns:a16="http://schemas.microsoft.com/office/drawing/2014/main" id="{ED1102E2-8137-7AC4-B015-D1FCEDC2ADFC}"/>
              </a:ext>
            </a:extLst>
          </p:cNvPr>
          <p:cNvSpPr txBox="1">
            <a:spLocks/>
          </p:cNvSpPr>
          <p:nvPr/>
        </p:nvSpPr>
        <p:spPr>
          <a:xfrm>
            <a:off x="762000" y="427038"/>
            <a:ext cx="10972800" cy="587454"/>
          </a:xfrm>
          <a:prstGeom prst="rect">
            <a:avLst/>
          </a:prstGeom>
        </p:spPr>
        <p:txBody>
          <a:bodyPr vert="horz" rtlCol="0" anchor="ctr">
            <a:noAutofit/>
            <a:scene3d>
              <a:camera prst="orthographicFront"/>
              <a:lightRig rig="soft" dir="t"/>
            </a:scene3d>
            <a:sp3d prstMaterial="softEdge">
              <a:bevelT w="25400" h="25400"/>
            </a:sp3d>
          </a:bodyPr>
          <a:lstStyle>
            <a:lvl1pPr algn="l" rtl="0" eaLnBrk="1" latinLnBrk="0" hangingPunct="1">
              <a:spcBef>
                <a:spcPct val="0"/>
              </a:spcBef>
              <a:buNone/>
              <a:defRPr kumimoji="0" sz="3400" b="1" kern="1200">
                <a:solidFill>
                  <a:schemeClr val="tx2"/>
                </a:solidFill>
                <a:effectLst>
                  <a:outerShdw blurRad="31750" dist="25400" dir="5400000" algn="tl" rotWithShape="0">
                    <a:srgbClr val="000000">
                      <a:alpha val="25000"/>
                    </a:srgbClr>
                  </a:outerShdw>
                </a:effectLst>
                <a:latin typeface="Calibri" panose="020F0502020204030204" pitchFamily="34" charset="0"/>
                <a:ea typeface="+mj-ea"/>
                <a:cs typeface="Calibri" panose="020F0502020204030204" pitchFamily="34" charset="0"/>
              </a:defRPr>
            </a:lvl1pPr>
            <a:extLst/>
          </a:lstStyle>
          <a:p>
            <a:r>
              <a:rPr lang="en-US" sz="3600">
                <a:solidFill>
                  <a:srgbClr val="172033"/>
                </a:solidFill>
                <a:latin typeface="Aptos"/>
              </a:rPr>
              <a:t>Learning objectives</a:t>
            </a:r>
            <a:endParaRPr lang="en-US" dirty="0"/>
          </a:p>
        </p:txBody>
      </p:sp>
      <p:cxnSp>
        <p:nvCxnSpPr>
          <p:cNvPr id="11" name="Line 6">
            <a:extLst>
              <a:ext uri="{FF2B5EF4-FFF2-40B4-BE49-F238E27FC236}">
                <a16:creationId xmlns:a16="http://schemas.microsoft.com/office/drawing/2014/main" id="{C823965C-C00B-0090-82DB-8E470E35379D}"/>
              </a:ext>
            </a:extLst>
          </p:cNvPr>
          <p:cNvCxnSpPr/>
          <p:nvPr/>
        </p:nvCxnSpPr>
        <p:spPr>
          <a:xfrm>
            <a:off x="502920" y="1261872"/>
            <a:ext cx="11064240" cy="0"/>
          </a:xfrm>
          <a:prstGeom prst="line">
            <a:avLst/>
          </a:prstGeom>
          <a:ln w="12700">
            <a:solidFill>
              <a:srgbClr val="DDE3EA"/>
            </a:solidFill>
          </a:ln>
        </p:spPr>
      </p:cxnSp>
      <p:sp>
        <p:nvSpPr>
          <p:cNvPr id="13" name="Box 20">
            <a:extLst>
              <a:ext uri="{FF2B5EF4-FFF2-40B4-BE49-F238E27FC236}">
                <a16:creationId xmlns:a16="http://schemas.microsoft.com/office/drawing/2014/main" id="{4AD78F1F-4B8A-F7E2-1F55-E09844D7E86C}"/>
              </a:ext>
            </a:extLst>
          </p:cNvPr>
          <p:cNvSpPr/>
          <p:nvPr/>
        </p:nvSpPr>
        <p:spPr>
          <a:xfrm>
            <a:off x="594360" y="1572768"/>
            <a:ext cx="3520440" cy="1828800"/>
          </a:xfrm>
          <a:prstGeom prst="roundRect">
            <a:avLst/>
          </a:prstGeom>
          <a:solidFill>
            <a:srgbClr val="FFFFFF"/>
          </a:solidFill>
          <a:ln w="12700">
            <a:solidFill>
              <a:srgbClr val="E2E7EE"/>
            </a:solidFill>
          </a:ln>
        </p:spPr>
      </p:sp>
      <p:sp>
        <p:nvSpPr>
          <p:cNvPr id="15" name="CardTitle">
            <a:extLst>
              <a:ext uri="{FF2B5EF4-FFF2-40B4-BE49-F238E27FC236}">
                <a16:creationId xmlns:a16="http://schemas.microsoft.com/office/drawing/2014/main" id="{76BD74C9-5C3E-2A65-6E59-42BFBD1DA8E3}"/>
              </a:ext>
            </a:extLst>
          </p:cNvPr>
          <p:cNvSpPr/>
          <p:nvPr/>
        </p:nvSpPr>
        <p:spPr>
          <a:xfrm>
            <a:off x="822960" y="2075688"/>
            <a:ext cx="3108960" cy="347472"/>
          </a:xfrm>
          <a:prstGeom prst="rect">
            <a:avLst/>
          </a:prstGeom>
          <a:noFill/>
          <a:ln>
            <a:noFill/>
          </a:ln>
        </p:spPr>
        <p:txBody>
          <a:bodyPr wrap="square" lIns="0" tIns="0" rIns="0" bIns="0" anchor="ctr"/>
          <a:lstStyle/>
          <a:p>
            <a:pPr algn="l"/>
            <a:r>
              <a:rPr lang="en-US" sz="1800" b="1">
                <a:solidFill>
                  <a:srgbClr val="172033"/>
                </a:solidFill>
                <a:latin typeface="Aptos"/>
              </a:rPr>
              <a:t>Discrimination</a:t>
            </a:r>
            <a:endParaRPr lang="en-US" sz="1800"/>
          </a:p>
        </p:txBody>
      </p:sp>
      <p:sp>
        <p:nvSpPr>
          <p:cNvPr id="17" name="CardBody">
            <a:extLst>
              <a:ext uri="{FF2B5EF4-FFF2-40B4-BE49-F238E27FC236}">
                <a16:creationId xmlns:a16="http://schemas.microsoft.com/office/drawing/2014/main" id="{5094265C-45AD-1E32-C2B3-B9D894DBD907}"/>
              </a:ext>
            </a:extLst>
          </p:cNvPr>
          <p:cNvSpPr/>
          <p:nvPr/>
        </p:nvSpPr>
        <p:spPr>
          <a:xfrm>
            <a:off x="822960" y="2505456"/>
            <a:ext cx="3108960" cy="731520"/>
          </a:xfrm>
          <a:prstGeom prst="rect">
            <a:avLst/>
          </a:prstGeom>
          <a:noFill/>
          <a:ln>
            <a:noFill/>
          </a:ln>
        </p:spPr>
        <p:txBody>
          <a:bodyPr wrap="square" lIns="0" tIns="0" rIns="0" bIns="0" anchor="ctr"/>
          <a:lstStyle/>
          <a:p>
            <a:pPr algn="l"/>
            <a:r>
              <a:rPr lang="en-US" sz="1400">
                <a:solidFill>
                  <a:srgbClr val="536174"/>
                </a:solidFill>
                <a:latin typeface="Aptos"/>
              </a:rPr>
              <a:t>Distinguish between functional, non-functional and domain requirements.</a:t>
            </a:r>
            <a:endParaRPr lang="en-US" sz="1400"/>
          </a:p>
        </p:txBody>
      </p:sp>
      <p:sp>
        <p:nvSpPr>
          <p:cNvPr id="19" name="Box 30">
            <a:extLst>
              <a:ext uri="{FF2B5EF4-FFF2-40B4-BE49-F238E27FC236}">
                <a16:creationId xmlns:a16="http://schemas.microsoft.com/office/drawing/2014/main" id="{FD76578F-F8A7-833F-F5CE-C511BBF8CC70}"/>
              </a:ext>
            </a:extLst>
          </p:cNvPr>
          <p:cNvSpPr/>
          <p:nvPr/>
        </p:nvSpPr>
        <p:spPr>
          <a:xfrm>
            <a:off x="4343400" y="1572768"/>
            <a:ext cx="3520440" cy="1828800"/>
          </a:xfrm>
          <a:prstGeom prst="roundRect">
            <a:avLst/>
          </a:prstGeom>
          <a:solidFill>
            <a:srgbClr val="FFFFFF"/>
          </a:solidFill>
          <a:ln w="12700">
            <a:solidFill>
              <a:srgbClr val="E2E7EE"/>
            </a:solidFill>
          </a:ln>
        </p:spPr>
      </p:sp>
      <p:sp>
        <p:nvSpPr>
          <p:cNvPr id="21" name="CardTitle">
            <a:extLst>
              <a:ext uri="{FF2B5EF4-FFF2-40B4-BE49-F238E27FC236}">
                <a16:creationId xmlns:a16="http://schemas.microsoft.com/office/drawing/2014/main" id="{2BB1C61B-472E-B3EE-702F-5461C40D58ED}"/>
              </a:ext>
            </a:extLst>
          </p:cNvPr>
          <p:cNvSpPr/>
          <p:nvPr/>
        </p:nvSpPr>
        <p:spPr>
          <a:xfrm>
            <a:off x="4572000" y="2075688"/>
            <a:ext cx="3108960" cy="347472"/>
          </a:xfrm>
          <a:prstGeom prst="rect">
            <a:avLst/>
          </a:prstGeom>
          <a:noFill/>
          <a:ln>
            <a:noFill/>
          </a:ln>
        </p:spPr>
        <p:txBody>
          <a:bodyPr wrap="square" lIns="0" tIns="0" rIns="0" bIns="0" anchor="ctr"/>
          <a:lstStyle/>
          <a:p>
            <a:pPr algn="l"/>
            <a:r>
              <a:rPr lang="en-US" sz="1800" b="1">
                <a:solidFill>
                  <a:srgbClr val="172033"/>
                </a:solidFill>
                <a:latin typeface="Aptos"/>
              </a:rPr>
              <a:t>Wording</a:t>
            </a:r>
            <a:endParaRPr lang="en-US" sz="1800"/>
          </a:p>
        </p:txBody>
      </p:sp>
      <p:sp>
        <p:nvSpPr>
          <p:cNvPr id="23" name="CardBody">
            <a:extLst>
              <a:ext uri="{FF2B5EF4-FFF2-40B4-BE49-F238E27FC236}">
                <a16:creationId xmlns:a16="http://schemas.microsoft.com/office/drawing/2014/main" id="{44ED0151-B9CA-7BB1-383C-E4FB019FE503}"/>
              </a:ext>
            </a:extLst>
          </p:cNvPr>
          <p:cNvSpPr/>
          <p:nvPr/>
        </p:nvSpPr>
        <p:spPr>
          <a:xfrm>
            <a:off x="4572000" y="2505456"/>
            <a:ext cx="3108960" cy="731520"/>
          </a:xfrm>
          <a:prstGeom prst="rect">
            <a:avLst/>
          </a:prstGeom>
          <a:noFill/>
          <a:ln>
            <a:noFill/>
          </a:ln>
        </p:spPr>
        <p:txBody>
          <a:bodyPr wrap="square" lIns="0" tIns="0" rIns="0" bIns="0" anchor="ctr"/>
          <a:lstStyle/>
          <a:p>
            <a:pPr algn="l"/>
            <a:r>
              <a:rPr lang="en-US" sz="1400">
                <a:solidFill>
                  <a:srgbClr val="536174"/>
                </a:solidFill>
                <a:latin typeface="Aptos"/>
              </a:rPr>
              <a:t>Write requirements that are clear, measurable, and testable.</a:t>
            </a:r>
            <a:endParaRPr lang="en-US" sz="1400"/>
          </a:p>
        </p:txBody>
      </p:sp>
      <p:sp>
        <p:nvSpPr>
          <p:cNvPr id="25" name="Box 40">
            <a:extLst>
              <a:ext uri="{FF2B5EF4-FFF2-40B4-BE49-F238E27FC236}">
                <a16:creationId xmlns:a16="http://schemas.microsoft.com/office/drawing/2014/main" id="{039500DB-A1AC-714F-CDD9-A577F7149B9B}"/>
              </a:ext>
            </a:extLst>
          </p:cNvPr>
          <p:cNvSpPr/>
          <p:nvPr/>
        </p:nvSpPr>
        <p:spPr>
          <a:xfrm>
            <a:off x="8092440" y="1572768"/>
            <a:ext cx="3520440" cy="1828800"/>
          </a:xfrm>
          <a:prstGeom prst="roundRect">
            <a:avLst/>
          </a:prstGeom>
          <a:solidFill>
            <a:srgbClr val="FFFFFF"/>
          </a:solidFill>
          <a:ln w="12700">
            <a:solidFill>
              <a:srgbClr val="E2E7EE"/>
            </a:solidFill>
          </a:ln>
        </p:spPr>
      </p:sp>
      <p:sp>
        <p:nvSpPr>
          <p:cNvPr id="27" name="CardTitle">
            <a:extLst>
              <a:ext uri="{FF2B5EF4-FFF2-40B4-BE49-F238E27FC236}">
                <a16:creationId xmlns:a16="http://schemas.microsoft.com/office/drawing/2014/main" id="{09D63F8A-56EB-6FB4-9583-39BF15FF168D}"/>
              </a:ext>
            </a:extLst>
          </p:cNvPr>
          <p:cNvSpPr/>
          <p:nvPr/>
        </p:nvSpPr>
        <p:spPr>
          <a:xfrm>
            <a:off x="8321040" y="2075688"/>
            <a:ext cx="3108960" cy="347472"/>
          </a:xfrm>
          <a:prstGeom prst="rect">
            <a:avLst/>
          </a:prstGeom>
          <a:noFill/>
          <a:ln>
            <a:noFill/>
          </a:ln>
        </p:spPr>
        <p:txBody>
          <a:bodyPr wrap="square" lIns="0" tIns="0" rIns="0" bIns="0" anchor="ctr"/>
          <a:lstStyle/>
          <a:p>
            <a:pPr algn="l"/>
            <a:r>
              <a:rPr lang="en-US" sz="1800" b="1">
                <a:solidFill>
                  <a:srgbClr val="172033"/>
                </a:solidFill>
                <a:latin typeface="Aptos"/>
              </a:rPr>
              <a:t>Control</a:t>
            </a:r>
            <a:endParaRPr lang="en-US" sz="1800"/>
          </a:p>
        </p:txBody>
      </p:sp>
      <p:sp>
        <p:nvSpPr>
          <p:cNvPr id="29" name="CardBody">
            <a:extLst>
              <a:ext uri="{FF2B5EF4-FFF2-40B4-BE49-F238E27FC236}">
                <a16:creationId xmlns:a16="http://schemas.microsoft.com/office/drawing/2014/main" id="{AAA17431-966B-C116-AAC2-2CB10C44E7E3}"/>
              </a:ext>
            </a:extLst>
          </p:cNvPr>
          <p:cNvSpPr/>
          <p:nvPr/>
        </p:nvSpPr>
        <p:spPr>
          <a:xfrm>
            <a:off x="8321040" y="2505456"/>
            <a:ext cx="3108960" cy="731520"/>
          </a:xfrm>
          <a:prstGeom prst="rect">
            <a:avLst/>
          </a:prstGeom>
          <a:noFill/>
          <a:ln>
            <a:noFill/>
          </a:ln>
        </p:spPr>
        <p:txBody>
          <a:bodyPr wrap="square" lIns="0" tIns="0" rIns="0" bIns="0" anchor="ctr"/>
          <a:lstStyle/>
          <a:p>
            <a:pPr algn="l"/>
            <a:r>
              <a:rPr lang="en-US" sz="1400">
                <a:solidFill>
                  <a:srgbClr val="536174"/>
                </a:solidFill>
                <a:latin typeface="Aptos"/>
              </a:rPr>
              <a:t>Identify ambiguity, conflict, gaps, and unrealistic goals.</a:t>
            </a:r>
            <a:endParaRPr lang="en-US" sz="1400"/>
          </a:p>
        </p:txBody>
      </p:sp>
      <p:sp>
        <p:nvSpPr>
          <p:cNvPr id="31" name="Box 50">
            <a:extLst>
              <a:ext uri="{FF2B5EF4-FFF2-40B4-BE49-F238E27FC236}">
                <a16:creationId xmlns:a16="http://schemas.microsoft.com/office/drawing/2014/main" id="{6B7009A7-EA94-C00A-D4B7-D9EE94491300}"/>
              </a:ext>
            </a:extLst>
          </p:cNvPr>
          <p:cNvSpPr/>
          <p:nvPr/>
        </p:nvSpPr>
        <p:spPr>
          <a:xfrm>
            <a:off x="594360" y="3822192"/>
            <a:ext cx="11018520" cy="1600200"/>
          </a:xfrm>
          <a:prstGeom prst="roundRect">
            <a:avLst/>
          </a:prstGeom>
          <a:solidFill>
            <a:srgbClr val="EAF7F5"/>
          </a:solidFill>
          <a:ln w="12700">
            <a:solidFill>
              <a:srgbClr val="BFEAE4"/>
            </a:solidFill>
          </a:ln>
        </p:spPr>
      </p:sp>
      <p:sp>
        <p:nvSpPr>
          <p:cNvPr id="33" name="Goal">
            <a:extLst>
              <a:ext uri="{FF2B5EF4-FFF2-40B4-BE49-F238E27FC236}">
                <a16:creationId xmlns:a16="http://schemas.microsoft.com/office/drawing/2014/main" id="{71E58E29-FEBF-26E6-8255-93B6DECB0CE2}"/>
              </a:ext>
            </a:extLst>
          </p:cNvPr>
          <p:cNvSpPr/>
          <p:nvPr/>
        </p:nvSpPr>
        <p:spPr>
          <a:xfrm>
            <a:off x="914400" y="4133088"/>
            <a:ext cx="10332720" cy="347472"/>
          </a:xfrm>
          <a:prstGeom prst="rect">
            <a:avLst/>
          </a:prstGeom>
          <a:noFill/>
          <a:ln>
            <a:noFill/>
          </a:ln>
        </p:spPr>
        <p:txBody>
          <a:bodyPr wrap="square" lIns="0" tIns="0" rIns="0" bIns="0" anchor="ctr"/>
          <a:lstStyle/>
          <a:p>
            <a:pPr algn="l"/>
            <a:r>
              <a:rPr lang="en-US" sz="2000" b="1">
                <a:solidFill>
                  <a:srgbClr val="176F65"/>
                </a:solidFill>
                <a:latin typeface="Aptos"/>
              </a:rPr>
              <a:t>In the end: from a “good idea” to acceptance criteria that can be tested.</a:t>
            </a:r>
            <a:endParaRPr lang="en-US" sz="2000"/>
          </a:p>
        </p:txBody>
      </p:sp>
      <p:sp>
        <p:nvSpPr>
          <p:cNvPr id="35" name="Flow">
            <a:extLst>
              <a:ext uri="{FF2B5EF4-FFF2-40B4-BE49-F238E27FC236}">
                <a16:creationId xmlns:a16="http://schemas.microsoft.com/office/drawing/2014/main" id="{A66AB08E-45C0-F46F-FBC8-0D97FB999D67}"/>
              </a:ext>
            </a:extLst>
          </p:cNvPr>
          <p:cNvSpPr/>
          <p:nvPr/>
        </p:nvSpPr>
        <p:spPr>
          <a:xfrm>
            <a:off x="1051560" y="4663440"/>
            <a:ext cx="10058400" cy="256032"/>
          </a:xfrm>
          <a:prstGeom prst="rect">
            <a:avLst/>
          </a:prstGeom>
          <a:noFill/>
          <a:ln>
            <a:noFill/>
          </a:ln>
        </p:spPr>
        <p:txBody>
          <a:bodyPr wrap="square" lIns="0" tIns="0" rIns="0" bIns="0" anchor="ctr"/>
          <a:lstStyle/>
          <a:p>
            <a:pPr algn="l"/>
            <a:r>
              <a:rPr lang="en-US" sz="1500">
                <a:solidFill>
                  <a:srgbClr val="397C75"/>
                </a:solidFill>
                <a:latin typeface="Aptos"/>
              </a:rPr>
              <a:t>need → requirement → specification → implementation → control</a:t>
            </a:r>
            <a:endParaRPr lang="en-US" sz="1500"/>
          </a:p>
        </p:txBody>
      </p:sp>
    </p:spTree>
    <p:extLst>
      <p:ext uri="{BB962C8B-B14F-4D97-AF65-F5344CB8AC3E}">
        <p14:creationId xmlns:p14="http://schemas.microsoft.com/office/powerpoint/2010/main" val="27247658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endParaRPr lang="en-US" sz="2900" dirty="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731520" y="1645920"/>
            <a:ext cx="4572000" cy="3474720"/>
          </a:xfrm>
          <a:prstGeom prst="roundRect">
            <a:avLst/>
          </a:prstGeom>
          <a:solidFill>
            <a:srgbClr val="FFFFFF"/>
          </a:solidFill>
          <a:ln w="12700">
            <a:solidFill>
              <a:srgbClr val="DDE3EA"/>
            </a:solidFill>
          </a:ln>
        </p:spPr>
      </p:sp>
      <p:sp>
        <p:nvSpPr>
          <p:cNvPr id="21" name="Quote"/>
          <p:cNvSpPr/>
          <p:nvPr/>
        </p:nvSpPr>
        <p:spPr>
          <a:xfrm>
            <a:off x="1051560" y="2029968"/>
            <a:ext cx="3931920" cy="1325880"/>
          </a:xfrm>
          <a:prstGeom prst="rect">
            <a:avLst/>
          </a:prstGeom>
          <a:noFill/>
          <a:ln>
            <a:noFill/>
          </a:ln>
        </p:spPr>
        <p:txBody>
          <a:bodyPr wrap="square" lIns="0" tIns="0" rIns="0" bIns="0" anchor="ctr"/>
          <a:lstStyle/>
          <a:p>
            <a:pPr algn="l"/>
            <a:r>
              <a:rPr lang="en-US" sz="2500" b="1">
                <a:solidFill>
                  <a:srgbClr val="172033"/>
                </a:solidFill>
                <a:latin typeface="Aptos"/>
              </a:rPr>
              <a:t>“What should the system do — and under what constraints?”</a:t>
            </a:r>
            <a:endParaRPr lang="en-US" sz="2500"/>
          </a:p>
        </p:txBody>
      </p:sp>
      <p:sp>
        <p:nvSpPr>
          <p:cNvPr id="22" name="Definition"/>
          <p:cNvSpPr/>
          <p:nvPr/>
        </p:nvSpPr>
        <p:spPr>
          <a:xfrm>
            <a:off x="1097280" y="3794760"/>
            <a:ext cx="3840480" cy="731520"/>
          </a:xfrm>
          <a:prstGeom prst="rect">
            <a:avLst/>
          </a:prstGeom>
          <a:noFill/>
          <a:ln>
            <a:noFill/>
          </a:ln>
        </p:spPr>
        <p:txBody>
          <a:bodyPr wrap="square" lIns="0" tIns="0" rIns="0" bIns="0" anchor="ctr"/>
          <a:lstStyle/>
          <a:p>
            <a:pPr algn="l"/>
            <a:r>
              <a:rPr lang="en-US" sz="1500">
                <a:solidFill>
                  <a:srgbClr val="536174"/>
                </a:solidFill>
                <a:latin typeface="Aptos"/>
              </a:rPr>
              <a:t>Description of a service, behavior, property, or constraint that a stakeholder needs.</a:t>
            </a:r>
            <a:endParaRPr lang="en-US" sz="1500"/>
          </a:p>
        </p:txBody>
      </p:sp>
      <p:sp>
        <p:nvSpPr>
          <p:cNvPr id="30" name="NotDesign"/>
          <p:cNvSpPr/>
          <p:nvPr/>
        </p:nvSpPr>
        <p:spPr>
          <a:xfrm>
            <a:off x="5806440" y="1700784"/>
            <a:ext cx="5120640" cy="365760"/>
          </a:xfrm>
          <a:prstGeom prst="rect">
            <a:avLst/>
          </a:prstGeom>
          <a:noFill/>
          <a:ln>
            <a:noFill/>
          </a:ln>
        </p:spPr>
        <p:txBody>
          <a:bodyPr wrap="square" lIns="0" tIns="0" rIns="0" bIns="0" anchor="ctr"/>
          <a:lstStyle/>
          <a:p>
            <a:pPr algn="l"/>
            <a:r>
              <a:rPr lang="en-US" sz="2100" b="1">
                <a:solidFill>
                  <a:srgbClr val="D06B4F"/>
                </a:solidFill>
                <a:latin typeface="Aptos"/>
              </a:rPr>
              <a:t>Requirement ≠ design decision</a:t>
            </a:r>
            <a:endParaRPr lang="en-US" sz="2100"/>
          </a:p>
        </p:txBody>
      </p:sp>
      <p:sp>
        <p:nvSpPr>
          <p:cNvPr id="31" name="Box 31"/>
          <p:cNvSpPr/>
          <p:nvPr/>
        </p:nvSpPr>
        <p:spPr>
          <a:xfrm>
            <a:off x="5806440" y="2240280"/>
            <a:ext cx="5212080" cy="1234440"/>
          </a:xfrm>
          <a:prstGeom prst="roundRect">
            <a:avLst/>
          </a:prstGeom>
          <a:solidFill>
            <a:srgbClr val="FFFFFF"/>
          </a:solidFill>
          <a:ln w="12700">
            <a:solidFill>
              <a:srgbClr val="E2E7EE"/>
            </a:solidFill>
          </a:ln>
        </p:spPr>
      </p:sp>
      <p:sp>
        <p:nvSpPr>
          <p:cNvPr id="33" name="Kicker"/>
          <p:cNvSpPr/>
          <p:nvPr/>
        </p:nvSpPr>
        <p:spPr>
          <a:xfrm>
            <a:off x="6035040" y="2404872"/>
            <a:ext cx="4800600" cy="228600"/>
          </a:xfrm>
          <a:prstGeom prst="rect">
            <a:avLst/>
          </a:prstGeom>
          <a:noFill/>
          <a:ln>
            <a:noFill/>
          </a:ln>
        </p:spPr>
        <p:txBody>
          <a:bodyPr wrap="square" lIns="0" tIns="0" rIns="0" bIns="0" anchor="ctr"/>
          <a:lstStyle/>
          <a:p>
            <a:pPr algn="l"/>
            <a:r>
              <a:rPr lang="en-US" sz="1000" b="1">
                <a:solidFill>
                  <a:srgbClr val="25B7A5"/>
                </a:solidFill>
                <a:latin typeface="Aptos"/>
              </a:rPr>
              <a:t>REQUIREMENT</a:t>
            </a:r>
            <a:endParaRPr lang="en-US" sz="1000"/>
          </a:p>
        </p:txBody>
      </p:sp>
      <p:sp>
        <p:nvSpPr>
          <p:cNvPr id="34" name="CardTitle"/>
          <p:cNvSpPr/>
          <p:nvPr/>
        </p:nvSpPr>
        <p:spPr>
          <a:xfrm>
            <a:off x="6035040" y="2743200"/>
            <a:ext cx="4800600" cy="347472"/>
          </a:xfrm>
          <a:prstGeom prst="rect">
            <a:avLst/>
          </a:prstGeom>
          <a:noFill/>
          <a:ln>
            <a:noFill/>
          </a:ln>
        </p:spPr>
        <p:txBody>
          <a:bodyPr wrap="square" lIns="0" tIns="0" rIns="0" bIns="0" anchor="ctr"/>
          <a:lstStyle/>
          <a:p>
            <a:pPr algn="l"/>
            <a:r>
              <a:rPr lang="en-US" sz="1800" b="1">
                <a:solidFill>
                  <a:srgbClr val="172033"/>
                </a:solidFill>
                <a:latin typeface="Aptos"/>
              </a:rPr>
              <a:t>The user retrieves their password</a:t>
            </a:r>
            <a:endParaRPr lang="en-US" sz="1800"/>
          </a:p>
        </p:txBody>
      </p:sp>
      <p:sp>
        <p:nvSpPr>
          <p:cNvPr id="35" name="CardBody"/>
          <p:cNvSpPr/>
          <p:nvPr/>
        </p:nvSpPr>
        <p:spPr>
          <a:xfrm>
            <a:off x="6035040" y="3172968"/>
            <a:ext cx="4800600" cy="137160"/>
          </a:xfrm>
          <a:prstGeom prst="rect">
            <a:avLst/>
          </a:prstGeom>
          <a:noFill/>
          <a:ln>
            <a:noFill/>
          </a:ln>
        </p:spPr>
        <p:txBody>
          <a:bodyPr wrap="square" lIns="0" tIns="0" rIns="0" bIns="0" anchor="ctr"/>
          <a:lstStyle/>
          <a:p>
            <a:pPr algn="l"/>
            <a:r>
              <a:rPr lang="en-US" sz="1400">
                <a:solidFill>
                  <a:srgbClr val="536174"/>
                </a:solidFill>
                <a:latin typeface="Aptos"/>
              </a:rPr>
              <a:t>The result that has value.</a:t>
            </a:r>
            <a:endParaRPr lang="en-US" sz="1400"/>
          </a:p>
        </p:txBody>
      </p:sp>
      <p:sp>
        <p:nvSpPr>
          <p:cNvPr id="40" name="Box 40"/>
          <p:cNvSpPr/>
          <p:nvPr/>
        </p:nvSpPr>
        <p:spPr>
          <a:xfrm>
            <a:off x="5806440" y="3703320"/>
            <a:ext cx="5212080" cy="1234440"/>
          </a:xfrm>
          <a:prstGeom prst="roundRect">
            <a:avLst/>
          </a:prstGeom>
          <a:solidFill>
            <a:srgbClr val="FFFFFF"/>
          </a:solidFill>
          <a:ln w="12700">
            <a:solidFill>
              <a:srgbClr val="E2E7EE"/>
            </a:solidFill>
          </a:ln>
        </p:spPr>
      </p:sp>
      <p:sp>
        <p:nvSpPr>
          <p:cNvPr id="42" name="Kicker"/>
          <p:cNvSpPr/>
          <p:nvPr/>
        </p:nvSpPr>
        <p:spPr>
          <a:xfrm>
            <a:off x="6035040" y="3867912"/>
            <a:ext cx="4800600" cy="228600"/>
          </a:xfrm>
          <a:prstGeom prst="rect">
            <a:avLst/>
          </a:prstGeom>
          <a:noFill/>
          <a:ln>
            <a:noFill/>
          </a:ln>
        </p:spPr>
        <p:txBody>
          <a:bodyPr wrap="square" lIns="0" tIns="0" rIns="0" bIns="0" anchor="ctr"/>
          <a:lstStyle/>
          <a:p>
            <a:pPr algn="l"/>
            <a:r>
              <a:rPr lang="en-US" sz="1000" b="1">
                <a:solidFill>
                  <a:srgbClr val="D06B4F"/>
                </a:solidFill>
                <a:latin typeface="Aptos"/>
              </a:rPr>
              <a:t>DESIGN</a:t>
            </a:r>
            <a:endParaRPr lang="en-US" sz="1000"/>
          </a:p>
        </p:txBody>
      </p:sp>
      <p:sp>
        <p:nvSpPr>
          <p:cNvPr id="43" name="CardTitle"/>
          <p:cNvSpPr/>
          <p:nvPr/>
        </p:nvSpPr>
        <p:spPr>
          <a:xfrm>
            <a:off x="6035040" y="4206240"/>
            <a:ext cx="4800600" cy="347472"/>
          </a:xfrm>
          <a:prstGeom prst="rect">
            <a:avLst/>
          </a:prstGeom>
          <a:noFill/>
          <a:ln>
            <a:noFill/>
          </a:ln>
        </p:spPr>
        <p:txBody>
          <a:bodyPr wrap="square" lIns="0" tIns="0" rIns="0" bIns="0" anchor="ctr"/>
          <a:lstStyle/>
          <a:p>
            <a:pPr algn="l"/>
            <a:r>
              <a:rPr lang="en-US" sz="1800" b="1">
                <a:solidFill>
                  <a:srgbClr val="172033"/>
                </a:solidFill>
                <a:latin typeface="Aptos"/>
              </a:rPr>
              <a:t>Sending JWT via SendGrid</a:t>
            </a:r>
            <a:endParaRPr lang="en-US" sz="1800"/>
          </a:p>
        </p:txBody>
      </p:sp>
      <p:sp>
        <p:nvSpPr>
          <p:cNvPr id="44" name="CardBody"/>
          <p:cNvSpPr/>
          <p:nvPr/>
        </p:nvSpPr>
        <p:spPr>
          <a:xfrm>
            <a:off x="6035040" y="4636008"/>
            <a:ext cx="4800600" cy="137160"/>
          </a:xfrm>
          <a:prstGeom prst="rect">
            <a:avLst/>
          </a:prstGeom>
          <a:noFill/>
          <a:ln>
            <a:noFill/>
          </a:ln>
        </p:spPr>
        <p:txBody>
          <a:bodyPr wrap="square" lIns="0" tIns="0" rIns="0" bIns="0" anchor="ctr"/>
          <a:lstStyle/>
          <a:p>
            <a:pPr algn="l"/>
            <a:r>
              <a:rPr lang="en-US" sz="1400">
                <a:solidFill>
                  <a:srgbClr val="536174"/>
                </a:solidFill>
                <a:latin typeface="Aptos"/>
              </a:rPr>
              <a:t>A possible way of implementation.</a:t>
            </a:r>
            <a:endParaRPr lang="en-US" sz="14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03</a:t>
            </a:r>
            <a:endParaRPr lang="en-US" sz="900"/>
          </a:p>
        </p:txBody>
      </p:sp>
      <p:sp>
        <p:nvSpPr>
          <p:cNvPr id="7" name="Τίτλος 6">
            <a:extLst>
              <a:ext uri="{FF2B5EF4-FFF2-40B4-BE49-F238E27FC236}">
                <a16:creationId xmlns:a16="http://schemas.microsoft.com/office/drawing/2014/main" id="{CC36293E-40B1-B280-5A4E-FF0AE6AFAD72}"/>
              </a:ext>
            </a:extLst>
          </p:cNvPr>
          <p:cNvSpPr>
            <a:spLocks noGrp="1"/>
          </p:cNvSpPr>
          <p:nvPr>
            <p:ph type="title"/>
          </p:nvPr>
        </p:nvSpPr>
        <p:spPr/>
        <p:txBody>
          <a:bodyPr/>
          <a:lstStyle/>
          <a:p>
            <a:r>
              <a:rPr lang="en-US" sz="3600" dirty="0">
                <a:solidFill>
                  <a:srgbClr val="172033"/>
                </a:solidFill>
                <a:latin typeface="Aptos"/>
              </a:rPr>
              <a:t>What is a requirement?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dirty="0">
                <a:solidFill>
                  <a:srgbClr val="172033"/>
                </a:solidFill>
                <a:latin typeface="Aptos"/>
              </a:rPr>
              <a:t>Levels of requirements</a:t>
            </a:r>
            <a:endParaRPr lang="en-US" sz="2900" dirty="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685800" y="1600200"/>
            <a:ext cx="3383280" cy="3520440"/>
          </a:xfrm>
          <a:prstGeom prst="roundRect">
            <a:avLst/>
          </a:prstGeom>
          <a:solidFill>
            <a:srgbClr val="FFFFFF"/>
          </a:solidFill>
          <a:ln w="12700">
            <a:solidFill>
              <a:srgbClr val="E2E7EE"/>
            </a:solidFill>
          </a:ln>
        </p:spPr>
      </p:sp>
      <p:sp>
        <p:nvSpPr>
          <p:cNvPr id="22" name="Kicker"/>
          <p:cNvSpPr/>
          <p:nvPr/>
        </p:nvSpPr>
        <p:spPr>
          <a:xfrm>
            <a:off x="914400" y="1764792"/>
            <a:ext cx="2971800" cy="228600"/>
          </a:xfrm>
          <a:prstGeom prst="rect">
            <a:avLst/>
          </a:prstGeom>
          <a:noFill/>
          <a:ln>
            <a:noFill/>
          </a:ln>
        </p:spPr>
        <p:txBody>
          <a:bodyPr wrap="square" lIns="0" tIns="0" rIns="0" bIns="0" anchor="ctr"/>
          <a:lstStyle/>
          <a:p>
            <a:pPr algn="l"/>
            <a:r>
              <a:rPr lang="en-US" sz="1000" b="1">
                <a:solidFill>
                  <a:srgbClr val="5B7CFA"/>
                </a:solidFill>
                <a:latin typeface="Aptos"/>
              </a:rPr>
              <a:t>BUSINESS</a:t>
            </a:r>
            <a:endParaRPr lang="en-US" sz="1000"/>
          </a:p>
        </p:txBody>
      </p:sp>
      <p:sp>
        <p:nvSpPr>
          <p:cNvPr id="23" name="CardTitle"/>
          <p:cNvSpPr/>
          <p:nvPr/>
        </p:nvSpPr>
        <p:spPr>
          <a:xfrm>
            <a:off x="914400" y="2103120"/>
            <a:ext cx="2971800" cy="347472"/>
          </a:xfrm>
          <a:prstGeom prst="rect">
            <a:avLst/>
          </a:prstGeom>
          <a:noFill/>
          <a:ln>
            <a:noFill/>
          </a:ln>
        </p:spPr>
        <p:txBody>
          <a:bodyPr wrap="square" lIns="0" tIns="0" rIns="0" bIns="0" anchor="ctr"/>
          <a:lstStyle/>
          <a:p>
            <a:pPr algn="l"/>
            <a:r>
              <a:rPr lang="en-US" sz="1800" b="1">
                <a:solidFill>
                  <a:srgbClr val="172033"/>
                </a:solidFill>
                <a:latin typeface="Aptos"/>
              </a:rPr>
              <a:t>Operational</a:t>
            </a:r>
            <a:endParaRPr lang="en-US" sz="1800"/>
          </a:p>
        </p:txBody>
      </p:sp>
      <p:sp>
        <p:nvSpPr>
          <p:cNvPr id="24" name="CardBody"/>
          <p:cNvSpPr/>
          <p:nvPr/>
        </p:nvSpPr>
        <p:spPr>
          <a:xfrm>
            <a:off x="914400" y="2532888"/>
            <a:ext cx="2971800" cy="2423160"/>
          </a:xfrm>
          <a:prstGeom prst="rect">
            <a:avLst/>
          </a:prstGeom>
          <a:noFill/>
          <a:ln>
            <a:noFill/>
          </a:ln>
        </p:spPr>
        <p:txBody>
          <a:bodyPr wrap="square" lIns="0" tIns="0" rIns="0" bIns="0" anchor="ctr"/>
          <a:lstStyle/>
          <a:p>
            <a:pPr algn="l"/>
            <a:r>
              <a:rPr lang="en-US" sz="1400">
                <a:solidFill>
                  <a:srgbClr val="536174"/>
                </a:solidFill>
                <a:latin typeface="Aptos"/>
              </a:rPr>
              <a:t>Why do we invest? • • Example: reducing cart abandonment by 15%.</a:t>
            </a:r>
            <a:endParaRPr lang="en-US" sz="1400"/>
          </a:p>
        </p:txBody>
      </p:sp>
      <p:sp>
        <p:nvSpPr>
          <p:cNvPr id="30" name="Box 30"/>
          <p:cNvSpPr/>
          <p:nvPr/>
        </p:nvSpPr>
        <p:spPr>
          <a:xfrm>
            <a:off x="4407408" y="1600200"/>
            <a:ext cx="3383280" cy="3520440"/>
          </a:xfrm>
          <a:prstGeom prst="roundRect">
            <a:avLst/>
          </a:prstGeom>
          <a:solidFill>
            <a:srgbClr val="FFFFFF"/>
          </a:solidFill>
          <a:ln w="12700">
            <a:solidFill>
              <a:srgbClr val="E2E7EE"/>
            </a:solidFill>
          </a:ln>
        </p:spPr>
      </p:sp>
      <p:sp>
        <p:nvSpPr>
          <p:cNvPr id="32" name="Kicker"/>
          <p:cNvSpPr/>
          <p:nvPr/>
        </p:nvSpPr>
        <p:spPr>
          <a:xfrm>
            <a:off x="4636008" y="1764792"/>
            <a:ext cx="2971800" cy="228600"/>
          </a:xfrm>
          <a:prstGeom prst="rect">
            <a:avLst/>
          </a:prstGeom>
          <a:noFill/>
          <a:ln>
            <a:noFill/>
          </a:ln>
        </p:spPr>
        <p:txBody>
          <a:bodyPr wrap="square" lIns="0" tIns="0" rIns="0" bIns="0" anchor="ctr"/>
          <a:lstStyle/>
          <a:p>
            <a:pPr algn="l"/>
            <a:r>
              <a:rPr lang="en-US" sz="1000" b="1">
                <a:solidFill>
                  <a:srgbClr val="25B7A5"/>
                </a:solidFill>
                <a:latin typeface="Aptos"/>
              </a:rPr>
              <a:t>USER</a:t>
            </a:r>
            <a:endParaRPr lang="en-US" sz="1000"/>
          </a:p>
        </p:txBody>
      </p:sp>
      <p:sp>
        <p:nvSpPr>
          <p:cNvPr id="33" name="CardTitle"/>
          <p:cNvSpPr/>
          <p:nvPr/>
        </p:nvSpPr>
        <p:spPr>
          <a:xfrm>
            <a:off x="4636008" y="2103120"/>
            <a:ext cx="2971800" cy="347472"/>
          </a:xfrm>
          <a:prstGeom prst="rect">
            <a:avLst/>
          </a:prstGeom>
          <a:noFill/>
          <a:ln>
            <a:noFill/>
          </a:ln>
        </p:spPr>
        <p:txBody>
          <a:bodyPr wrap="square" lIns="0" tIns="0" rIns="0" bIns="0" anchor="ctr"/>
          <a:lstStyle/>
          <a:p>
            <a:pPr algn="l"/>
            <a:r>
              <a:rPr lang="en-US" sz="1800" b="1">
                <a:solidFill>
                  <a:srgbClr val="172033"/>
                </a:solidFill>
                <a:latin typeface="Aptos"/>
              </a:rPr>
              <a:t>Users</a:t>
            </a:r>
            <a:endParaRPr lang="en-US" sz="1800"/>
          </a:p>
        </p:txBody>
      </p:sp>
      <p:sp>
        <p:nvSpPr>
          <p:cNvPr id="34" name="CardBody"/>
          <p:cNvSpPr/>
          <p:nvPr/>
        </p:nvSpPr>
        <p:spPr>
          <a:xfrm>
            <a:off x="4636008" y="2532888"/>
            <a:ext cx="2971800" cy="2423160"/>
          </a:xfrm>
          <a:prstGeom prst="rect">
            <a:avLst/>
          </a:prstGeom>
          <a:noFill/>
          <a:ln>
            <a:noFill/>
          </a:ln>
        </p:spPr>
        <p:txBody>
          <a:bodyPr wrap="square" lIns="0" tIns="0" rIns="0" bIns="0" anchor="ctr"/>
          <a:lstStyle/>
          <a:p>
            <a:pPr algn="l"/>
            <a:r>
              <a:rPr lang="en-US" sz="1400">
                <a:solidFill>
                  <a:srgbClr val="536174"/>
                </a:solidFill>
                <a:latin typeface="Aptos"/>
              </a:rPr>
              <a:t>What does the user need to achieve? • • Example: complete a purchase as a guest.</a:t>
            </a:r>
            <a:endParaRPr lang="en-US" sz="1400"/>
          </a:p>
        </p:txBody>
      </p:sp>
      <p:sp>
        <p:nvSpPr>
          <p:cNvPr id="40" name="Box 40"/>
          <p:cNvSpPr/>
          <p:nvPr/>
        </p:nvSpPr>
        <p:spPr>
          <a:xfrm>
            <a:off x="8119872" y="1600200"/>
            <a:ext cx="3383280" cy="3520440"/>
          </a:xfrm>
          <a:prstGeom prst="roundRect">
            <a:avLst/>
          </a:prstGeom>
          <a:solidFill>
            <a:srgbClr val="FFFFFF"/>
          </a:solidFill>
          <a:ln w="12700">
            <a:solidFill>
              <a:srgbClr val="E2E7EE"/>
            </a:solidFill>
          </a:ln>
        </p:spPr>
      </p:sp>
      <p:sp>
        <p:nvSpPr>
          <p:cNvPr id="42" name="Kicker"/>
          <p:cNvSpPr/>
          <p:nvPr/>
        </p:nvSpPr>
        <p:spPr>
          <a:xfrm>
            <a:off x="8348472" y="1764792"/>
            <a:ext cx="2971800" cy="228600"/>
          </a:xfrm>
          <a:prstGeom prst="rect">
            <a:avLst/>
          </a:prstGeom>
          <a:noFill/>
          <a:ln>
            <a:noFill/>
          </a:ln>
        </p:spPr>
        <p:txBody>
          <a:bodyPr wrap="square" lIns="0" tIns="0" rIns="0" bIns="0" anchor="ctr"/>
          <a:lstStyle/>
          <a:p>
            <a:pPr algn="l"/>
            <a:r>
              <a:rPr lang="en-US" sz="1000" b="1">
                <a:solidFill>
                  <a:srgbClr val="F6B44C"/>
                </a:solidFill>
                <a:latin typeface="Aptos"/>
              </a:rPr>
              <a:t>SYSTEM</a:t>
            </a:r>
            <a:endParaRPr lang="en-US" sz="1000"/>
          </a:p>
        </p:txBody>
      </p:sp>
      <p:sp>
        <p:nvSpPr>
          <p:cNvPr id="43" name="CardTitle"/>
          <p:cNvSpPr/>
          <p:nvPr/>
        </p:nvSpPr>
        <p:spPr>
          <a:xfrm>
            <a:off x="8348472" y="2103120"/>
            <a:ext cx="2971800" cy="347472"/>
          </a:xfrm>
          <a:prstGeom prst="rect">
            <a:avLst/>
          </a:prstGeom>
          <a:noFill/>
          <a:ln>
            <a:noFill/>
          </a:ln>
        </p:spPr>
        <p:txBody>
          <a:bodyPr wrap="square" lIns="0" tIns="0" rIns="0" bIns="0" anchor="ctr"/>
          <a:lstStyle/>
          <a:p>
            <a:pPr algn="l"/>
            <a:r>
              <a:rPr lang="en-US" sz="1800" b="1">
                <a:solidFill>
                  <a:srgbClr val="172033"/>
                </a:solidFill>
                <a:latin typeface="Aptos"/>
              </a:rPr>
              <a:t>System</a:t>
            </a:r>
            <a:endParaRPr lang="en-US" sz="1800"/>
          </a:p>
        </p:txBody>
      </p:sp>
      <p:sp>
        <p:nvSpPr>
          <p:cNvPr id="44" name="CardBody"/>
          <p:cNvSpPr/>
          <p:nvPr/>
        </p:nvSpPr>
        <p:spPr>
          <a:xfrm>
            <a:off x="8348472" y="2532888"/>
            <a:ext cx="2971800" cy="2423160"/>
          </a:xfrm>
          <a:prstGeom prst="rect">
            <a:avLst/>
          </a:prstGeom>
          <a:noFill/>
          <a:ln>
            <a:noFill/>
          </a:ln>
        </p:spPr>
        <p:txBody>
          <a:bodyPr wrap="square" lIns="0" tIns="0" rIns="0" bIns="0" anchor="ctr"/>
          <a:lstStyle/>
          <a:p>
            <a:pPr algn="l"/>
            <a:r>
              <a:rPr lang="en-US" sz="1400">
                <a:solidFill>
                  <a:srgbClr val="536174"/>
                </a:solidFill>
                <a:latin typeface="Aptos"/>
              </a:rPr>
              <a:t>What exactly should the system do or ensure? • • Example: final cost calculation.</a:t>
            </a:r>
            <a:endParaRPr lang="en-US" sz="1400"/>
          </a:p>
        </p:txBody>
      </p:sp>
      <p:sp>
        <p:nvSpPr>
          <p:cNvPr id="60" name="Rule"/>
          <p:cNvSpPr/>
          <p:nvPr/>
        </p:nvSpPr>
        <p:spPr>
          <a:xfrm>
            <a:off x="1188720" y="5577840"/>
            <a:ext cx="9784080" cy="274320"/>
          </a:xfrm>
          <a:prstGeom prst="rect">
            <a:avLst/>
          </a:prstGeom>
          <a:noFill/>
          <a:ln>
            <a:noFill/>
          </a:ln>
        </p:spPr>
        <p:txBody>
          <a:bodyPr wrap="square" lIns="0" tIns="0" rIns="0" bIns="0" anchor="ctr"/>
          <a:lstStyle/>
          <a:p>
            <a:pPr algn="l"/>
            <a:r>
              <a:rPr lang="en-US" sz="1500" b="1">
                <a:solidFill>
                  <a:srgbClr val="536174"/>
                </a:solidFill>
                <a:latin typeface="Aptos"/>
              </a:rPr>
              <a:t>Each lower level must be linked to a higher need.</a:t>
            </a:r>
            <a:endParaRPr lang="en-US" sz="15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04</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The basic taxonomy</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4572000" y="1554480"/>
            <a:ext cx="3063240" cy="731520"/>
          </a:xfrm>
          <a:prstGeom prst="roundRect">
            <a:avLst/>
          </a:prstGeom>
          <a:solidFill>
            <a:srgbClr val="172033"/>
          </a:solidFill>
          <a:ln w="12700">
            <a:solidFill>
              <a:srgbClr val="172033"/>
            </a:solidFill>
          </a:ln>
        </p:spPr>
      </p:sp>
      <p:sp>
        <p:nvSpPr>
          <p:cNvPr id="21" name="Root"/>
          <p:cNvSpPr/>
          <p:nvPr/>
        </p:nvSpPr>
        <p:spPr>
          <a:xfrm>
            <a:off x="4800600" y="1773936"/>
            <a:ext cx="2606040" cy="256032"/>
          </a:xfrm>
          <a:prstGeom prst="rect">
            <a:avLst/>
          </a:prstGeom>
          <a:noFill/>
          <a:ln>
            <a:noFill/>
          </a:ln>
        </p:spPr>
        <p:txBody>
          <a:bodyPr wrap="square" lIns="0" tIns="0" rIns="0" bIns="0" anchor="ctr"/>
          <a:lstStyle/>
          <a:p>
            <a:pPr algn="l"/>
            <a:r>
              <a:rPr lang="en-US" sz="1700" b="1">
                <a:solidFill>
                  <a:srgbClr val="FFFFFF"/>
                </a:solidFill>
                <a:latin typeface="Aptos"/>
              </a:rPr>
              <a:t>REQUIREMENTS</a:t>
            </a:r>
            <a:endParaRPr lang="en-US" sz="1700"/>
          </a:p>
        </p:txBody>
      </p:sp>
      <p:cxnSp>
        <p:nvCxnSpPr>
          <p:cNvPr id="22" name="Line 22"/>
          <p:cNvCxnSpPr/>
          <p:nvPr/>
        </p:nvCxnSpPr>
        <p:spPr>
          <a:xfrm>
            <a:off x="6099048" y="2286000"/>
            <a:ext cx="0" cy="411480"/>
          </a:xfrm>
          <a:prstGeom prst="line">
            <a:avLst/>
          </a:prstGeom>
          <a:ln w="25400">
            <a:solidFill>
              <a:srgbClr val="AAB4C3"/>
            </a:solidFill>
          </a:ln>
        </p:spPr>
      </p:cxnSp>
      <p:cxnSp>
        <p:nvCxnSpPr>
          <p:cNvPr id="23" name="Line 23"/>
          <p:cNvCxnSpPr/>
          <p:nvPr/>
        </p:nvCxnSpPr>
        <p:spPr>
          <a:xfrm>
            <a:off x="2148840" y="2697480"/>
            <a:ext cx="7909560" cy="0"/>
          </a:xfrm>
          <a:prstGeom prst="line">
            <a:avLst/>
          </a:prstGeom>
          <a:ln w="25400">
            <a:solidFill>
              <a:srgbClr val="AAB4C3"/>
            </a:solidFill>
          </a:ln>
        </p:spPr>
      </p:cxnSp>
      <p:cxnSp>
        <p:nvCxnSpPr>
          <p:cNvPr id="24" name="Line 24"/>
          <p:cNvCxnSpPr/>
          <p:nvPr/>
        </p:nvCxnSpPr>
        <p:spPr>
          <a:xfrm>
            <a:off x="2148840" y="2697480"/>
            <a:ext cx="0" cy="411480"/>
          </a:xfrm>
          <a:prstGeom prst="line">
            <a:avLst/>
          </a:prstGeom>
          <a:ln w="25400">
            <a:solidFill>
              <a:srgbClr val="AAB4C3"/>
            </a:solidFill>
          </a:ln>
        </p:spPr>
      </p:cxnSp>
      <p:cxnSp>
        <p:nvCxnSpPr>
          <p:cNvPr id="25" name="Line 25"/>
          <p:cNvCxnSpPr/>
          <p:nvPr/>
        </p:nvCxnSpPr>
        <p:spPr>
          <a:xfrm>
            <a:off x="6099048" y="2697480"/>
            <a:ext cx="0" cy="411480"/>
          </a:xfrm>
          <a:prstGeom prst="line">
            <a:avLst/>
          </a:prstGeom>
          <a:ln w="25400">
            <a:solidFill>
              <a:srgbClr val="AAB4C3"/>
            </a:solidFill>
          </a:ln>
        </p:spPr>
      </p:cxnSp>
      <p:cxnSp>
        <p:nvCxnSpPr>
          <p:cNvPr id="26" name="Line 26"/>
          <p:cNvCxnSpPr/>
          <p:nvPr/>
        </p:nvCxnSpPr>
        <p:spPr>
          <a:xfrm>
            <a:off x="10058400" y="2697480"/>
            <a:ext cx="0" cy="411480"/>
          </a:xfrm>
          <a:prstGeom prst="line">
            <a:avLst/>
          </a:prstGeom>
          <a:ln w="25400">
            <a:solidFill>
              <a:srgbClr val="AAB4C3"/>
            </a:solidFill>
          </a:ln>
        </p:spPr>
      </p:cxnSp>
      <p:sp>
        <p:nvSpPr>
          <p:cNvPr id="30" name="Box 30"/>
          <p:cNvSpPr/>
          <p:nvPr/>
        </p:nvSpPr>
        <p:spPr>
          <a:xfrm>
            <a:off x="685800" y="3108960"/>
            <a:ext cx="2926080" cy="2057400"/>
          </a:xfrm>
          <a:prstGeom prst="roundRect">
            <a:avLst/>
          </a:prstGeom>
          <a:solidFill>
            <a:srgbClr val="FFFFFF"/>
          </a:solidFill>
          <a:ln w="12700">
            <a:solidFill>
              <a:srgbClr val="E2E7EE"/>
            </a:solidFill>
          </a:ln>
        </p:spPr>
      </p:sp>
      <p:sp>
        <p:nvSpPr>
          <p:cNvPr id="32" name="Kicker"/>
          <p:cNvSpPr/>
          <p:nvPr/>
        </p:nvSpPr>
        <p:spPr>
          <a:xfrm>
            <a:off x="914400" y="3273552"/>
            <a:ext cx="2514600" cy="228600"/>
          </a:xfrm>
          <a:prstGeom prst="rect">
            <a:avLst/>
          </a:prstGeom>
          <a:noFill/>
          <a:ln>
            <a:noFill/>
          </a:ln>
        </p:spPr>
        <p:txBody>
          <a:bodyPr wrap="square" lIns="0" tIns="0" rIns="0" bIns="0" anchor="ctr"/>
          <a:lstStyle/>
          <a:p>
            <a:pPr algn="l"/>
            <a:r>
              <a:rPr lang="en-US" sz="1000" b="1">
                <a:solidFill>
                  <a:srgbClr val="25B7A5"/>
                </a:solidFill>
                <a:latin typeface="Aptos"/>
              </a:rPr>
              <a:t>WHAT</a:t>
            </a:r>
            <a:endParaRPr lang="en-US" sz="1000"/>
          </a:p>
        </p:txBody>
      </p:sp>
      <p:sp>
        <p:nvSpPr>
          <p:cNvPr id="33" name="CardTitle"/>
          <p:cNvSpPr/>
          <p:nvPr/>
        </p:nvSpPr>
        <p:spPr>
          <a:xfrm>
            <a:off x="914400" y="3611880"/>
            <a:ext cx="2514600" cy="347472"/>
          </a:xfrm>
          <a:prstGeom prst="rect">
            <a:avLst/>
          </a:prstGeom>
          <a:noFill/>
          <a:ln>
            <a:noFill/>
          </a:ln>
        </p:spPr>
        <p:txBody>
          <a:bodyPr wrap="square" lIns="0" tIns="0" rIns="0" bIns="0" anchor="ctr"/>
          <a:lstStyle/>
          <a:p>
            <a:pPr algn="l"/>
            <a:r>
              <a:rPr lang="en-US" sz="1800" b="1">
                <a:solidFill>
                  <a:srgbClr val="172033"/>
                </a:solidFill>
                <a:latin typeface="Aptos"/>
              </a:rPr>
              <a:t>Functional</a:t>
            </a:r>
            <a:endParaRPr lang="en-US" sz="1800"/>
          </a:p>
        </p:txBody>
      </p:sp>
      <p:sp>
        <p:nvSpPr>
          <p:cNvPr id="34" name="CardBody"/>
          <p:cNvSpPr/>
          <p:nvPr/>
        </p:nvSpPr>
        <p:spPr>
          <a:xfrm>
            <a:off x="914400" y="4041648"/>
            <a:ext cx="2514600" cy="960120"/>
          </a:xfrm>
          <a:prstGeom prst="rect">
            <a:avLst/>
          </a:prstGeom>
          <a:noFill/>
          <a:ln>
            <a:noFill/>
          </a:ln>
        </p:spPr>
        <p:txBody>
          <a:bodyPr wrap="square" lIns="0" tIns="0" rIns="0" bIns="0" anchor="ctr"/>
          <a:lstStyle/>
          <a:p>
            <a:pPr algn="l"/>
            <a:r>
              <a:rPr lang="en-US" sz="1400">
                <a:solidFill>
                  <a:srgbClr val="536174"/>
                </a:solidFill>
                <a:latin typeface="Aptos"/>
              </a:rPr>
              <a:t>Services, rules, reactions to inputs.</a:t>
            </a:r>
            <a:endParaRPr lang="en-US" sz="1400"/>
          </a:p>
        </p:txBody>
      </p:sp>
      <p:sp>
        <p:nvSpPr>
          <p:cNvPr id="40" name="Box 40"/>
          <p:cNvSpPr/>
          <p:nvPr/>
        </p:nvSpPr>
        <p:spPr>
          <a:xfrm>
            <a:off x="4617720" y="3108960"/>
            <a:ext cx="2926080" cy="2057400"/>
          </a:xfrm>
          <a:prstGeom prst="roundRect">
            <a:avLst/>
          </a:prstGeom>
          <a:solidFill>
            <a:srgbClr val="FFFFFF"/>
          </a:solidFill>
          <a:ln w="12700">
            <a:solidFill>
              <a:srgbClr val="E2E7EE"/>
            </a:solidFill>
          </a:ln>
        </p:spPr>
      </p:sp>
      <p:sp>
        <p:nvSpPr>
          <p:cNvPr id="42" name="Kicker"/>
          <p:cNvSpPr/>
          <p:nvPr/>
        </p:nvSpPr>
        <p:spPr>
          <a:xfrm>
            <a:off x="4846320" y="3273552"/>
            <a:ext cx="2514600" cy="228600"/>
          </a:xfrm>
          <a:prstGeom prst="rect">
            <a:avLst/>
          </a:prstGeom>
          <a:noFill/>
          <a:ln>
            <a:noFill/>
          </a:ln>
        </p:spPr>
        <p:txBody>
          <a:bodyPr wrap="square" lIns="0" tIns="0" rIns="0" bIns="0" anchor="ctr"/>
          <a:lstStyle/>
          <a:p>
            <a:pPr algn="l"/>
            <a:r>
              <a:rPr lang="en-US" sz="1000" b="1">
                <a:solidFill>
                  <a:srgbClr val="5B7CFA"/>
                </a:solidFill>
                <a:latin typeface="Aptos"/>
              </a:rPr>
              <a:t>HOW WELL</a:t>
            </a:r>
            <a:endParaRPr lang="en-US" sz="1000"/>
          </a:p>
        </p:txBody>
      </p:sp>
      <p:sp>
        <p:nvSpPr>
          <p:cNvPr id="43" name="CardTitle"/>
          <p:cNvSpPr/>
          <p:nvPr/>
        </p:nvSpPr>
        <p:spPr>
          <a:xfrm>
            <a:off x="4846320" y="3611880"/>
            <a:ext cx="2514600" cy="347472"/>
          </a:xfrm>
          <a:prstGeom prst="rect">
            <a:avLst/>
          </a:prstGeom>
          <a:noFill/>
          <a:ln>
            <a:noFill/>
          </a:ln>
        </p:spPr>
        <p:txBody>
          <a:bodyPr wrap="square" lIns="0" tIns="0" rIns="0" bIns="0" anchor="ctr"/>
          <a:lstStyle/>
          <a:p>
            <a:pPr algn="l"/>
            <a:r>
              <a:rPr lang="en-US" sz="1800" b="1">
                <a:solidFill>
                  <a:srgbClr val="172033"/>
                </a:solidFill>
                <a:latin typeface="Aptos"/>
              </a:rPr>
              <a:t>Non-functional</a:t>
            </a:r>
            <a:endParaRPr lang="en-US" sz="1800"/>
          </a:p>
        </p:txBody>
      </p:sp>
      <p:sp>
        <p:nvSpPr>
          <p:cNvPr id="44" name="CardBody"/>
          <p:cNvSpPr/>
          <p:nvPr/>
        </p:nvSpPr>
        <p:spPr>
          <a:xfrm>
            <a:off x="4846320" y="4041648"/>
            <a:ext cx="2514600" cy="960120"/>
          </a:xfrm>
          <a:prstGeom prst="rect">
            <a:avLst/>
          </a:prstGeom>
          <a:noFill/>
          <a:ln>
            <a:noFill/>
          </a:ln>
        </p:spPr>
        <p:txBody>
          <a:bodyPr wrap="square" lIns="0" tIns="0" rIns="0" bIns="0" anchor="ctr"/>
          <a:lstStyle/>
          <a:p>
            <a:pPr algn="l"/>
            <a:r>
              <a:rPr lang="en-US" sz="1400">
                <a:solidFill>
                  <a:srgbClr val="536174"/>
                </a:solidFill>
                <a:latin typeface="Aptos"/>
              </a:rPr>
              <a:t>Quality, limitations, service levels.</a:t>
            </a:r>
            <a:endParaRPr lang="en-US" sz="1400"/>
          </a:p>
        </p:txBody>
      </p:sp>
      <p:sp>
        <p:nvSpPr>
          <p:cNvPr id="50" name="Box 50"/>
          <p:cNvSpPr/>
          <p:nvPr/>
        </p:nvSpPr>
        <p:spPr>
          <a:xfrm>
            <a:off x="8549640" y="3108960"/>
            <a:ext cx="2926080" cy="2057400"/>
          </a:xfrm>
          <a:prstGeom prst="roundRect">
            <a:avLst/>
          </a:prstGeom>
          <a:solidFill>
            <a:srgbClr val="FFFFFF"/>
          </a:solidFill>
          <a:ln w="12700">
            <a:solidFill>
              <a:srgbClr val="E2E7EE"/>
            </a:solidFill>
          </a:ln>
        </p:spPr>
      </p:sp>
      <p:sp>
        <p:nvSpPr>
          <p:cNvPr id="52" name="Kicker"/>
          <p:cNvSpPr/>
          <p:nvPr/>
        </p:nvSpPr>
        <p:spPr>
          <a:xfrm>
            <a:off x="8778240" y="3273552"/>
            <a:ext cx="2514600" cy="228600"/>
          </a:xfrm>
          <a:prstGeom prst="rect">
            <a:avLst/>
          </a:prstGeom>
          <a:noFill/>
          <a:ln>
            <a:noFill/>
          </a:ln>
        </p:spPr>
        <p:txBody>
          <a:bodyPr wrap="square" lIns="0" tIns="0" rIns="0" bIns="0" anchor="ctr"/>
          <a:lstStyle/>
          <a:p>
            <a:pPr algn="l"/>
            <a:r>
              <a:rPr lang="en-US" sz="1000" b="1">
                <a:solidFill>
                  <a:srgbClr val="F6B44C"/>
                </a:solidFill>
                <a:latin typeface="Aptos"/>
              </a:rPr>
              <a:t>CONTEXT</a:t>
            </a:r>
            <a:endParaRPr lang="en-US" sz="1000"/>
          </a:p>
        </p:txBody>
      </p:sp>
      <p:sp>
        <p:nvSpPr>
          <p:cNvPr id="53" name="CardTitle"/>
          <p:cNvSpPr/>
          <p:nvPr/>
        </p:nvSpPr>
        <p:spPr>
          <a:xfrm>
            <a:off x="8778240" y="3611880"/>
            <a:ext cx="2514600" cy="347472"/>
          </a:xfrm>
          <a:prstGeom prst="rect">
            <a:avLst/>
          </a:prstGeom>
          <a:noFill/>
          <a:ln>
            <a:noFill/>
          </a:ln>
        </p:spPr>
        <p:txBody>
          <a:bodyPr wrap="square" lIns="0" tIns="0" rIns="0" bIns="0" anchor="ctr"/>
          <a:lstStyle/>
          <a:p>
            <a:pPr algn="l"/>
            <a:r>
              <a:rPr lang="en-US" sz="1800" b="1">
                <a:solidFill>
                  <a:srgbClr val="172033"/>
                </a:solidFill>
                <a:latin typeface="Aptos"/>
              </a:rPr>
              <a:t>Field</a:t>
            </a:r>
            <a:endParaRPr lang="en-US" sz="1800"/>
          </a:p>
        </p:txBody>
      </p:sp>
      <p:sp>
        <p:nvSpPr>
          <p:cNvPr id="54" name="CardBody"/>
          <p:cNvSpPr/>
          <p:nvPr/>
        </p:nvSpPr>
        <p:spPr>
          <a:xfrm>
            <a:off x="8778240" y="4041648"/>
            <a:ext cx="2514600" cy="960120"/>
          </a:xfrm>
          <a:prstGeom prst="rect">
            <a:avLst/>
          </a:prstGeom>
          <a:noFill/>
          <a:ln>
            <a:noFill/>
          </a:ln>
        </p:spPr>
        <p:txBody>
          <a:bodyPr wrap="square" lIns="0" tIns="0" rIns="0" bIns="0" anchor="ctr"/>
          <a:lstStyle/>
          <a:p>
            <a:pPr algn="l"/>
            <a:r>
              <a:rPr lang="en-US" sz="1400">
                <a:solidFill>
                  <a:srgbClr val="536174"/>
                </a:solidFill>
                <a:latin typeface="Aptos"/>
              </a:rPr>
              <a:t>Laws, standards and rules of the domain.</a:t>
            </a:r>
            <a:endParaRPr lang="en-US" sz="14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05</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Functional requirements</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Def"/>
          <p:cNvSpPr/>
          <p:nvPr/>
        </p:nvSpPr>
        <p:spPr>
          <a:xfrm>
            <a:off x="685800" y="1572768"/>
            <a:ext cx="10698480" cy="502920"/>
          </a:xfrm>
          <a:prstGeom prst="rect">
            <a:avLst/>
          </a:prstGeom>
          <a:noFill/>
          <a:ln>
            <a:noFill/>
          </a:ln>
        </p:spPr>
        <p:txBody>
          <a:bodyPr wrap="square" lIns="0" tIns="0" rIns="0" bIns="0" anchor="ctr"/>
          <a:lstStyle/>
          <a:p>
            <a:pPr algn="l"/>
            <a:r>
              <a:rPr lang="en-US" sz="1900">
                <a:solidFill>
                  <a:srgbClr val="536174"/>
                </a:solidFill>
                <a:latin typeface="Aptos"/>
              </a:rPr>
              <a:t>They describe services, calculations, rules, and behaviors of the system.</a:t>
            </a:r>
            <a:endParaRPr lang="en-US" sz="1900"/>
          </a:p>
        </p:txBody>
      </p:sp>
      <p:sp>
        <p:nvSpPr>
          <p:cNvPr id="30" name="Box 30"/>
          <p:cNvSpPr/>
          <p:nvPr/>
        </p:nvSpPr>
        <p:spPr>
          <a:xfrm>
            <a:off x="685800" y="2331720"/>
            <a:ext cx="3401568" cy="2514600"/>
          </a:xfrm>
          <a:prstGeom prst="roundRect">
            <a:avLst/>
          </a:prstGeom>
          <a:solidFill>
            <a:srgbClr val="FFFFFF"/>
          </a:solidFill>
          <a:ln w="12700">
            <a:solidFill>
              <a:srgbClr val="E2E7EE"/>
            </a:solidFill>
          </a:ln>
        </p:spPr>
      </p:sp>
      <p:sp>
        <p:nvSpPr>
          <p:cNvPr id="32" name="Kicker"/>
          <p:cNvSpPr/>
          <p:nvPr/>
        </p:nvSpPr>
        <p:spPr>
          <a:xfrm>
            <a:off x="914400" y="2496312"/>
            <a:ext cx="2990088" cy="228600"/>
          </a:xfrm>
          <a:prstGeom prst="rect">
            <a:avLst/>
          </a:prstGeom>
          <a:noFill/>
          <a:ln>
            <a:noFill/>
          </a:ln>
        </p:spPr>
        <p:txBody>
          <a:bodyPr wrap="square" lIns="0" tIns="0" rIns="0" bIns="0" anchor="ctr"/>
          <a:lstStyle/>
          <a:p>
            <a:pPr algn="l"/>
            <a:r>
              <a:rPr lang="en-US" sz="1000" b="1">
                <a:solidFill>
                  <a:srgbClr val="25B7A5"/>
                </a:solidFill>
                <a:latin typeface="Aptos"/>
              </a:rPr>
              <a:t>INPUT</a:t>
            </a:r>
            <a:endParaRPr lang="en-US" sz="1000"/>
          </a:p>
        </p:txBody>
      </p:sp>
      <p:sp>
        <p:nvSpPr>
          <p:cNvPr id="33" name="CardTitle"/>
          <p:cNvSpPr/>
          <p:nvPr/>
        </p:nvSpPr>
        <p:spPr>
          <a:xfrm>
            <a:off x="914400" y="28346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Entry</a:t>
            </a:r>
            <a:endParaRPr lang="en-US" sz="1800"/>
          </a:p>
        </p:txBody>
      </p:sp>
      <p:sp>
        <p:nvSpPr>
          <p:cNvPr id="34" name="CardBody"/>
          <p:cNvSpPr/>
          <p:nvPr/>
        </p:nvSpPr>
        <p:spPr>
          <a:xfrm>
            <a:off x="914400" y="3264408"/>
            <a:ext cx="2990088" cy="1417320"/>
          </a:xfrm>
          <a:prstGeom prst="rect">
            <a:avLst/>
          </a:prstGeom>
          <a:noFill/>
          <a:ln>
            <a:noFill/>
          </a:ln>
        </p:spPr>
        <p:txBody>
          <a:bodyPr wrap="square" lIns="0" tIns="0" rIns="0" bIns="0" anchor="ctr"/>
          <a:lstStyle/>
          <a:p>
            <a:pPr algn="l"/>
            <a:r>
              <a:rPr lang="en-US" sz="1400">
                <a:solidFill>
                  <a:srgbClr val="536174"/>
                </a:solidFill>
                <a:latin typeface="Aptos"/>
              </a:rPr>
              <a:t>When the customer submits a valid coupon…</a:t>
            </a:r>
            <a:endParaRPr lang="en-US" sz="1400"/>
          </a:p>
        </p:txBody>
      </p:sp>
      <p:sp>
        <p:nvSpPr>
          <p:cNvPr id="40" name="Box 40"/>
          <p:cNvSpPr/>
          <p:nvPr/>
        </p:nvSpPr>
        <p:spPr>
          <a:xfrm>
            <a:off x="4389120" y="2331720"/>
            <a:ext cx="3401568" cy="2514600"/>
          </a:xfrm>
          <a:prstGeom prst="roundRect">
            <a:avLst/>
          </a:prstGeom>
          <a:solidFill>
            <a:srgbClr val="FFFFFF"/>
          </a:solidFill>
          <a:ln w="12700">
            <a:solidFill>
              <a:srgbClr val="E2E7EE"/>
            </a:solidFill>
          </a:ln>
        </p:spPr>
      </p:sp>
      <p:sp>
        <p:nvSpPr>
          <p:cNvPr id="42" name="Kicker"/>
          <p:cNvSpPr/>
          <p:nvPr/>
        </p:nvSpPr>
        <p:spPr>
          <a:xfrm>
            <a:off x="4617720" y="2496312"/>
            <a:ext cx="2990088" cy="228600"/>
          </a:xfrm>
          <a:prstGeom prst="rect">
            <a:avLst/>
          </a:prstGeom>
          <a:noFill/>
          <a:ln>
            <a:noFill/>
          </a:ln>
        </p:spPr>
        <p:txBody>
          <a:bodyPr wrap="square" lIns="0" tIns="0" rIns="0" bIns="0" anchor="ctr"/>
          <a:lstStyle/>
          <a:p>
            <a:pPr algn="l"/>
            <a:r>
              <a:rPr lang="en-US" sz="1000" b="1">
                <a:solidFill>
                  <a:srgbClr val="5B7CFA"/>
                </a:solidFill>
                <a:latin typeface="Aptos"/>
              </a:rPr>
              <a:t>PROCESS</a:t>
            </a:r>
            <a:endParaRPr lang="en-US" sz="1000"/>
          </a:p>
        </p:txBody>
      </p:sp>
      <p:sp>
        <p:nvSpPr>
          <p:cNvPr id="43" name="CardTitle"/>
          <p:cNvSpPr/>
          <p:nvPr/>
        </p:nvSpPr>
        <p:spPr>
          <a:xfrm>
            <a:off x="4617720" y="28346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Processing</a:t>
            </a:r>
            <a:endParaRPr lang="en-US" sz="1800"/>
          </a:p>
        </p:txBody>
      </p:sp>
      <p:sp>
        <p:nvSpPr>
          <p:cNvPr id="44" name="CardBody"/>
          <p:cNvSpPr/>
          <p:nvPr/>
        </p:nvSpPr>
        <p:spPr>
          <a:xfrm>
            <a:off x="4617720" y="3264408"/>
            <a:ext cx="2990088" cy="1417320"/>
          </a:xfrm>
          <a:prstGeom prst="rect">
            <a:avLst/>
          </a:prstGeom>
          <a:noFill/>
          <a:ln>
            <a:noFill/>
          </a:ln>
        </p:spPr>
        <p:txBody>
          <a:bodyPr wrap="square" lIns="0" tIns="0" rIns="0" bIns="0" anchor="ctr"/>
          <a:lstStyle/>
          <a:p>
            <a:pPr algn="l"/>
            <a:r>
              <a:rPr lang="en-US" sz="1400">
                <a:solidFill>
                  <a:srgbClr val="536174"/>
                </a:solidFill>
                <a:latin typeface="Aptos"/>
              </a:rPr>
              <a:t>…the system calculates the discount based on the active rules…</a:t>
            </a:r>
            <a:endParaRPr lang="en-US" sz="1400"/>
          </a:p>
        </p:txBody>
      </p:sp>
      <p:sp>
        <p:nvSpPr>
          <p:cNvPr id="50" name="Box 50"/>
          <p:cNvSpPr/>
          <p:nvPr/>
        </p:nvSpPr>
        <p:spPr>
          <a:xfrm>
            <a:off x="8092440" y="2331720"/>
            <a:ext cx="3401568" cy="2514600"/>
          </a:xfrm>
          <a:prstGeom prst="roundRect">
            <a:avLst/>
          </a:prstGeom>
          <a:solidFill>
            <a:srgbClr val="FFFFFF"/>
          </a:solidFill>
          <a:ln w="12700">
            <a:solidFill>
              <a:srgbClr val="E2E7EE"/>
            </a:solidFill>
          </a:ln>
        </p:spPr>
      </p:sp>
      <p:sp>
        <p:nvSpPr>
          <p:cNvPr id="52" name="Kicker"/>
          <p:cNvSpPr/>
          <p:nvPr/>
        </p:nvSpPr>
        <p:spPr>
          <a:xfrm>
            <a:off x="8321040" y="2496312"/>
            <a:ext cx="2990088" cy="228600"/>
          </a:xfrm>
          <a:prstGeom prst="rect">
            <a:avLst/>
          </a:prstGeom>
          <a:noFill/>
          <a:ln>
            <a:noFill/>
          </a:ln>
        </p:spPr>
        <p:txBody>
          <a:bodyPr wrap="square" lIns="0" tIns="0" rIns="0" bIns="0" anchor="ctr"/>
          <a:lstStyle/>
          <a:p>
            <a:pPr algn="l"/>
            <a:r>
              <a:rPr lang="en-US" sz="1000" b="1">
                <a:solidFill>
                  <a:srgbClr val="F6B44C"/>
                </a:solidFill>
                <a:latin typeface="Aptos"/>
              </a:rPr>
              <a:t>OUTPUT</a:t>
            </a:r>
            <a:endParaRPr lang="en-US" sz="1000"/>
          </a:p>
        </p:txBody>
      </p:sp>
      <p:sp>
        <p:nvSpPr>
          <p:cNvPr id="53" name="CardTitle"/>
          <p:cNvSpPr/>
          <p:nvPr/>
        </p:nvSpPr>
        <p:spPr>
          <a:xfrm>
            <a:off x="8321040" y="28346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Output</a:t>
            </a:r>
            <a:endParaRPr lang="en-US" sz="1800"/>
          </a:p>
        </p:txBody>
      </p:sp>
      <p:sp>
        <p:nvSpPr>
          <p:cNvPr id="54" name="CardBody"/>
          <p:cNvSpPr/>
          <p:nvPr/>
        </p:nvSpPr>
        <p:spPr>
          <a:xfrm>
            <a:off x="8321040" y="3264408"/>
            <a:ext cx="2990088" cy="1417320"/>
          </a:xfrm>
          <a:prstGeom prst="rect">
            <a:avLst/>
          </a:prstGeom>
          <a:noFill/>
          <a:ln>
            <a:noFill/>
          </a:ln>
        </p:spPr>
        <p:txBody>
          <a:bodyPr wrap="square" lIns="0" tIns="0" rIns="0" bIns="0" anchor="ctr"/>
          <a:lstStyle/>
          <a:p>
            <a:pPr algn="l"/>
            <a:r>
              <a:rPr lang="en-US" sz="1400">
                <a:solidFill>
                  <a:srgbClr val="536174"/>
                </a:solidFill>
                <a:latin typeface="Aptos"/>
              </a:rPr>
              <a:t>…and displays new total before payment.</a:t>
            </a:r>
            <a:endParaRPr lang="en-US" sz="1400"/>
          </a:p>
        </p:txBody>
      </p:sp>
      <p:sp>
        <p:nvSpPr>
          <p:cNvPr id="60" name="Box 60"/>
          <p:cNvSpPr/>
          <p:nvPr/>
        </p:nvSpPr>
        <p:spPr>
          <a:xfrm>
            <a:off x="1143000" y="5257800"/>
            <a:ext cx="9875520" cy="658368"/>
          </a:xfrm>
          <a:prstGeom prst="roundRect">
            <a:avLst/>
          </a:prstGeom>
          <a:solidFill>
            <a:srgbClr val="EAF7F5"/>
          </a:solidFill>
          <a:ln w="12700">
            <a:solidFill>
              <a:srgbClr val="BFEAE4"/>
            </a:solidFill>
          </a:ln>
        </p:spPr>
      </p:sp>
      <p:sp>
        <p:nvSpPr>
          <p:cNvPr id="61" name="Pattern"/>
          <p:cNvSpPr/>
          <p:nvPr/>
        </p:nvSpPr>
        <p:spPr>
          <a:xfrm>
            <a:off x="1417320" y="5449824"/>
            <a:ext cx="9326880" cy="237744"/>
          </a:xfrm>
          <a:prstGeom prst="rect">
            <a:avLst/>
          </a:prstGeom>
          <a:noFill/>
          <a:ln>
            <a:noFill/>
          </a:ln>
        </p:spPr>
        <p:txBody>
          <a:bodyPr wrap="square" lIns="0" tIns="0" rIns="0" bIns="0" anchor="ctr"/>
          <a:lstStyle/>
          <a:p>
            <a:pPr algn="l"/>
            <a:r>
              <a:rPr lang="en-US" sz="1500" b="1">
                <a:solidFill>
                  <a:srgbClr val="176F65"/>
                </a:solidFill>
                <a:latin typeface="Aptos"/>
              </a:rPr>
              <a:t>Pattern: When [event], the system should [behavior].</a:t>
            </a:r>
            <a:endParaRPr lang="en-US" sz="15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06</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dirty="0">
                <a:solidFill>
                  <a:srgbClr val="172033"/>
                </a:solidFill>
                <a:latin typeface="Aptos"/>
              </a:rPr>
              <a:t>Non-functional requirements (Non-</a:t>
            </a:r>
            <a:r>
              <a:rPr lang="en-US" sz="2900" b="1" dirty="0" err="1">
                <a:solidFill>
                  <a:srgbClr val="172033"/>
                </a:solidFill>
                <a:latin typeface="Aptos"/>
              </a:rPr>
              <a:t>functionalrequirements</a:t>
            </a:r>
            <a:r>
              <a:rPr lang="en-US" sz="2900" b="1" dirty="0">
                <a:solidFill>
                  <a:srgbClr val="172033"/>
                </a:solidFill>
                <a:latin typeface="Aptos"/>
              </a:rPr>
              <a:t>)</a:t>
            </a:r>
            <a:endParaRPr lang="en-US" sz="2900" dirty="0"/>
          </a:p>
        </p:txBody>
      </p:sp>
      <p:cxnSp>
        <p:nvCxnSpPr>
          <p:cNvPr id="6" name="Line 6"/>
          <p:cNvCxnSpPr/>
          <p:nvPr/>
        </p:nvCxnSpPr>
        <p:spPr>
          <a:xfrm>
            <a:off x="502920" y="1261872"/>
            <a:ext cx="11064240" cy="0"/>
          </a:xfrm>
          <a:prstGeom prst="line">
            <a:avLst/>
          </a:prstGeom>
          <a:ln w="12700">
            <a:solidFill>
              <a:srgbClr val="DDE3EA"/>
            </a:solidFill>
          </a:ln>
        </p:spPr>
      </p:cxnSp>
      <p:sp>
        <p:nvSpPr>
          <p:cNvPr id="20" name="Def"/>
          <p:cNvSpPr/>
          <p:nvPr/>
        </p:nvSpPr>
        <p:spPr>
          <a:xfrm>
            <a:off x="685800" y="1554480"/>
            <a:ext cx="10789920" cy="457200"/>
          </a:xfrm>
          <a:prstGeom prst="rect">
            <a:avLst/>
          </a:prstGeom>
          <a:noFill/>
          <a:ln>
            <a:noFill/>
          </a:ln>
        </p:spPr>
        <p:txBody>
          <a:bodyPr wrap="square" lIns="0" tIns="0" rIns="0" bIns="0" anchor="ctr"/>
          <a:lstStyle/>
          <a:p>
            <a:pPr algn="l"/>
            <a:r>
              <a:rPr lang="en-US" sz="1900">
                <a:solidFill>
                  <a:srgbClr val="536174"/>
                </a:solidFill>
                <a:latin typeface="Aptos"/>
              </a:rPr>
              <a:t>They determine how well the system works and what limitations apply.</a:t>
            </a:r>
            <a:endParaRPr lang="en-US" sz="1900"/>
          </a:p>
        </p:txBody>
      </p:sp>
      <p:sp>
        <p:nvSpPr>
          <p:cNvPr id="30" name="Box 30"/>
          <p:cNvSpPr/>
          <p:nvPr/>
        </p:nvSpPr>
        <p:spPr>
          <a:xfrm>
            <a:off x="685800" y="2286000"/>
            <a:ext cx="3401568" cy="1325880"/>
          </a:xfrm>
          <a:prstGeom prst="roundRect">
            <a:avLst/>
          </a:prstGeom>
          <a:solidFill>
            <a:srgbClr val="FFFFFF"/>
          </a:solidFill>
          <a:ln w="12700">
            <a:solidFill>
              <a:srgbClr val="E2E7EE"/>
            </a:solidFill>
          </a:ln>
        </p:spPr>
      </p:sp>
      <p:sp>
        <p:nvSpPr>
          <p:cNvPr id="32" name="Kicker"/>
          <p:cNvSpPr/>
          <p:nvPr/>
        </p:nvSpPr>
        <p:spPr>
          <a:xfrm>
            <a:off x="914400" y="2450592"/>
            <a:ext cx="2990088" cy="228600"/>
          </a:xfrm>
          <a:prstGeom prst="rect">
            <a:avLst/>
          </a:prstGeom>
          <a:noFill/>
          <a:ln>
            <a:noFill/>
          </a:ln>
        </p:spPr>
        <p:txBody>
          <a:bodyPr wrap="square" lIns="0" tIns="0" rIns="0" bIns="0" anchor="ctr"/>
          <a:lstStyle/>
          <a:p>
            <a:pPr algn="l"/>
            <a:r>
              <a:rPr lang="en-US" sz="1000" b="1">
                <a:solidFill>
                  <a:srgbClr val="5B7CFA"/>
                </a:solidFill>
                <a:latin typeface="Aptos"/>
              </a:rPr>
              <a:t>PERFORMANCE</a:t>
            </a:r>
            <a:endParaRPr lang="en-US" sz="1000"/>
          </a:p>
        </p:txBody>
      </p:sp>
      <p:sp>
        <p:nvSpPr>
          <p:cNvPr id="33" name="CardTitle"/>
          <p:cNvSpPr/>
          <p:nvPr/>
        </p:nvSpPr>
        <p:spPr>
          <a:xfrm>
            <a:off x="914400" y="2788920"/>
            <a:ext cx="2990088" cy="347472"/>
          </a:xfrm>
          <a:prstGeom prst="rect">
            <a:avLst/>
          </a:prstGeom>
          <a:noFill/>
          <a:ln>
            <a:noFill/>
          </a:ln>
        </p:spPr>
        <p:txBody>
          <a:bodyPr wrap="square" lIns="0" tIns="0" rIns="0" bIns="0" anchor="ctr"/>
          <a:lstStyle/>
          <a:p>
            <a:pPr algn="l"/>
            <a:r>
              <a:rPr lang="en-US" sz="1800" b="1">
                <a:solidFill>
                  <a:srgbClr val="172033"/>
                </a:solidFill>
                <a:latin typeface="Aptos"/>
              </a:rPr>
              <a:t>Performance</a:t>
            </a:r>
            <a:endParaRPr lang="en-US" sz="1800"/>
          </a:p>
        </p:txBody>
      </p:sp>
      <p:sp>
        <p:nvSpPr>
          <p:cNvPr id="34" name="CardBody"/>
          <p:cNvSpPr/>
          <p:nvPr/>
        </p:nvSpPr>
        <p:spPr>
          <a:xfrm>
            <a:off x="914400" y="3218688"/>
            <a:ext cx="2990088" cy="228600"/>
          </a:xfrm>
          <a:prstGeom prst="rect">
            <a:avLst/>
          </a:prstGeom>
          <a:noFill/>
          <a:ln>
            <a:noFill/>
          </a:ln>
        </p:spPr>
        <p:txBody>
          <a:bodyPr wrap="square" lIns="0" tIns="0" rIns="0" bIns="0" anchor="ctr"/>
          <a:lstStyle/>
          <a:p>
            <a:pPr algn="l"/>
            <a:r>
              <a:rPr lang="en-US" sz="1400">
                <a:solidFill>
                  <a:srgbClr val="536174"/>
                </a:solidFill>
                <a:latin typeface="Aptos"/>
              </a:rPr>
              <a:t>p95 response time ≤ 2 s.</a:t>
            </a:r>
            <a:endParaRPr lang="en-US" sz="1400"/>
          </a:p>
        </p:txBody>
      </p:sp>
      <p:sp>
        <p:nvSpPr>
          <p:cNvPr id="40" name="Box 40"/>
          <p:cNvSpPr/>
          <p:nvPr/>
        </p:nvSpPr>
        <p:spPr>
          <a:xfrm>
            <a:off x="4389120" y="2286000"/>
            <a:ext cx="3401568" cy="1325880"/>
          </a:xfrm>
          <a:prstGeom prst="roundRect">
            <a:avLst/>
          </a:prstGeom>
          <a:solidFill>
            <a:srgbClr val="FFFFFF"/>
          </a:solidFill>
          <a:ln w="12700">
            <a:solidFill>
              <a:srgbClr val="E2E7EE"/>
            </a:solidFill>
          </a:ln>
        </p:spPr>
      </p:sp>
      <p:sp>
        <p:nvSpPr>
          <p:cNvPr id="42" name="Kicker"/>
          <p:cNvSpPr/>
          <p:nvPr/>
        </p:nvSpPr>
        <p:spPr>
          <a:xfrm>
            <a:off x="4617720" y="2450592"/>
            <a:ext cx="2990088" cy="228600"/>
          </a:xfrm>
          <a:prstGeom prst="rect">
            <a:avLst/>
          </a:prstGeom>
          <a:noFill/>
          <a:ln>
            <a:noFill/>
          </a:ln>
        </p:spPr>
        <p:txBody>
          <a:bodyPr wrap="square" lIns="0" tIns="0" rIns="0" bIns="0" anchor="ctr"/>
          <a:lstStyle/>
          <a:p>
            <a:pPr algn="l"/>
            <a:r>
              <a:rPr lang="en-US" sz="1000" b="1">
                <a:solidFill>
                  <a:srgbClr val="25B7A5"/>
                </a:solidFill>
                <a:latin typeface="Aptos"/>
              </a:rPr>
              <a:t>AVAILABILITY</a:t>
            </a:r>
            <a:endParaRPr lang="en-US" sz="1000"/>
          </a:p>
        </p:txBody>
      </p:sp>
      <p:sp>
        <p:nvSpPr>
          <p:cNvPr id="43" name="CardTitle"/>
          <p:cNvSpPr/>
          <p:nvPr/>
        </p:nvSpPr>
        <p:spPr>
          <a:xfrm>
            <a:off x="4617720" y="2788920"/>
            <a:ext cx="2990088" cy="347472"/>
          </a:xfrm>
          <a:prstGeom prst="rect">
            <a:avLst/>
          </a:prstGeom>
          <a:noFill/>
          <a:ln>
            <a:noFill/>
          </a:ln>
        </p:spPr>
        <p:txBody>
          <a:bodyPr wrap="square" lIns="0" tIns="0" rIns="0" bIns="0" anchor="ctr"/>
          <a:lstStyle/>
          <a:p>
            <a:pPr algn="l"/>
            <a:r>
              <a:rPr lang="en-US" sz="1800" b="1">
                <a:solidFill>
                  <a:srgbClr val="172033"/>
                </a:solidFill>
                <a:latin typeface="Aptos"/>
              </a:rPr>
              <a:t>Availability</a:t>
            </a:r>
            <a:endParaRPr lang="en-US" sz="1800"/>
          </a:p>
        </p:txBody>
      </p:sp>
      <p:sp>
        <p:nvSpPr>
          <p:cNvPr id="44" name="CardBody"/>
          <p:cNvSpPr/>
          <p:nvPr/>
        </p:nvSpPr>
        <p:spPr>
          <a:xfrm>
            <a:off x="4617720" y="3218688"/>
            <a:ext cx="2990088" cy="228600"/>
          </a:xfrm>
          <a:prstGeom prst="rect">
            <a:avLst/>
          </a:prstGeom>
          <a:noFill/>
          <a:ln>
            <a:noFill/>
          </a:ln>
        </p:spPr>
        <p:txBody>
          <a:bodyPr wrap="square" lIns="0" tIns="0" rIns="0" bIns="0" anchor="ctr"/>
          <a:lstStyle/>
          <a:p>
            <a:pPr algn="l"/>
            <a:r>
              <a:rPr lang="en-US" sz="1400">
                <a:solidFill>
                  <a:srgbClr val="536174"/>
                </a:solidFill>
                <a:latin typeface="Aptos"/>
              </a:rPr>
              <a:t>≥ 99.9% per calendar month.</a:t>
            </a:r>
            <a:endParaRPr lang="en-US" sz="1400"/>
          </a:p>
        </p:txBody>
      </p:sp>
      <p:sp>
        <p:nvSpPr>
          <p:cNvPr id="50" name="Box 50"/>
          <p:cNvSpPr/>
          <p:nvPr/>
        </p:nvSpPr>
        <p:spPr>
          <a:xfrm>
            <a:off x="8092440" y="2286000"/>
            <a:ext cx="3401568" cy="1325880"/>
          </a:xfrm>
          <a:prstGeom prst="roundRect">
            <a:avLst/>
          </a:prstGeom>
          <a:solidFill>
            <a:srgbClr val="FFFFFF"/>
          </a:solidFill>
          <a:ln w="12700">
            <a:solidFill>
              <a:srgbClr val="E2E7EE"/>
            </a:solidFill>
          </a:ln>
        </p:spPr>
      </p:sp>
      <p:sp>
        <p:nvSpPr>
          <p:cNvPr id="52" name="Kicker"/>
          <p:cNvSpPr/>
          <p:nvPr/>
        </p:nvSpPr>
        <p:spPr>
          <a:xfrm>
            <a:off x="8321040" y="2450592"/>
            <a:ext cx="2990088" cy="228600"/>
          </a:xfrm>
          <a:prstGeom prst="rect">
            <a:avLst/>
          </a:prstGeom>
          <a:noFill/>
          <a:ln>
            <a:noFill/>
          </a:ln>
        </p:spPr>
        <p:txBody>
          <a:bodyPr wrap="square" lIns="0" tIns="0" rIns="0" bIns="0" anchor="ctr"/>
          <a:lstStyle/>
          <a:p>
            <a:pPr algn="l"/>
            <a:r>
              <a:rPr lang="en-US" sz="1000" b="1">
                <a:solidFill>
                  <a:srgbClr val="D06B4F"/>
                </a:solidFill>
                <a:latin typeface="Aptos"/>
              </a:rPr>
              <a:t>SECURITY</a:t>
            </a:r>
            <a:endParaRPr lang="en-US" sz="1000"/>
          </a:p>
        </p:txBody>
      </p:sp>
      <p:sp>
        <p:nvSpPr>
          <p:cNvPr id="53" name="CardTitle"/>
          <p:cNvSpPr/>
          <p:nvPr/>
        </p:nvSpPr>
        <p:spPr>
          <a:xfrm>
            <a:off x="8321040" y="2788920"/>
            <a:ext cx="2990088" cy="347472"/>
          </a:xfrm>
          <a:prstGeom prst="rect">
            <a:avLst/>
          </a:prstGeom>
          <a:noFill/>
          <a:ln>
            <a:noFill/>
          </a:ln>
        </p:spPr>
        <p:txBody>
          <a:bodyPr wrap="square" lIns="0" tIns="0" rIns="0" bIns="0" anchor="ctr"/>
          <a:lstStyle/>
          <a:p>
            <a:pPr algn="l"/>
            <a:r>
              <a:rPr lang="en-US" sz="1800" b="1">
                <a:solidFill>
                  <a:srgbClr val="172033"/>
                </a:solidFill>
                <a:latin typeface="Aptos"/>
              </a:rPr>
              <a:t>Security</a:t>
            </a:r>
            <a:endParaRPr lang="en-US" sz="1800"/>
          </a:p>
        </p:txBody>
      </p:sp>
      <p:sp>
        <p:nvSpPr>
          <p:cNvPr id="54" name="CardBody"/>
          <p:cNvSpPr/>
          <p:nvPr/>
        </p:nvSpPr>
        <p:spPr>
          <a:xfrm>
            <a:off x="8321040" y="3218688"/>
            <a:ext cx="2990088" cy="228600"/>
          </a:xfrm>
          <a:prstGeom prst="rect">
            <a:avLst/>
          </a:prstGeom>
          <a:noFill/>
          <a:ln>
            <a:noFill/>
          </a:ln>
        </p:spPr>
        <p:txBody>
          <a:bodyPr wrap="square" lIns="0" tIns="0" rIns="0" bIns="0" anchor="ctr"/>
          <a:lstStyle/>
          <a:p>
            <a:pPr algn="l"/>
            <a:r>
              <a:rPr lang="en-US" sz="1400">
                <a:solidFill>
                  <a:srgbClr val="536174"/>
                </a:solidFill>
                <a:latin typeface="Aptos"/>
              </a:rPr>
              <a:t>MFA for administrator accounts.</a:t>
            </a:r>
            <a:endParaRPr lang="en-US" sz="1400"/>
          </a:p>
        </p:txBody>
      </p:sp>
      <p:sp>
        <p:nvSpPr>
          <p:cNvPr id="60" name="Box 60"/>
          <p:cNvSpPr/>
          <p:nvPr/>
        </p:nvSpPr>
        <p:spPr>
          <a:xfrm>
            <a:off x="685800" y="3931920"/>
            <a:ext cx="3401568" cy="1325880"/>
          </a:xfrm>
          <a:prstGeom prst="roundRect">
            <a:avLst/>
          </a:prstGeom>
          <a:solidFill>
            <a:srgbClr val="FFFFFF"/>
          </a:solidFill>
          <a:ln w="12700">
            <a:solidFill>
              <a:srgbClr val="E2E7EE"/>
            </a:solidFill>
          </a:ln>
        </p:spPr>
      </p:sp>
      <p:sp>
        <p:nvSpPr>
          <p:cNvPr id="62" name="Kicker"/>
          <p:cNvSpPr/>
          <p:nvPr/>
        </p:nvSpPr>
        <p:spPr>
          <a:xfrm>
            <a:off x="914400" y="4096512"/>
            <a:ext cx="2990088" cy="228600"/>
          </a:xfrm>
          <a:prstGeom prst="rect">
            <a:avLst/>
          </a:prstGeom>
          <a:noFill/>
          <a:ln>
            <a:noFill/>
          </a:ln>
        </p:spPr>
        <p:txBody>
          <a:bodyPr wrap="square" lIns="0" tIns="0" rIns="0" bIns="0" anchor="ctr"/>
          <a:lstStyle/>
          <a:p>
            <a:pPr algn="l"/>
            <a:r>
              <a:rPr lang="en-US" sz="1000" b="1">
                <a:solidFill>
                  <a:srgbClr val="F6B44C"/>
                </a:solidFill>
                <a:latin typeface="Aptos"/>
              </a:rPr>
              <a:t>USABILITY</a:t>
            </a:r>
            <a:endParaRPr lang="en-US" sz="1000"/>
          </a:p>
        </p:txBody>
      </p:sp>
      <p:sp>
        <p:nvSpPr>
          <p:cNvPr id="63" name="CardTitle"/>
          <p:cNvSpPr/>
          <p:nvPr/>
        </p:nvSpPr>
        <p:spPr>
          <a:xfrm>
            <a:off x="914400" y="44348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Ease of use</a:t>
            </a:r>
            <a:endParaRPr lang="en-US" sz="1800"/>
          </a:p>
        </p:txBody>
      </p:sp>
      <p:sp>
        <p:nvSpPr>
          <p:cNvPr id="64" name="CardBody"/>
          <p:cNvSpPr/>
          <p:nvPr/>
        </p:nvSpPr>
        <p:spPr>
          <a:xfrm>
            <a:off x="914400" y="4864608"/>
            <a:ext cx="2990088" cy="228600"/>
          </a:xfrm>
          <a:prstGeom prst="rect">
            <a:avLst/>
          </a:prstGeom>
          <a:noFill/>
          <a:ln>
            <a:noFill/>
          </a:ln>
        </p:spPr>
        <p:txBody>
          <a:bodyPr wrap="square" lIns="0" tIns="0" rIns="0" bIns="0" anchor="ctr"/>
          <a:lstStyle/>
          <a:p>
            <a:pPr algn="l"/>
            <a:r>
              <a:rPr lang="en-US" sz="1400">
                <a:solidFill>
                  <a:srgbClr val="536174"/>
                </a:solidFill>
                <a:latin typeface="Aptos"/>
              </a:rPr>
              <a:t>90% success in the basic task without help.</a:t>
            </a:r>
            <a:endParaRPr lang="en-US" sz="1400"/>
          </a:p>
        </p:txBody>
      </p:sp>
      <p:sp>
        <p:nvSpPr>
          <p:cNvPr id="70" name="Box 70"/>
          <p:cNvSpPr/>
          <p:nvPr/>
        </p:nvSpPr>
        <p:spPr>
          <a:xfrm>
            <a:off x="4389120" y="3931920"/>
            <a:ext cx="3401568" cy="1325880"/>
          </a:xfrm>
          <a:prstGeom prst="roundRect">
            <a:avLst/>
          </a:prstGeom>
          <a:solidFill>
            <a:srgbClr val="FFFFFF"/>
          </a:solidFill>
          <a:ln w="12700">
            <a:solidFill>
              <a:srgbClr val="E2E7EE"/>
            </a:solidFill>
          </a:ln>
        </p:spPr>
      </p:sp>
      <p:sp>
        <p:nvSpPr>
          <p:cNvPr id="72" name="Kicker"/>
          <p:cNvSpPr/>
          <p:nvPr/>
        </p:nvSpPr>
        <p:spPr>
          <a:xfrm>
            <a:off x="4617720" y="4096512"/>
            <a:ext cx="2990088" cy="228600"/>
          </a:xfrm>
          <a:prstGeom prst="rect">
            <a:avLst/>
          </a:prstGeom>
          <a:noFill/>
          <a:ln>
            <a:noFill/>
          </a:ln>
        </p:spPr>
        <p:txBody>
          <a:bodyPr wrap="square" lIns="0" tIns="0" rIns="0" bIns="0" anchor="ctr"/>
          <a:lstStyle/>
          <a:p>
            <a:pPr algn="l"/>
            <a:r>
              <a:rPr lang="en-US" sz="1000" b="1">
                <a:solidFill>
                  <a:srgbClr val="8764D8"/>
                </a:solidFill>
                <a:latin typeface="Aptos"/>
              </a:rPr>
              <a:t>RELIABILITY</a:t>
            </a:r>
            <a:endParaRPr lang="en-US" sz="1000"/>
          </a:p>
        </p:txBody>
      </p:sp>
      <p:sp>
        <p:nvSpPr>
          <p:cNvPr id="73" name="CardTitle"/>
          <p:cNvSpPr/>
          <p:nvPr/>
        </p:nvSpPr>
        <p:spPr>
          <a:xfrm>
            <a:off x="4617720" y="44348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Reliability</a:t>
            </a:r>
            <a:endParaRPr lang="en-US" sz="1800"/>
          </a:p>
        </p:txBody>
      </p:sp>
      <p:sp>
        <p:nvSpPr>
          <p:cNvPr id="74" name="CardBody"/>
          <p:cNvSpPr/>
          <p:nvPr/>
        </p:nvSpPr>
        <p:spPr>
          <a:xfrm>
            <a:off x="4617720" y="4864608"/>
            <a:ext cx="2990088" cy="228600"/>
          </a:xfrm>
          <a:prstGeom prst="rect">
            <a:avLst/>
          </a:prstGeom>
          <a:noFill/>
          <a:ln>
            <a:noFill/>
          </a:ln>
        </p:spPr>
        <p:txBody>
          <a:bodyPr wrap="square" lIns="0" tIns="0" rIns="0" bIns="0" anchor="ctr"/>
          <a:lstStyle/>
          <a:p>
            <a:pPr algn="l"/>
            <a:r>
              <a:rPr lang="en-US" sz="1400">
                <a:solidFill>
                  <a:srgbClr val="536174"/>
                </a:solidFill>
                <a:latin typeface="Aptos"/>
              </a:rPr>
              <a:t>RPO ≤ 15 min, RTO ≤ 2 h.</a:t>
            </a:r>
            <a:endParaRPr lang="en-US" sz="1400"/>
          </a:p>
        </p:txBody>
      </p:sp>
      <p:sp>
        <p:nvSpPr>
          <p:cNvPr id="80" name="Box 80"/>
          <p:cNvSpPr/>
          <p:nvPr/>
        </p:nvSpPr>
        <p:spPr>
          <a:xfrm>
            <a:off x="8092440" y="3931920"/>
            <a:ext cx="3401568" cy="1325880"/>
          </a:xfrm>
          <a:prstGeom prst="roundRect">
            <a:avLst/>
          </a:prstGeom>
          <a:solidFill>
            <a:srgbClr val="FFFFFF"/>
          </a:solidFill>
          <a:ln w="12700">
            <a:solidFill>
              <a:srgbClr val="E2E7EE"/>
            </a:solidFill>
          </a:ln>
        </p:spPr>
      </p:sp>
      <p:sp>
        <p:nvSpPr>
          <p:cNvPr id="82" name="Kicker"/>
          <p:cNvSpPr/>
          <p:nvPr/>
        </p:nvSpPr>
        <p:spPr>
          <a:xfrm>
            <a:off x="8321040" y="4096512"/>
            <a:ext cx="2990088" cy="228600"/>
          </a:xfrm>
          <a:prstGeom prst="rect">
            <a:avLst/>
          </a:prstGeom>
          <a:noFill/>
          <a:ln>
            <a:noFill/>
          </a:ln>
        </p:spPr>
        <p:txBody>
          <a:bodyPr wrap="square" lIns="0" tIns="0" rIns="0" bIns="0" anchor="ctr"/>
          <a:lstStyle/>
          <a:p>
            <a:pPr algn="l"/>
            <a:r>
              <a:rPr lang="en-US" sz="1000" b="1">
                <a:solidFill>
                  <a:srgbClr val="4D9A73"/>
                </a:solidFill>
                <a:latin typeface="Aptos"/>
              </a:rPr>
              <a:t>PORTABILITY</a:t>
            </a:r>
            <a:endParaRPr lang="en-US" sz="1000"/>
          </a:p>
        </p:txBody>
      </p:sp>
      <p:sp>
        <p:nvSpPr>
          <p:cNvPr id="83" name="CardTitle"/>
          <p:cNvSpPr/>
          <p:nvPr/>
        </p:nvSpPr>
        <p:spPr>
          <a:xfrm>
            <a:off x="8321040" y="44348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Portability</a:t>
            </a:r>
            <a:endParaRPr lang="en-US" sz="1800"/>
          </a:p>
        </p:txBody>
      </p:sp>
      <p:sp>
        <p:nvSpPr>
          <p:cNvPr id="84" name="CardBody"/>
          <p:cNvSpPr/>
          <p:nvPr/>
        </p:nvSpPr>
        <p:spPr>
          <a:xfrm>
            <a:off x="8321040" y="4864608"/>
            <a:ext cx="2990088" cy="228600"/>
          </a:xfrm>
          <a:prstGeom prst="rect">
            <a:avLst/>
          </a:prstGeom>
          <a:noFill/>
          <a:ln>
            <a:noFill/>
          </a:ln>
        </p:spPr>
        <p:txBody>
          <a:bodyPr wrap="square" lIns="0" tIns="0" rIns="0" bIns="0" anchor="ctr"/>
          <a:lstStyle/>
          <a:p>
            <a:pPr algn="l"/>
            <a:r>
              <a:rPr lang="en-US" sz="1400">
                <a:solidFill>
                  <a:srgbClr val="536174"/>
                </a:solidFill>
                <a:latin typeface="Aptos"/>
              </a:rPr>
              <a:t>Support for the last 2 browser versions.</a:t>
            </a:r>
            <a:endParaRPr lang="en-US" sz="14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07</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ox 2">
            <a:extLst>
              <a:ext uri="{FF2B5EF4-FFF2-40B4-BE49-F238E27FC236}">
                <a16:creationId xmlns:a16="http://schemas.microsoft.com/office/drawing/2014/main" id="{E9B0A1CC-F469-D213-7383-303707D629D4}"/>
              </a:ext>
            </a:extLst>
          </p:cNvPr>
          <p:cNvSpPr/>
          <p:nvPr/>
        </p:nvSpPr>
        <p:spPr>
          <a:xfrm>
            <a:off x="0" y="0"/>
            <a:ext cx="12191695" cy="6858000"/>
          </a:xfrm>
          <a:prstGeom prst="rect">
            <a:avLst/>
          </a:prstGeom>
          <a:solidFill>
            <a:srgbClr val="F6F8FB"/>
          </a:solidFill>
          <a:ln w="12700">
            <a:solidFill>
              <a:srgbClr val="F6F8FB"/>
            </a:solidFill>
          </a:ln>
        </p:spPr>
      </p:sp>
      <p:sp>
        <p:nvSpPr>
          <p:cNvPr id="13" name="Box 3">
            <a:extLst>
              <a:ext uri="{FF2B5EF4-FFF2-40B4-BE49-F238E27FC236}">
                <a16:creationId xmlns:a16="http://schemas.microsoft.com/office/drawing/2014/main" id="{0CBEB527-03D2-A05C-E4DE-824DAF29616B}"/>
              </a:ext>
            </a:extLst>
          </p:cNvPr>
          <p:cNvSpPr/>
          <p:nvPr/>
        </p:nvSpPr>
        <p:spPr>
          <a:xfrm>
            <a:off x="0" y="0"/>
            <a:ext cx="146304" cy="6858000"/>
          </a:xfrm>
          <a:prstGeom prst="rect">
            <a:avLst/>
          </a:prstGeom>
          <a:solidFill>
            <a:srgbClr val="25B7A5"/>
          </a:solidFill>
          <a:ln w="12700">
            <a:solidFill>
              <a:srgbClr val="25B7A5"/>
            </a:solidFill>
          </a:ln>
        </p:spPr>
      </p:sp>
      <p:sp>
        <p:nvSpPr>
          <p:cNvPr id="15" name="Footer">
            <a:extLst>
              <a:ext uri="{FF2B5EF4-FFF2-40B4-BE49-F238E27FC236}">
                <a16:creationId xmlns:a16="http://schemas.microsoft.com/office/drawing/2014/main" id="{BD2B3744-D305-05C7-4F5B-6EF9908C3D4C}"/>
              </a:ext>
            </a:extLst>
          </p:cNvP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18" name="Title">
            <a:extLst>
              <a:ext uri="{FF2B5EF4-FFF2-40B4-BE49-F238E27FC236}">
                <a16:creationId xmlns:a16="http://schemas.microsoft.com/office/drawing/2014/main" id="{B50F3CE2-72FA-9C5D-1424-F6F2E6AA4BC6}"/>
              </a:ext>
            </a:extLst>
          </p:cNvPr>
          <p:cNvSpPr/>
          <p:nvPr/>
        </p:nvSpPr>
        <p:spPr>
          <a:xfrm>
            <a:off x="502920" y="612648"/>
            <a:ext cx="11064240" cy="594360"/>
          </a:xfrm>
          <a:prstGeom prst="rect">
            <a:avLst/>
          </a:prstGeom>
          <a:noFill/>
          <a:ln>
            <a:noFill/>
          </a:ln>
        </p:spPr>
        <p:txBody>
          <a:bodyPr wrap="square" lIns="0" tIns="0" rIns="0" bIns="0" anchor="ctr"/>
          <a:lstStyle/>
          <a:p>
            <a:pPr algn="l"/>
            <a:r>
              <a:rPr lang="en-US" sz="2900" b="1" dirty="0">
                <a:solidFill>
                  <a:srgbClr val="172033"/>
                </a:solidFill>
                <a:latin typeface="Aptos"/>
              </a:rPr>
              <a:t>Non-functional requirements (Non-</a:t>
            </a:r>
            <a:r>
              <a:rPr lang="en-US" sz="2900" b="1" dirty="0" err="1">
                <a:solidFill>
                  <a:srgbClr val="172033"/>
                </a:solidFill>
                <a:latin typeface="Aptos"/>
              </a:rPr>
              <a:t>functionalrequirements</a:t>
            </a:r>
            <a:r>
              <a:rPr lang="en-US" sz="2900" b="1" dirty="0">
                <a:solidFill>
                  <a:srgbClr val="172033"/>
                </a:solidFill>
                <a:latin typeface="Aptos"/>
              </a:rPr>
              <a:t>)</a:t>
            </a:r>
            <a:endParaRPr lang="en-US" sz="2900" dirty="0"/>
          </a:p>
        </p:txBody>
      </p:sp>
      <p:cxnSp>
        <p:nvCxnSpPr>
          <p:cNvPr id="19" name="Line 6">
            <a:extLst>
              <a:ext uri="{FF2B5EF4-FFF2-40B4-BE49-F238E27FC236}">
                <a16:creationId xmlns:a16="http://schemas.microsoft.com/office/drawing/2014/main" id="{4AF40C1C-AF8E-FA97-348E-9B865A0E1396}"/>
              </a:ext>
            </a:extLst>
          </p:cNvPr>
          <p:cNvCxnSpPr/>
          <p:nvPr/>
        </p:nvCxnSpPr>
        <p:spPr>
          <a:xfrm>
            <a:off x="502920" y="1261872"/>
            <a:ext cx="11064240" cy="0"/>
          </a:xfrm>
          <a:prstGeom prst="line">
            <a:avLst/>
          </a:prstGeom>
          <a:ln w="12700">
            <a:solidFill>
              <a:srgbClr val="DDE3EA"/>
            </a:solidFill>
          </a:ln>
        </p:spPr>
      </p:cxnSp>
      <p:pic>
        <p:nvPicPr>
          <p:cNvPr id="3" name="Picture 3" descr="4.3 Non-functionalReq.eps">
            <a:extLst>
              <a:ext uri="{FF2B5EF4-FFF2-40B4-BE49-F238E27FC236}">
                <a16:creationId xmlns:a16="http://schemas.microsoft.com/office/drawing/2014/main" id="{F7C01627-F205-F26B-FC28-30C06BC5A512}"/>
              </a:ext>
            </a:extLst>
          </p:cNvPr>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2"/>
              <a:stretch>
                <a:fillRect/>
              </a:stretch>
            </p:blipFill>
          </mc:Choice>
          <mc:Fallback>
            <p:blipFill>
              <a:blip r:embed="rId3"/>
              <a:stretch>
                <a:fillRect/>
              </a:stretch>
            </p:blipFill>
          </mc:Fallback>
        </mc:AlternateContent>
        <p:spPr>
          <a:xfrm>
            <a:off x="990600" y="1911350"/>
            <a:ext cx="6915549" cy="3879850"/>
          </a:xfrm>
          <a:prstGeom prst="rect">
            <a:avLst/>
          </a:prstGeom>
        </p:spPr>
      </p:pic>
    </p:spTree>
    <p:extLst>
      <p:ext uri="{BB962C8B-B14F-4D97-AF65-F5344CB8AC3E}">
        <p14:creationId xmlns:p14="http://schemas.microsoft.com/office/powerpoint/2010/main" val="2686383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From “fast” to measurable</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731520" y="1645920"/>
            <a:ext cx="4892040" cy="3611880"/>
          </a:xfrm>
          <a:prstGeom prst="roundRect">
            <a:avLst/>
          </a:prstGeom>
          <a:solidFill>
            <a:srgbClr val="FFFFFF"/>
          </a:solidFill>
          <a:ln w="12700">
            <a:solidFill>
              <a:srgbClr val="E2E7EE"/>
            </a:solidFill>
          </a:ln>
        </p:spPr>
      </p:sp>
      <p:sp>
        <p:nvSpPr>
          <p:cNvPr id="22" name="Kicker"/>
          <p:cNvSpPr/>
          <p:nvPr/>
        </p:nvSpPr>
        <p:spPr>
          <a:xfrm>
            <a:off x="960120" y="1810512"/>
            <a:ext cx="4480560" cy="228600"/>
          </a:xfrm>
          <a:prstGeom prst="rect">
            <a:avLst/>
          </a:prstGeom>
          <a:noFill/>
          <a:ln>
            <a:noFill/>
          </a:ln>
        </p:spPr>
        <p:txBody>
          <a:bodyPr wrap="square" lIns="0" tIns="0" rIns="0" bIns="0" anchor="ctr"/>
          <a:lstStyle/>
          <a:p>
            <a:pPr algn="l"/>
            <a:r>
              <a:rPr lang="en-US" sz="1000" b="1">
                <a:solidFill>
                  <a:srgbClr val="D06B4F"/>
                </a:solidFill>
                <a:latin typeface="Aptos"/>
              </a:rPr>
              <a:t>INFINITE</a:t>
            </a:r>
            <a:endParaRPr lang="en-US" sz="1000"/>
          </a:p>
        </p:txBody>
      </p:sp>
      <p:sp>
        <p:nvSpPr>
          <p:cNvPr id="23" name="CardTitle"/>
          <p:cNvSpPr/>
          <p:nvPr/>
        </p:nvSpPr>
        <p:spPr>
          <a:xfrm>
            <a:off x="960120" y="2148840"/>
            <a:ext cx="4480560" cy="347472"/>
          </a:xfrm>
          <a:prstGeom prst="rect">
            <a:avLst/>
          </a:prstGeom>
          <a:noFill/>
          <a:ln>
            <a:noFill/>
          </a:ln>
        </p:spPr>
        <p:txBody>
          <a:bodyPr wrap="square" lIns="0" tIns="0" rIns="0" bIns="0" anchor="ctr"/>
          <a:lstStyle/>
          <a:p>
            <a:pPr algn="l"/>
            <a:r>
              <a:rPr lang="en-US" sz="1800" b="1">
                <a:solidFill>
                  <a:srgbClr val="172033"/>
                </a:solidFill>
                <a:latin typeface="Aptos"/>
              </a:rPr>
              <a:t>The system should be fast.</a:t>
            </a:r>
            <a:endParaRPr lang="en-US" sz="1800"/>
          </a:p>
        </p:txBody>
      </p:sp>
      <p:sp>
        <p:nvSpPr>
          <p:cNvPr id="24" name="CardBody"/>
          <p:cNvSpPr/>
          <p:nvPr/>
        </p:nvSpPr>
        <p:spPr>
          <a:xfrm>
            <a:off x="960120" y="2578608"/>
            <a:ext cx="4480560" cy="2514600"/>
          </a:xfrm>
          <a:prstGeom prst="rect">
            <a:avLst/>
          </a:prstGeom>
          <a:noFill/>
          <a:ln>
            <a:noFill/>
          </a:ln>
        </p:spPr>
        <p:txBody>
          <a:bodyPr wrap="square" lIns="0" tIns="0" rIns="0" bIns="0" anchor="ctr"/>
          <a:lstStyle/>
          <a:p>
            <a:pPr algn="l"/>
            <a:r>
              <a:rPr lang="en-US" sz="1400">
                <a:solidFill>
                  <a:srgbClr val="536174"/>
                </a:solidFill>
                <a:latin typeface="Aptos"/>
              </a:rPr>
              <a:t>How fast? For what function? With how many users? On what infrastructure?</a:t>
            </a:r>
            <a:endParaRPr lang="en-US" sz="1400"/>
          </a:p>
        </p:txBody>
      </p:sp>
      <p:sp>
        <p:nvSpPr>
          <p:cNvPr id="30" name="Box 30"/>
          <p:cNvSpPr/>
          <p:nvPr/>
        </p:nvSpPr>
        <p:spPr>
          <a:xfrm>
            <a:off x="6537960" y="1645920"/>
            <a:ext cx="4892040" cy="3611880"/>
          </a:xfrm>
          <a:prstGeom prst="roundRect">
            <a:avLst/>
          </a:prstGeom>
          <a:solidFill>
            <a:srgbClr val="FFFFFF"/>
          </a:solidFill>
          <a:ln w="12700">
            <a:solidFill>
              <a:srgbClr val="E2E7EE"/>
            </a:solidFill>
          </a:ln>
        </p:spPr>
      </p:sp>
      <p:sp>
        <p:nvSpPr>
          <p:cNvPr id="32" name="Kicker"/>
          <p:cNvSpPr/>
          <p:nvPr/>
        </p:nvSpPr>
        <p:spPr>
          <a:xfrm>
            <a:off x="6766560" y="1810512"/>
            <a:ext cx="4480560" cy="228600"/>
          </a:xfrm>
          <a:prstGeom prst="rect">
            <a:avLst/>
          </a:prstGeom>
          <a:noFill/>
          <a:ln>
            <a:noFill/>
          </a:ln>
        </p:spPr>
        <p:txBody>
          <a:bodyPr wrap="square" lIns="0" tIns="0" rIns="0" bIns="0" anchor="ctr"/>
          <a:lstStyle/>
          <a:p>
            <a:pPr algn="l"/>
            <a:r>
              <a:rPr lang="en-US" sz="1000" b="1">
                <a:solidFill>
                  <a:srgbClr val="25B7A5"/>
                </a:solidFill>
                <a:latin typeface="Aptos"/>
              </a:rPr>
              <a:t>CONTROL</a:t>
            </a:r>
            <a:endParaRPr lang="en-US" sz="1000"/>
          </a:p>
        </p:txBody>
      </p:sp>
      <p:sp>
        <p:nvSpPr>
          <p:cNvPr id="33" name="CardTitle"/>
          <p:cNvSpPr/>
          <p:nvPr/>
        </p:nvSpPr>
        <p:spPr>
          <a:xfrm>
            <a:off x="6766560" y="2148840"/>
            <a:ext cx="4480560" cy="347472"/>
          </a:xfrm>
          <a:prstGeom prst="rect">
            <a:avLst/>
          </a:prstGeom>
          <a:noFill/>
          <a:ln>
            <a:noFill/>
          </a:ln>
        </p:spPr>
        <p:txBody>
          <a:bodyPr wrap="square" lIns="0" tIns="0" rIns="0" bIns="0" anchor="ctr"/>
          <a:lstStyle/>
          <a:p>
            <a:pPr algn="l"/>
            <a:r>
              <a:rPr lang="en-US" sz="1800" b="1">
                <a:solidFill>
                  <a:srgbClr val="172033"/>
                </a:solidFill>
                <a:latin typeface="Aptos"/>
              </a:rPr>
              <a:t>p95 ≤ 2 s</a:t>
            </a:r>
            <a:endParaRPr lang="en-US" sz="1800"/>
          </a:p>
        </p:txBody>
      </p:sp>
      <p:sp>
        <p:nvSpPr>
          <p:cNvPr id="34" name="CardBody"/>
          <p:cNvSpPr/>
          <p:nvPr/>
        </p:nvSpPr>
        <p:spPr>
          <a:xfrm>
            <a:off x="6766560" y="2578608"/>
            <a:ext cx="4480560" cy="2514600"/>
          </a:xfrm>
          <a:prstGeom prst="rect">
            <a:avLst/>
          </a:prstGeom>
          <a:noFill/>
          <a:ln>
            <a:noFill/>
          </a:ln>
        </p:spPr>
        <p:txBody>
          <a:bodyPr wrap="square" lIns="0" tIns="0" rIns="0" bIns="0" anchor="ctr"/>
          <a:lstStyle/>
          <a:p>
            <a:pPr algn="l"/>
            <a:r>
              <a:rPr lang="en-US" sz="1400">
                <a:solidFill>
                  <a:srgbClr val="536174"/>
                </a:solidFill>
                <a:latin typeface="Aptos"/>
              </a:rPr>
              <a:t>For product search, with 1,000 concurrent users and a catalog of 100,000 products.</a:t>
            </a:r>
            <a:endParaRPr lang="en-US" sz="1400"/>
          </a:p>
        </p:txBody>
      </p:sp>
      <p:cxnSp>
        <p:nvCxnSpPr>
          <p:cNvPr id="40" name="Line 40"/>
          <p:cNvCxnSpPr/>
          <p:nvPr/>
        </p:nvCxnSpPr>
        <p:spPr>
          <a:xfrm>
            <a:off x="5669280" y="3401568"/>
            <a:ext cx="731520" cy="0"/>
          </a:xfrm>
          <a:prstGeom prst="line">
            <a:avLst/>
          </a:prstGeom>
          <a:ln w="38100">
            <a:solidFill>
              <a:srgbClr val="5B7CFA"/>
            </a:solidFill>
            <a:tailEnd type="triangle"/>
          </a:ln>
        </p:spPr>
      </p:cxnSp>
      <p:sp>
        <p:nvSpPr>
          <p:cNvPr id="41" name="Recipe"/>
          <p:cNvSpPr/>
          <p:nvPr/>
        </p:nvSpPr>
        <p:spPr>
          <a:xfrm>
            <a:off x="1097280" y="5532120"/>
            <a:ext cx="9966960" cy="292608"/>
          </a:xfrm>
          <a:prstGeom prst="rect">
            <a:avLst/>
          </a:prstGeom>
          <a:noFill/>
          <a:ln>
            <a:noFill/>
          </a:ln>
        </p:spPr>
        <p:txBody>
          <a:bodyPr wrap="square" lIns="0" tIns="0" rIns="0" bIns="0" anchor="ctr"/>
          <a:lstStyle/>
          <a:p>
            <a:pPr algn="l"/>
            <a:r>
              <a:rPr lang="en-US" sz="1600" b="1">
                <a:solidFill>
                  <a:srgbClr val="172033"/>
                </a:solidFill>
                <a:latin typeface="Aptos"/>
              </a:rPr>
              <a:t>Measure + target + conditions + measurement period = testable NFR</a:t>
            </a:r>
            <a:endParaRPr lang="en-US" sz="16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08</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Domain requirements</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Def"/>
          <p:cNvSpPr/>
          <p:nvPr/>
        </p:nvSpPr>
        <p:spPr>
          <a:xfrm>
            <a:off x="685800" y="1554480"/>
            <a:ext cx="10698480" cy="548640"/>
          </a:xfrm>
          <a:prstGeom prst="rect">
            <a:avLst/>
          </a:prstGeom>
          <a:noFill/>
          <a:ln>
            <a:noFill/>
          </a:ln>
        </p:spPr>
        <p:txBody>
          <a:bodyPr wrap="square" lIns="0" tIns="0" rIns="0" bIns="0" anchor="ctr"/>
          <a:lstStyle/>
          <a:p>
            <a:pPr algn="l"/>
            <a:r>
              <a:rPr lang="en-US" sz="1900">
                <a:solidFill>
                  <a:srgbClr val="536174"/>
                </a:solidFill>
                <a:latin typeface="Aptos"/>
              </a:rPr>
              <a:t>They come from the application environment — not just from customer preference.</a:t>
            </a:r>
            <a:endParaRPr lang="en-US" sz="1900"/>
          </a:p>
        </p:txBody>
      </p:sp>
      <p:sp>
        <p:nvSpPr>
          <p:cNvPr id="30" name="Box 30"/>
          <p:cNvSpPr/>
          <p:nvPr/>
        </p:nvSpPr>
        <p:spPr>
          <a:xfrm>
            <a:off x="685800" y="2331720"/>
            <a:ext cx="3401568" cy="2377440"/>
          </a:xfrm>
          <a:prstGeom prst="roundRect">
            <a:avLst/>
          </a:prstGeom>
          <a:solidFill>
            <a:srgbClr val="FFFFFF"/>
          </a:solidFill>
          <a:ln w="12700">
            <a:solidFill>
              <a:srgbClr val="E2E7EE"/>
            </a:solidFill>
          </a:ln>
        </p:spPr>
      </p:sp>
      <p:sp>
        <p:nvSpPr>
          <p:cNvPr id="32" name="Kicker"/>
          <p:cNvSpPr/>
          <p:nvPr/>
        </p:nvSpPr>
        <p:spPr>
          <a:xfrm>
            <a:off x="914400" y="2496312"/>
            <a:ext cx="2990088" cy="228600"/>
          </a:xfrm>
          <a:prstGeom prst="rect">
            <a:avLst/>
          </a:prstGeom>
          <a:noFill/>
          <a:ln>
            <a:noFill/>
          </a:ln>
        </p:spPr>
        <p:txBody>
          <a:bodyPr wrap="square" lIns="0" tIns="0" rIns="0" bIns="0" anchor="ctr"/>
          <a:lstStyle/>
          <a:p>
            <a:pPr algn="l"/>
            <a:r>
              <a:rPr lang="en-US" sz="1000" b="1">
                <a:solidFill>
                  <a:srgbClr val="5B7CFA"/>
                </a:solidFill>
                <a:latin typeface="Aptos"/>
              </a:rPr>
              <a:t>LEGISLATION</a:t>
            </a:r>
            <a:endParaRPr lang="en-US" sz="1000"/>
          </a:p>
        </p:txBody>
      </p:sp>
      <p:sp>
        <p:nvSpPr>
          <p:cNvPr id="33" name="CardTitle"/>
          <p:cNvSpPr/>
          <p:nvPr/>
        </p:nvSpPr>
        <p:spPr>
          <a:xfrm>
            <a:off x="914400" y="28346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Privacy / GDPR</a:t>
            </a:r>
            <a:endParaRPr lang="en-US" sz="1800"/>
          </a:p>
        </p:txBody>
      </p:sp>
      <p:sp>
        <p:nvSpPr>
          <p:cNvPr id="34" name="CardBody"/>
          <p:cNvSpPr/>
          <p:nvPr/>
        </p:nvSpPr>
        <p:spPr>
          <a:xfrm>
            <a:off x="914400" y="3264408"/>
            <a:ext cx="2990088" cy="1280160"/>
          </a:xfrm>
          <a:prstGeom prst="rect">
            <a:avLst/>
          </a:prstGeom>
          <a:noFill/>
          <a:ln>
            <a:noFill/>
          </a:ln>
        </p:spPr>
        <p:txBody>
          <a:bodyPr wrap="square" lIns="0" tIns="0" rIns="0" bIns="0" anchor="ctr"/>
          <a:lstStyle/>
          <a:p>
            <a:pPr algn="l"/>
            <a:r>
              <a:rPr lang="en-US" sz="1400">
                <a:solidFill>
                  <a:srgbClr val="536174"/>
                </a:solidFill>
                <a:latin typeface="Aptos"/>
              </a:rPr>
              <a:t>Consent, data minimization, subject rights.</a:t>
            </a:r>
            <a:endParaRPr lang="en-US" sz="1400"/>
          </a:p>
        </p:txBody>
      </p:sp>
      <p:sp>
        <p:nvSpPr>
          <p:cNvPr id="40" name="Box 40"/>
          <p:cNvSpPr/>
          <p:nvPr/>
        </p:nvSpPr>
        <p:spPr>
          <a:xfrm>
            <a:off x="4389120" y="2331720"/>
            <a:ext cx="3401568" cy="2377440"/>
          </a:xfrm>
          <a:prstGeom prst="roundRect">
            <a:avLst/>
          </a:prstGeom>
          <a:solidFill>
            <a:srgbClr val="FFFFFF"/>
          </a:solidFill>
          <a:ln w="12700">
            <a:solidFill>
              <a:srgbClr val="E2E7EE"/>
            </a:solidFill>
          </a:ln>
        </p:spPr>
      </p:sp>
      <p:sp>
        <p:nvSpPr>
          <p:cNvPr id="42" name="Kicker"/>
          <p:cNvSpPr/>
          <p:nvPr/>
        </p:nvSpPr>
        <p:spPr>
          <a:xfrm>
            <a:off x="4617720" y="2496312"/>
            <a:ext cx="2990088" cy="228600"/>
          </a:xfrm>
          <a:prstGeom prst="rect">
            <a:avLst/>
          </a:prstGeom>
          <a:noFill/>
          <a:ln>
            <a:noFill/>
          </a:ln>
        </p:spPr>
        <p:txBody>
          <a:bodyPr wrap="square" lIns="0" tIns="0" rIns="0" bIns="0" anchor="ctr"/>
          <a:lstStyle/>
          <a:p>
            <a:pPr algn="l"/>
            <a:r>
              <a:rPr lang="en-US" sz="1000" b="1">
                <a:solidFill>
                  <a:srgbClr val="25B7A5"/>
                </a:solidFill>
                <a:latin typeface="Aptos"/>
              </a:rPr>
              <a:t>STANDARDS</a:t>
            </a:r>
            <a:endParaRPr lang="en-US" sz="1000"/>
          </a:p>
        </p:txBody>
      </p:sp>
      <p:sp>
        <p:nvSpPr>
          <p:cNvPr id="43" name="CardTitle"/>
          <p:cNvSpPr/>
          <p:nvPr/>
        </p:nvSpPr>
        <p:spPr>
          <a:xfrm>
            <a:off x="4617720" y="28346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Payments</a:t>
            </a:r>
            <a:endParaRPr lang="en-US" sz="1800"/>
          </a:p>
        </p:txBody>
      </p:sp>
      <p:sp>
        <p:nvSpPr>
          <p:cNvPr id="44" name="CardBody"/>
          <p:cNvSpPr/>
          <p:nvPr/>
        </p:nvSpPr>
        <p:spPr>
          <a:xfrm>
            <a:off x="4617720" y="3264408"/>
            <a:ext cx="2990088" cy="1280160"/>
          </a:xfrm>
          <a:prstGeom prst="rect">
            <a:avLst/>
          </a:prstGeom>
          <a:noFill/>
          <a:ln>
            <a:noFill/>
          </a:ln>
        </p:spPr>
        <p:txBody>
          <a:bodyPr wrap="square" lIns="0" tIns="0" rIns="0" bIns="0" anchor="ctr"/>
          <a:lstStyle/>
          <a:p>
            <a:pPr algn="l"/>
            <a:r>
              <a:rPr lang="en-US" sz="1400">
                <a:solidFill>
                  <a:srgbClr val="536174"/>
                </a:solidFill>
                <a:latin typeface="Aptos"/>
              </a:rPr>
              <a:t>Security, logging and card data handling rules.</a:t>
            </a:r>
            <a:endParaRPr lang="en-US" sz="1400"/>
          </a:p>
        </p:txBody>
      </p:sp>
      <p:sp>
        <p:nvSpPr>
          <p:cNvPr id="50" name="Box 50"/>
          <p:cNvSpPr/>
          <p:nvPr/>
        </p:nvSpPr>
        <p:spPr>
          <a:xfrm>
            <a:off x="8092440" y="2331720"/>
            <a:ext cx="3401568" cy="2377440"/>
          </a:xfrm>
          <a:prstGeom prst="roundRect">
            <a:avLst/>
          </a:prstGeom>
          <a:solidFill>
            <a:srgbClr val="FFFFFF"/>
          </a:solidFill>
          <a:ln w="12700">
            <a:solidFill>
              <a:srgbClr val="E2E7EE"/>
            </a:solidFill>
          </a:ln>
        </p:spPr>
      </p:sp>
      <p:sp>
        <p:nvSpPr>
          <p:cNvPr id="52" name="Kicker"/>
          <p:cNvSpPr/>
          <p:nvPr/>
        </p:nvSpPr>
        <p:spPr>
          <a:xfrm>
            <a:off x="8321040" y="2496312"/>
            <a:ext cx="2990088" cy="228600"/>
          </a:xfrm>
          <a:prstGeom prst="rect">
            <a:avLst/>
          </a:prstGeom>
          <a:noFill/>
          <a:ln>
            <a:noFill/>
          </a:ln>
        </p:spPr>
        <p:txBody>
          <a:bodyPr wrap="square" lIns="0" tIns="0" rIns="0" bIns="0" anchor="ctr"/>
          <a:lstStyle/>
          <a:p>
            <a:pPr algn="l"/>
            <a:r>
              <a:rPr lang="en-US" sz="1000" b="1">
                <a:solidFill>
                  <a:srgbClr val="F6B44C"/>
                </a:solidFill>
                <a:latin typeface="Aptos"/>
              </a:rPr>
              <a:t>BUSINESS</a:t>
            </a:r>
            <a:endParaRPr lang="en-US" sz="1000"/>
          </a:p>
        </p:txBody>
      </p:sp>
      <p:sp>
        <p:nvSpPr>
          <p:cNvPr id="53" name="CardTitle"/>
          <p:cNvSpPr/>
          <p:nvPr/>
        </p:nvSpPr>
        <p:spPr>
          <a:xfrm>
            <a:off x="8321040" y="2834640"/>
            <a:ext cx="2990088" cy="347472"/>
          </a:xfrm>
          <a:prstGeom prst="rect">
            <a:avLst/>
          </a:prstGeom>
          <a:noFill/>
          <a:ln>
            <a:noFill/>
          </a:ln>
        </p:spPr>
        <p:txBody>
          <a:bodyPr wrap="square" lIns="0" tIns="0" rIns="0" bIns="0" anchor="ctr"/>
          <a:lstStyle/>
          <a:p>
            <a:pPr algn="l"/>
            <a:r>
              <a:rPr lang="en-US" sz="1800" b="1">
                <a:solidFill>
                  <a:srgbClr val="172033"/>
                </a:solidFill>
                <a:latin typeface="Aptos"/>
              </a:rPr>
              <a:t>Accounting rules</a:t>
            </a:r>
            <a:endParaRPr lang="en-US" sz="1800"/>
          </a:p>
        </p:txBody>
      </p:sp>
      <p:sp>
        <p:nvSpPr>
          <p:cNvPr id="54" name="CardBody"/>
          <p:cNvSpPr/>
          <p:nvPr/>
        </p:nvSpPr>
        <p:spPr>
          <a:xfrm>
            <a:off x="8321040" y="3264408"/>
            <a:ext cx="2990088" cy="1280160"/>
          </a:xfrm>
          <a:prstGeom prst="rect">
            <a:avLst/>
          </a:prstGeom>
          <a:noFill/>
          <a:ln>
            <a:noFill/>
          </a:ln>
        </p:spPr>
        <p:txBody>
          <a:bodyPr wrap="square" lIns="0" tIns="0" rIns="0" bIns="0" anchor="ctr"/>
          <a:lstStyle/>
          <a:p>
            <a:pPr algn="l"/>
            <a:r>
              <a:rPr lang="en-US" sz="1400">
                <a:solidFill>
                  <a:srgbClr val="536174"/>
                </a:solidFill>
                <a:latin typeface="Aptos"/>
              </a:rPr>
              <a:t>VAT, cancellations, credits and retention periods.</a:t>
            </a:r>
            <a:endParaRPr lang="en-US" sz="1400"/>
          </a:p>
        </p:txBody>
      </p:sp>
      <p:sp>
        <p:nvSpPr>
          <p:cNvPr id="60" name="Box 60"/>
          <p:cNvSpPr/>
          <p:nvPr/>
        </p:nvSpPr>
        <p:spPr>
          <a:xfrm>
            <a:off x="1051560" y="5166360"/>
            <a:ext cx="10058400" cy="640080"/>
          </a:xfrm>
          <a:prstGeom prst="roundRect">
            <a:avLst/>
          </a:prstGeom>
          <a:solidFill>
            <a:srgbClr val="FFF5E5"/>
          </a:solidFill>
          <a:ln w="12700">
            <a:solidFill>
              <a:srgbClr val="F8D99D"/>
            </a:solidFill>
          </a:ln>
        </p:spPr>
      </p:sp>
      <p:sp>
        <p:nvSpPr>
          <p:cNvPr id="61" name="Warning"/>
          <p:cNvSpPr/>
          <p:nvPr/>
        </p:nvSpPr>
        <p:spPr>
          <a:xfrm>
            <a:off x="1325880" y="5358384"/>
            <a:ext cx="9509760" cy="256032"/>
          </a:xfrm>
          <a:prstGeom prst="rect">
            <a:avLst/>
          </a:prstGeom>
          <a:noFill/>
          <a:ln>
            <a:noFill/>
          </a:ln>
        </p:spPr>
        <p:txBody>
          <a:bodyPr wrap="square" lIns="0" tIns="0" rIns="0" bIns="0" anchor="ctr"/>
          <a:lstStyle/>
          <a:p>
            <a:pPr algn="l"/>
            <a:r>
              <a:rPr lang="en-US" sz="1400" b="1">
                <a:solidFill>
                  <a:srgbClr val="8A5A12"/>
                </a:solidFill>
                <a:latin typeface="Aptos"/>
              </a:rPr>
              <a:t>Ask domain experts: the most dangerous requirements are often considered “self-evident”.</a:t>
            </a:r>
            <a:endParaRPr lang="en-US" sz="14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09</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Stakeholders: who has a claim?</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Circle 20"/>
          <p:cNvSpPr/>
          <p:nvPr/>
        </p:nvSpPr>
        <p:spPr>
          <a:xfrm>
            <a:off x="4983480" y="2103120"/>
            <a:ext cx="2148840" cy="2148840"/>
          </a:xfrm>
          <a:prstGeom prst="ellipse">
            <a:avLst/>
          </a:prstGeom>
          <a:solidFill>
            <a:srgbClr val="172033"/>
          </a:solidFill>
          <a:ln>
            <a:noFill/>
          </a:ln>
        </p:spPr>
      </p:sp>
      <p:sp>
        <p:nvSpPr>
          <p:cNvPr id="21" name="System"/>
          <p:cNvSpPr/>
          <p:nvPr/>
        </p:nvSpPr>
        <p:spPr>
          <a:xfrm>
            <a:off x="5266944" y="2788920"/>
            <a:ext cx="1600200" cy="457200"/>
          </a:xfrm>
          <a:prstGeom prst="rect">
            <a:avLst/>
          </a:prstGeom>
          <a:noFill/>
          <a:ln>
            <a:noFill/>
          </a:ln>
        </p:spPr>
        <p:txBody>
          <a:bodyPr wrap="square" lIns="0" tIns="0" rIns="0" bIns="0" anchor="ctr"/>
          <a:lstStyle/>
          <a:p>
            <a:pPr algn="l"/>
            <a:r>
              <a:rPr lang="en-US" sz="1800" b="1">
                <a:solidFill>
                  <a:srgbClr val="FFFFFF"/>
                </a:solidFill>
                <a:latin typeface="Aptos"/>
              </a:rPr>
              <a:t>SYSTEM</a:t>
            </a:r>
            <a:endParaRPr lang="en-US" sz="1800"/>
          </a:p>
        </p:txBody>
      </p:sp>
      <p:sp>
        <p:nvSpPr>
          <p:cNvPr id="30" name="Circle 30"/>
          <p:cNvSpPr/>
          <p:nvPr/>
        </p:nvSpPr>
        <p:spPr>
          <a:xfrm>
            <a:off x="1005840" y="1691640"/>
            <a:ext cx="1417320" cy="1417320"/>
          </a:xfrm>
          <a:prstGeom prst="ellipse">
            <a:avLst/>
          </a:prstGeom>
          <a:solidFill>
            <a:srgbClr val="25B7A5"/>
          </a:solidFill>
          <a:ln>
            <a:noFill/>
          </a:ln>
        </p:spPr>
      </p:sp>
      <p:sp>
        <p:nvSpPr>
          <p:cNvPr id="31" name="User"/>
          <p:cNvSpPr/>
          <p:nvPr/>
        </p:nvSpPr>
        <p:spPr>
          <a:xfrm>
            <a:off x="1143000" y="2139696"/>
            <a:ext cx="1143000" cy="457200"/>
          </a:xfrm>
          <a:prstGeom prst="rect">
            <a:avLst/>
          </a:prstGeom>
          <a:noFill/>
          <a:ln>
            <a:noFill/>
          </a:ln>
        </p:spPr>
        <p:txBody>
          <a:bodyPr wrap="square" lIns="0" tIns="0" rIns="0" bIns="0" anchor="ctr"/>
          <a:lstStyle/>
          <a:p>
            <a:pPr algn="l"/>
            <a:r>
              <a:rPr lang="en-US" sz="1400" b="1">
                <a:solidFill>
                  <a:srgbClr val="FFFFFF"/>
                </a:solidFill>
                <a:latin typeface="Aptos"/>
              </a:rPr>
              <a:t>User</a:t>
            </a:r>
            <a:endParaRPr lang="en-US" sz="1400"/>
          </a:p>
        </p:txBody>
      </p:sp>
      <p:sp>
        <p:nvSpPr>
          <p:cNvPr id="40" name="Circle 40"/>
          <p:cNvSpPr/>
          <p:nvPr/>
        </p:nvSpPr>
        <p:spPr>
          <a:xfrm>
            <a:off x="9006840" y="1691640"/>
            <a:ext cx="1417320" cy="1417320"/>
          </a:xfrm>
          <a:prstGeom prst="ellipse">
            <a:avLst/>
          </a:prstGeom>
          <a:solidFill>
            <a:srgbClr val="5B7CFA"/>
          </a:solidFill>
          <a:ln>
            <a:noFill/>
          </a:ln>
        </p:spPr>
      </p:sp>
      <p:sp>
        <p:nvSpPr>
          <p:cNvPr id="41" name="Buyer"/>
          <p:cNvSpPr/>
          <p:nvPr/>
        </p:nvSpPr>
        <p:spPr>
          <a:xfrm>
            <a:off x="9144000" y="2139696"/>
            <a:ext cx="1143000" cy="457200"/>
          </a:xfrm>
          <a:prstGeom prst="rect">
            <a:avLst/>
          </a:prstGeom>
          <a:noFill/>
          <a:ln>
            <a:noFill/>
          </a:ln>
        </p:spPr>
        <p:txBody>
          <a:bodyPr wrap="square" lIns="0" tIns="0" rIns="0" bIns="0" anchor="ctr"/>
          <a:lstStyle/>
          <a:p>
            <a:pPr algn="l"/>
            <a:r>
              <a:rPr lang="en-US" sz="1400" b="1">
                <a:solidFill>
                  <a:srgbClr val="FFFFFF"/>
                </a:solidFill>
                <a:latin typeface="Aptos"/>
              </a:rPr>
              <a:t>Customer</a:t>
            </a:r>
            <a:endParaRPr lang="en-US" sz="1400"/>
          </a:p>
        </p:txBody>
      </p:sp>
      <p:sp>
        <p:nvSpPr>
          <p:cNvPr id="50" name="Circle 50"/>
          <p:cNvSpPr/>
          <p:nvPr/>
        </p:nvSpPr>
        <p:spPr>
          <a:xfrm>
            <a:off x="1005840" y="4251960"/>
            <a:ext cx="1417320" cy="1417320"/>
          </a:xfrm>
          <a:prstGeom prst="ellipse">
            <a:avLst/>
          </a:prstGeom>
          <a:solidFill>
            <a:srgbClr val="F6B44C"/>
          </a:solidFill>
          <a:ln>
            <a:noFill/>
          </a:ln>
        </p:spPr>
      </p:sp>
      <p:sp>
        <p:nvSpPr>
          <p:cNvPr id="51" name="Ops"/>
          <p:cNvSpPr/>
          <p:nvPr/>
        </p:nvSpPr>
        <p:spPr>
          <a:xfrm>
            <a:off x="1170432" y="4700016"/>
            <a:ext cx="1097280" cy="457200"/>
          </a:xfrm>
          <a:prstGeom prst="rect">
            <a:avLst/>
          </a:prstGeom>
          <a:noFill/>
          <a:ln>
            <a:noFill/>
          </a:ln>
        </p:spPr>
        <p:txBody>
          <a:bodyPr wrap="square" lIns="0" tIns="0" rIns="0" bIns="0" anchor="ctr"/>
          <a:lstStyle/>
          <a:p>
            <a:pPr algn="l"/>
            <a:r>
              <a:rPr lang="en-US" sz="1400" b="1">
                <a:solidFill>
                  <a:srgbClr val="FFFFFF"/>
                </a:solidFill>
                <a:latin typeface="Aptos"/>
              </a:rPr>
              <a:t>Ops</a:t>
            </a:r>
            <a:endParaRPr lang="en-US" sz="1400"/>
          </a:p>
        </p:txBody>
      </p:sp>
      <p:sp>
        <p:nvSpPr>
          <p:cNvPr id="60" name="Circle 60"/>
          <p:cNvSpPr/>
          <p:nvPr/>
        </p:nvSpPr>
        <p:spPr>
          <a:xfrm>
            <a:off x="9006840" y="4251960"/>
            <a:ext cx="1417320" cy="1417320"/>
          </a:xfrm>
          <a:prstGeom prst="ellipse">
            <a:avLst/>
          </a:prstGeom>
          <a:solidFill>
            <a:srgbClr val="D06B4F"/>
          </a:solidFill>
          <a:ln>
            <a:noFill/>
          </a:ln>
        </p:spPr>
      </p:sp>
      <p:sp>
        <p:nvSpPr>
          <p:cNvPr id="61" name="Reg"/>
          <p:cNvSpPr/>
          <p:nvPr/>
        </p:nvSpPr>
        <p:spPr>
          <a:xfrm>
            <a:off x="9144000" y="4700016"/>
            <a:ext cx="1143000" cy="457200"/>
          </a:xfrm>
          <a:prstGeom prst="rect">
            <a:avLst/>
          </a:prstGeom>
          <a:noFill/>
          <a:ln>
            <a:noFill/>
          </a:ln>
        </p:spPr>
        <p:txBody>
          <a:bodyPr wrap="square" lIns="0" tIns="0" rIns="0" bIns="0" anchor="ctr"/>
          <a:lstStyle/>
          <a:p>
            <a:pPr algn="l"/>
            <a:r>
              <a:rPr lang="en-US" sz="1400" b="1">
                <a:solidFill>
                  <a:srgbClr val="FFFFFF"/>
                </a:solidFill>
                <a:latin typeface="Aptos"/>
              </a:rPr>
              <a:t>Regulator</a:t>
            </a:r>
            <a:endParaRPr lang="en-US" sz="1400"/>
          </a:p>
        </p:txBody>
      </p:sp>
      <p:cxnSp>
        <p:nvCxnSpPr>
          <p:cNvPr id="70" name="Line 70"/>
          <p:cNvCxnSpPr>
            <a:cxnSpLocks/>
            <a:endCxn id="20" idx="2"/>
          </p:cNvCxnSpPr>
          <p:nvPr/>
        </p:nvCxnSpPr>
        <p:spPr>
          <a:xfrm>
            <a:off x="2423160" y="2400300"/>
            <a:ext cx="2560320" cy="777240"/>
          </a:xfrm>
          <a:prstGeom prst="line">
            <a:avLst/>
          </a:prstGeom>
          <a:ln w="25400">
            <a:solidFill>
              <a:srgbClr val="AAB4C3"/>
            </a:solidFill>
          </a:ln>
        </p:spPr>
      </p:cxnSp>
      <p:cxnSp>
        <p:nvCxnSpPr>
          <p:cNvPr id="71" name="Line 71"/>
          <p:cNvCxnSpPr>
            <a:cxnSpLocks/>
            <a:stCxn id="20" idx="6"/>
            <a:endCxn id="40" idx="2"/>
          </p:cNvCxnSpPr>
          <p:nvPr/>
        </p:nvCxnSpPr>
        <p:spPr>
          <a:xfrm flipV="1">
            <a:off x="7132320" y="2400300"/>
            <a:ext cx="1874520" cy="777240"/>
          </a:xfrm>
          <a:prstGeom prst="line">
            <a:avLst/>
          </a:prstGeom>
          <a:ln w="25400">
            <a:solidFill>
              <a:srgbClr val="AAB4C3"/>
            </a:solidFill>
          </a:ln>
        </p:spPr>
      </p:cxnSp>
      <p:cxnSp>
        <p:nvCxnSpPr>
          <p:cNvPr id="72" name="Line 72"/>
          <p:cNvCxnSpPr>
            <a:cxnSpLocks/>
            <a:stCxn id="50" idx="6"/>
            <a:endCxn id="20" idx="3"/>
          </p:cNvCxnSpPr>
          <p:nvPr/>
        </p:nvCxnSpPr>
        <p:spPr>
          <a:xfrm flipV="1">
            <a:off x="2423160" y="3937270"/>
            <a:ext cx="2875010" cy="1023350"/>
          </a:xfrm>
          <a:prstGeom prst="line">
            <a:avLst/>
          </a:prstGeom>
          <a:ln w="25400">
            <a:solidFill>
              <a:srgbClr val="AAB4C3"/>
            </a:solidFill>
          </a:ln>
        </p:spPr>
      </p:cxnSp>
      <p:cxnSp>
        <p:nvCxnSpPr>
          <p:cNvPr id="73" name="Line 73"/>
          <p:cNvCxnSpPr>
            <a:cxnSpLocks/>
            <a:stCxn id="20" idx="5"/>
            <a:endCxn id="60" idx="2"/>
          </p:cNvCxnSpPr>
          <p:nvPr/>
        </p:nvCxnSpPr>
        <p:spPr>
          <a:xfrm>
            <a:off x="6817630" y="3937270"/>
            <a:ext cx="2189210" cy="1023350"/>
          </a:xfrm>
          <a:prstGeom prst="line">
            <a:avLst/>
          </a:prstGeom>
          <a:ln w="25400">
            <a:solidFill>
              <a:srgbClr val="AAB4C3"/>
            </a:solidFill>
          </a:ln>
        </p:spPr>
      </p:cxnSp>
      <p:sp>
        <p:nvSpPr>
          <p:cNvPr id="80" name="Point"/>
          <p:cNvSpPr/>
          <p:nvPr/>
        </p:nvSpPr>
        <p:spPr>
          <a:xfrm>
            <a:off x="3200400" y="5166360"/>
            <a:ext cx="5852160" cy="502920"/>
          </a:xfrm>
          <a:prstGeom prst="rect">
            <a:avLst/>
          </a:prstGeom>
          <a:noFill/>
          <a:ln>
            <a:noFill/>
          </a:ln>
        </p:spPr>
        <p:txBody>
          <a:bodyPr wrap="square" lIns="0" tIns="0" rIns="0" bIns="0" anchor="ctr"/>
          <a:lstStyle/>
          <a:p>
            <a:pPr algn="l"/>
            <a:r>
              <a:rPr lang="en-US" sz="1600" b="1">
                <a:solidFill>
                  <a:srgbClr val="536174"/>
                </a:solidFill>
                <a:latin typeface="Aptos"/>
              </a:rPr>
              <a:t>Needs conflict. Requirements analysis is also negotiation.</a:t>
            </a:r>
            <a:endParaRPr lang="en-US" sz="16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10</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Requirements elicitation (Elicitation)</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685800" y="1600200"/>
            <a:ext cx="2560320" cy="3566160"/>
          </a:xfrm>
          <a:prstGeom prst="roundRect">
            <a:avLst/>
          </a:prstGeom>
          <a:solidFill>
            <a:srgbClr val="FFFFFF"/>
          </a:solidFill>
          <a:ln w="12700">
            <a:solidFill>
              <a:srgbClr val="E2E7EE"/>
            </a:solidFill>
          </a:ln>
        </p:spPr>
      </p:sp>
      <p:sp>
        <p:nvSpPr>
          <p:cNvPr id="22" name="Kicker"/>
          <p:cNvSpPr/>
          <p:nvPr/>
        </p:nvSpPr>
        <p:spPr>
          <a:xfrm>
            <a:off x="914400" y="1764792"/>
            <a:ext cx="2148840" cy="228600"/>
          </a:xfrm>
          <a:prstGeom prst="rect">
            <a:avLst/>
          </a:prstGeom>
          <a:noFill/>
          <a:ln>
            <a:noFill/>
          </a:ln>
        </p:spPr>
        <p:txBody>
          <a:bodyPr wrap="square" lIns="0" tIns="0" rIns="0" bIns="0" anchor="ctr"/>
          <a:lstStyle/>
          <a:p>
            <a:pPr algn="l"/>
            <a:r>
              <a:rPr lang="en-US" sz="1000" b="1">
                <a:solidFill>
                  <a:srgbClr val="25B7A5"/>
                </a:solidFill>
                <a:latin typeface="Aptos"/>
              </a:rPr>
              <a:t>ASK</a:t>
            </a:r>
            <a:endParaRPr lang="en-US" sz="1000"/>
          </a:p>
        </p:txBody>
      </p:sp>
      <p:sp>
        <p:nvSpPr>
          <p:cNvPr id="23" name="CardTitle"/>
          <p:cNvSpPr/>
          <p:nvPr/>
        </p:nvSpPr>
        <p:spPr>
          <a:xfrm>
            <a:off x="914400" y="2103120"/>
            <a:ext cx="2148840" cy="347472"/>
          </a:xfrm>
          <a:prstGeom prst="rect">
            <a:avLst/>
          </a:prstGeom>
          <a:noFill/>
          <a:ln>
            <a:noFill/>
          </a:ln>
        </p:spPr>
        <p:txBody>
          <a:bodyPr wrap="square" lIns="0" tIns="0" rIns="0" bIns="0" anchor="ctr"/>
          <a:lstStyle/>
          <a:p>
            <a:pPr algn="l"/>
            <a:r>
              <a:rPr lang="en-US" sz="1800" b="1">
                <a:solidFill>
                  <a:srgbClr val="172033"/>
                </a:solidFill>
                <a:latin typeface="Aptos"/>
              </a:rPr>
              <a:t>Interviews</a:t>
            </a:r>
            <a:endParaRPr lang="en-US" sz="1800"/>
          </a:p>
        </p:txBody>
      </p:sp>
      <p:sp>
        <p:nvSpPr>
          <p:cNvPr id="24" name="CardBody"/>
          <p:cNvSpPr/>
          <p:nvPr/>
        </p:nvSpPr>
        <p:spPr>
          <a:xfrm>
            <a:off x="914400" y="2532888"/>
            <a:ext cx="2148840" cy="2468880"/>
          </a:xfrm>
          <a:prstGeom prst="rect">
            <a:avLst/>
          </a:prstGeom>
          <a:noFill/>
          <a:ln>
            <a:noFill/>
          </a:ln>
        </p:spPr>
        <p:txBody>
          <a:bodyPr wrap="square" lIns="0" tIns="0" rIns="0" bIns="0" anchor="ctr"/>
          <a:lstStyle/>
          <a:p>
            <a:pPr algn="l"/>
            <a:r>
              <a:rPr lang="en-US" sz="1400">
                <a:solidFill>
                  <a:srgbClr val="536174"/>
                </a:solidFill>
                <a:latin typeface="Aptos"/>
              </a:rPr>
              <a:t>Open questions, “why?”, critical incidents.</a:t>
            </a:r>
            <a:endParaRPr lang="en-US" sz="1400"/>
          </a:p>
        </p:txBody>
      </p:sp>
      <p:sp>
        <p:nvSpPr>
          <p:cNvPr id="30" name="Box 30"/>
          <p:cNvSpPr/>
          <p:nvPr/>
        </p:nvSpPr>
        <p:spPr>
          <a:xfrm>
            <a:off x="3429000" y="1600200"/>
            <a:ext cx="2560320" cy="3566160"/>
          </a:xfrm>
          <a:prstGeom prst="roundRect">
            <a:avLst/>
          </a:prstGeom>
          <a:solidFill>
            <a:srgbClr val="FFFFFF"/>
          </a:solidFill>
          <a:ln w="12700">
            <a:solidFill>
              <a:srgbClr val="E2E7EE"/>
            </a:solidFill>
          </a:ln>
        </p:spPr>
      </p:sp>
      <p:sp>
        <p:nvSpPr>
          <p:cNvPr id="32" name="Kicker"/>
          <p:cNvSpPr/>
          <p:nvPr/>
        </p:nvSpPr>
        <p:spPr>
          <a:xfrm>
            <a:off x="3657600" y="1764792"/>
            <a:ext cx="2148840" cy="228600"/>
          </a:xfrm>
          <a:prstGeom prst="rect">
            <a:avLst/>
          </a:prstGeom>
          <a:noFill/>
          <a:ln>
            <a:noFill/>
          </a:ln>
        </p:spPr>
        <p:txBody>
          <a:bodyPr wrap="square" lIns="0" tIns="0" rIns="0" bIns="0" anchor="ctr"/>
          <a:lstStyle/>
          <a:p>
            <a:pPr algn="l"/>
            <a:r>
              <a:rPr lang="en-US" sz="1000" b="1">
                <a:solidFill>
                  <a:srgbClr val="5B7CFA"/>
                </a:solidFill>
                <a:latin typeface="Aptos"/>
              </a:rPr>
              <a:t>WATCH</a:t>
            </a:r>
            <a:endParaRPr lang="en-US" sz="1000"/>
          </a:p>
        </p:txBody>
      </p:sp>
      <p:sp>
        <p:nvSpPr>
          <p:cNvPr id="33" name="CardTitle"/>
          <p:cNvSpPr/>
          <p:nvPr/>
        </p:nvSpPr>
        <p:spPr>
          <a:xfrm>
            <a:off x="3657600" y="2103120"/>
            <a:ext cx="2148840" cy="347472"/>
          </a:xfrm>
          <a:prstGeom prst="rect">
            <a:avLst/>
          </a:prstGeom>
          <a:noFill/>
          <a:ln>
            <a:noFill/>
          </a:ln>
        </p:spPr>
        <p:txBody>
          <a:bodyPr wrap="square" lIns="0" tIns="0" rIns="0" bIns="0" anchor="ctr"/>
          <a:lstStyle/>
          <a:p>
            <a:pPr algn="l"/>
            <a:r>
              <a:rPr lang="en-US" sz="1800" b="1">
                <a:solidFill>
                  <a:srgbClr val="172033"/>
                </a:solidFill>
                <a:latin typeface="Aptos"/>
              </a:rPr>
              <a:t>Observation</a:t>
            </a:r>
            <a:endParaRPr lang="en-US" sz="1800"/>
          </a:p>
        </p:txBody>
      </p:sp>
      <p:sp>
        <p:nvSpPr>
          <p:cNvPr id="34" name="CardBody"/>
          <p:cNvSpPr/>
          <p:nvPr/>
        </p:nvSpPr>
        <p:spPr>
          <a:xfrm>
            <a:off x="3657600" y="2532888"/>
            <a:ext cx="2148840" cy="2468880"/>
          </a:xfrm>
          <a:prstGeom prst="rect">
            <a:avLst/>
          </a:prstGeom>
          <a:noFill/>
          <a:ln>
            <a:noFill/>
          </a:ln>
        </p:spPr>
        <p:txBody>
          <a:bodyPr wrap="square" lIns="0" tIns="0" rIns="0" bIns="0" anchor="ctr"/>
          <a:lstStyle/>
          <a:p>
            <a:pPr algn="l"/>
            <a:r>
              <a:rPr lang="en-US" sz="1400">
                <a:solidFill>
                  <a:srgbClr val="536174"/>
                </a:solidFill>
                <a:latin typeface="Aptos"/>
              </a:rPr>
              <a:t>The actual workflow often differs from the described one.</a:t>
            </a:r>
            <a:endParaRPr lang="en-US" sz="1400"/>
          </a:p>
        </p:txBody>
      </p:sp>
      <p:sp>
        <p:nvSpPr>
          <p:cNvPr id="40" name="Box 40"/>
          <p:cNvSpPr/>
          <p:nvPr/>
        </p:nvSpPr>
        <p:spPr>
          <a:xfrm>
            <a:off x="6172200" y="1600200"/>
            <a:ext cx="2560320" cy="3566160"/>
          </a:xfrm>
          <a:prstGeom prst="roundRect">
            <a:avLst/>
          </a:prstGeom>
          <a:solidFill>
            <a:srgbClr val="FFFFFF"/>
          </a:solidFill>
          <a:ln w="12700">
            <a:solidFill>
              <a:srgbClr val="E2E7EE"/>
            </a:solidFill>
          </a:ln>
        </p:spPr>
      </p:sp>
      <p:sp>
        <p:nvSpPr>
          <p:cNvPr id="42" name="Kicker"/>
          <p:cNvSpPr/>
          <p:nvPr/>
        </p:nvSpPr>
        <p:spPr>
          <a:xfrm>
            <a:off x="6400800" y="1764792"/>
            <a:ext cx="2148840" cy="228600"/>
          </a:xfrm>
          <a:prstGeom prst="rect">
            <a:avLst/>
          </a:prstGeom>
          <a:noFill/>
          <a:ln>
            <a:noFill/>
          </a:ln>
        </p:spPr>
        <p:txBody>
          <a:bodyPr wrap="square" lIns="0" tIns="0" rIns="0" bIns="0" anchor="ctr"/>
          <a:lstStyle/>
          <a:p>
            <a:pPr algn="l"/>
            <a:r>
              <a:rPr lang="en-US" sz="1000" b="1">
                <a:solidFill>
                  <a:srgbClr val="F6B44C"/>
                </a:solidFill>
                <a:latin typeface="Aptos"/>
              </a:rPr>
              <a:t>CREATE</a:t>
            </a:r>
            <a:endParaRPr lang="en-US" sz="1000"/>
          </a:p>
        </p:txBody>
      </p:sp>
      <p:sp>
        <p:nvSpPr>
          <p:cNvPr id="43" name="CardTitle"/>
          <p:cNvSpPr/>
          <p:nvPr/>
        </p:nvSpPr>
        <p:spPr>
          <a:xfrm>
            <a:off x="6400800" y="2103120"/>
            <a:ext cx="2148840" cy="347472"/>
          </a:xfrm>
          <a:prstGeom prst="rect">
            <a:avLst/>
          </a:prstGeom>
          <a:noFill/>
          <a:ln>
            <a:noFill/>
          </a:ln>
        </p:spPr>
        <p:txBody>
          <a:bodyPr wrap="square" lIns="0" tIns="0" rIns="0" bIns="0" anchor="ctr"/>
          <a:lstStyle/>
          <a:p>
            <a:pPr algn="l"/>
            <a:r>
              <a:rPr lang="en-US" sz="1800" b="1">
                <a:solidFill>
                  <a:srgbClr val="172033"/>
                </a:solidFill>
                <a:latin typeface="Aptos"/>
              </a:rPr>
              <a:t>Workshops</a:t>
            </a:r>
            <a:endParaRPr lang="en-US" sz="1800"/>
          </a:p>
        </p:txBody>
      </p:sp>
      <p:sp>
        <p:nvSpPr>
          <p:cNvPr id="44" name="CardBody"/>
          <p:cNvSpPr/>
          <p:nvPr/>
        </p:nvSpPr>
        <p:spPr>
          <a:xfrm>
            <a:off x="6400800" y="2532888"/>
            <a:ext cx="2148840" cy="2468880"/>
          </a:xfrm>
          <a:prstGeom prst="rect">
            <a:avLst/>
          </a:prstGeom>
          <a:noFill/>
          <a:ln>
            <a:noFill/>
          </a:ln>
        </p:spPr>
        <p:txBody>
          <a:bodyPr wrap="square" lIns="0" tIns="0" rIns="0" bIns="0" anchor="ctr"/>
          <a:lstStyle/>
          <a:p>
            <a:pPr algn="l"/>
            <a:r>
              <a:rPr lang="en-US" sz="1400">
                <a:solidFill>
                  <a:srgbClr val="536174"/>
                </a:solidFill>
                <a:latin typeface="Aptos"/>
              </a:rPr>
              <a:t>Common vocabulary, conflict resolution, story mapping.</a:t>
            </a:r>
            <a:endParaRPr lang="en-US" sz="1400"/>
          </a:p>
        </p:txBody>
      </p:sp>
      <p:sp>
        <p:nvSpPr>
          <p:cNvPr id="50" name="Box 50"/>
          <p:cNvSpPr/>
          <p:nvPr/>
        </p:nvSpPr>
        <p:spPr>
          <a:xfrm>
            <a:off x="8915400" y="1600200"/>
            <a:ext cx="2560320" cy="3566160"/>
          </a:xfrm>
          <a:prstGeom prst="roundRect">
            <a:avLst/>
          </a:prstGeom>
          <a:solidFill>
            <a:srgbClr val="FFFFFF"/>
          </a:solidFill>
          <a:ln w="12700">
            <a:solidFill>
              <a:srgbClr val="E2E7EE"/>
            </a:solidFill>
          </a:ln>
        </p:spPr>
      </p:sp>
      <p:sp>
        <p:nvSpPr>
          <p:cNvPr id="52" name="Kicker"/>
          <p:cNvSpPr/>
          <p:nvPr/>
        </p:nvSpPr>
        <p:spPr>
          <a:xfrm>
            <a:off x="9144000" y="1764792"/>
            <a:ext cx="2148840" cy="228600"/>
          </a:xfrm>
          <a:prstGeom prst="rect">
            <a:avLst/>
          </a:prstGeom>
          <a:noFill/>
          <a:ln>
            <a:noFill/>
          </a:ln>
        </p:spPr>
        <p:txBody>
          <a:bodyPr wrap="square" lIns="0" tIns="0" rIns="0" bIns="0" anchor="ctr"/>
          <a:lstStyle/>
          <a:p>
            <a:pPr algn="l"/>
            <a:r>
              <a:rPr lang="en-US" sz="1000" b="1">
                <a:solidFill>
                  <a:srgbClr val="D06B4F"/>
                </a:solidFill>
                <a:latin typeface="Aptos"/>
              </a:rPr>
              <a:t>LEARN</a:t>
            </a:r>
            <a:endParaRPr lang="en-US" sz="1000"/>
          </a:p>
        </p:txBody>
      </p:sp>
      <p:sp>
        <p:nvSpPr>
          <p:cNvPr id="53" name="CardTitle"/>
          <p:cNvSpPr/>
          <p:nvPr/>
        </p:nvSpPr>
        <p:spPr>
          <a:xfrm>
            <a:off x="9144000" y="2103120"/>
            <a:ext cx="2148840" cy="347472"/>
          </a:xfrm>
          <a:prstGeom prst="rect">
            <a:avLst/>
          </a:prstGeom>
          <a:noFill/>
          <a:ln>
            <a:noFill/>
          </a:ln>
        </p:spPr>
        <p:txBody>
          <a:bodyPr wrap="square" lIns="0" tIns="0" rIns="0" bIns="0" anchor="ctr"/>
          <a:lstStyle/>
          <a:p>
            <a:pPr algn="l"/>
            <a:r>
              <a:rPr lang="en-US" sz="1800" b="1">
                <a:solidFill>
                  <a:srgbClr val="172033"/>
                </a:solidFill>
                <a:latin typeface="Aptos"/>
              </a:rPr>
              <a:t>Prototypes</a:t>
            </a:r>
            <a:endParaRPr lang="en-US" sz="1800"/>
          </a:p>
        </p:txBody>
      </p:sp>
      <p:sp>
        <p:nvSpPr>
          <p:cNvPr id="54" name="CardBody"/>
          <p:cNvSpPr/>
          <p:nvPr/>
        </p:nvSpPr>
        <p:spPr>
          <a:xfrm>
            <a:off x="9144000" y="2532888"/>
            <a:ext cx="2148840" cy="2468880"/>
          </a:xfrm>
          <a:prstGeom prst="rect">
            <a:avLst/>
          </a:prstGeom>
          <a:noFill/>
          <a:ln>
            <a:noFill/>
          </a:ln>
        </p:spPr>
        <p:txBody>
          <a:bodyPr wrap="square" lIns="0" tIns="0" rIns="0" bIns="0" anchor="ctr"/>
          <a:lstStyle/>
          <a:p>
            <a:pPr algn="l"/>
            <a:r>
              <a:rPr lang="en-US" sz="1400">
                <a:solidFill>
                  <a:srgbClr val="536174"/>
                </a:solidFill>
                <a:latin typeface="Aptos"/>
              </a:rPr>
              <a:t>Quick feedback on something specific.</a:t>
            </a:r>
            <a:endParaRPr lang="en-US" sz="1400"/>
          </a:p>
        </p:txBody>
      </p:sp>
      <p:sp>
        <p:nvSpPr>
          <p:cNvPr id="60" name="Tip"/>
          <p:cNvSpPr/>
          <p:nvPr/>
        </p:nvSpPr>
        <p:spPr>
          <a:xfrm>
            <a:off x="914400" y="5559552"/>
            <a:ext cx="10332720" cy="292608"/>
          </a:xfrm>
          <a:prstGeom prst="rect">
            <a:avLst/>
          </a:prstGeom>
          <a:noFill/>
          <a:ln>
            <a:noFill/>
          </a:ln>
        </p:spPr>
        <p:txBody>
          <a:bodyPr wrap="square" lIns="0" tIns="0" rIns="0" bIns="0" anchor="ctr"/>
          <a:lstStyle/>
          <a:p>
            <a:pPr algn="l"/>
            <a:r>
              <a:rPr lang="en-US" sz="1400" b="1">
                <a:solidFill>
                  <a:srgbClr val="172033"/>
                </a:solidFill>
                <a:latin typeface="Aptos"/>
              </a:rPr>
              <a:t>We don't just ask "what do you want?" — we explore goals, exceptions, and current problems.</a:t>
            </a:r>
            <a:endParaRPr lang="en-US" sz="14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11</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User story + acceptance criteria</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685800" y="1600200"/>
            <a:ext cx="10972800" cy="1143000"/>
          </a:xfrm>
          <a:prstGeom prst="roundRect">
            <a:avLst/>
          </a:prstGeom>
          <a:solidFill>
            <a:srgbClr val="172033"/>
          </a:solidFill>
          <a:ln w="12700">
            <a:solidFill>
              <a:srgbClr val="172033"/>
            </a:solidFill>
          </a:ln>
        </p:spPr>
      </p:sp>
      <p:sp>
        <p:nvSpPr>
          <p:cNvPr id="21" name="Story"/>
          <p:cNvSpPr/>
          <p:nvPr/>
        </p:nvSpPr>
        <p:spPr>
          <a:xfrm>
            <a:off x="1051560" y="1874520"/>
            <a:ext cx="10241280" cy="502920"/>
          </a:xfrm>
          <a:prstGeom prst="rect">
            <a:avLst/>
          </a:prstGeom>
          <a:noFill/>
          <a:ln>
            <a:noFill/>
          </a:ln>
        </p:spPr>
        <p:txBody>
          <a:bodyPr wrap="square" lIns="0" tIns="0" rIns="0" bIns="0" anchor="ctr"/>
          <a:lstStyle/>
          <a:p>
            <a:pPr algn="l"/>
            <a:r>
              <a:rPr lang="en-US" sz="1900" b="1">
                <a:solidFill>
                  <a:srgbClr val="FFFFFF"/>
                </a:solidFill>
                <a:latin typeface="Aptos"/>
              </a:rPr>
              <a:t>As a guest, I want to purchase without registering, so I can complete the purchase faster.</a:t>
            </a:r>
            <a:endParaRPr lang="en-US" sz="1900"/>
          </a:p>
        </p:txBody>
      </p:sp>
      <p:sp>
        <p:nvSpPr>
          <p:cNvPr id="30" name="Box 30"/>
          <p:cNvSpPr/>
          <p:nvPr/>
        </p:nvSpPr>
        <p:spPr>
          <a:xfrm>
            <a:off x="685800" y="3063240"/>
            <a:ext cx="3383280" cy="2057400"/>
          </a:xfrm>
          <a:prstGeom prst="roundRect">
            <a:avLst/>
          </a:prstGeom>
          <a:solidFill>
            <a:srgbClr val="FFFFFF"/>
          </a:solidFill>
          <a:ln w="12700">
            <a:solidFill>
              <a:srgbClr val="E2E7EE"/>
            </a:solidFill>
          </a:ln>
        </p:spPr>
      </p:sp>
      <p:sp>
        <p:nvSpPr>
          <p:cNvPr id="32" name="Kicker"/>
          <p:cNvSpPr/>
          <p:nvPr/>
        </p:nvSpPr>
        <p:spPr>
          <a:xfrm>
            <a:off x="914400" y="3227832"/>
            <a:ext cx="2971800" cy="228600"/>
          </a:xfrm>
          <a:prstGeom prst="rect">
            <a:avLst/>
          </a:prstGeom>
          <a:noFill/>
          <a:ln>
            <a:noFill/>
          </a:ln>
        </p:spPr>
        <p:txBody>
          <a:bodyPr wrap="square" lIns="0" tIns="0" rIns="0" bIns="0" anchor="ctr"/>
          <a:lstStyle/>
          <a:p>
            <a:pPr algn="l"/>
            <a:r>
              <a:rPr lang="en-US" sz="1000" b="1">
                <a:solidFill>
                  <a:srgbClr val="5B7CFA"/>
                </a:solidFill>
                <a:latin typeface="Aptos"/>
              </a:rPr>
              <a:t>GIVEN</a:t>
            </a:r>
            <a:endParaRPr lang="en-US" sz="1000"/>
          </a:p>
        </p:txBody>
      </p:sp>
      <p:sp>
        <p:nvSpPr>
          <p:cNvPr id="33" name="CardTitle"/>
          <p:cNvSpPr/>
          <p:nvPr/>
        </p:nvSpPr>
        <p:spPr>
          <a:xfrm>
            <a:off x="914400" y="3566160"/>
            <a:ext cx="2971800" cy="347472"/>
          </a:xfrm>
          <a:prstGeom prst="rect">
            <a:avLst/>
          </a:prstGeom>
          <a:noFill/>
          <a:ln>
            <a:noFill/>
          </a:ln>
        </p:spPr>
        <p:txBody>
          <a:bodyPr wrap="square" lIns="0" tIns="0" rIns="0" bIns="0" anchor="ctr"/>
          <a:lstStyle/>
          <a:p>
            <a:pPr algn="l"/>
            <a:r>
              <a:rPr lang="en-US" sz="1800" b="1">
                <a:solidFill>
                  <a:srgbClr val="172033"/>
                </a:solidFill>
                <a:latin typeface="Aptos"/>
              </a:rPr>
              <a:t>Since</a:t>
            </a:r>
            <a:endParaRPr lang="en-US" sz="1800"/>
          </a:p>
        </p:txBody>
      </p:sp>
      <p:sp>
        <p:nvSpPr>
          <p:cNvPr id="34" name="CardBody"/>
          <p:cNvSpPr/>
          <p:nvPr/>
        </p:nvSpPr>
        <p:spPr>
          <a:xfrm>
            <a:off x="914400" y="3995928"/>
            <a:ext cx="2971800" cy="960120"/>
          </a:xfrm>
          <a:prstGeom prst="rect">
            <a:avLst/>
          </a:prstGeom>
          <a:noFill/>
          <a:ln>
            <a:noFill/>
          </a:ln>
        </p:spPr>
        <p:txBody>
          <a:bodyPr wrap="square" lIns="0" tIns="0" rIns="0" bIns="0" anchor="ctr"/>
          <a:lstStyle/>
          <a:p>
            <a:pPr algn="l"/>
            <a:r>
              <a:rPr lang="en-US" sz="1400">
                <a:solidFill>
                  <a:srgbClr val="536174"/>
                </a:solidFill>
                <a:latin typeface="Aptos"/>
              </a:rPr>
              <a:t>I have products in my cart and I am not logged in.</a:t>
            </a:r>
            <a:endParaRPr lang="en-US" sz="1400"/>
          </a:p>
        </p:txBody>
      </p:sp>
      <p:sp>
        <p:nvSpPr>
          <p:cNvPr id="40" name="Box 40"/>
          <p:cNvSpPr/>
          <p:nvPr/>
        </p:nvSpPr>
        <p:spPr>
          <a:xfrm>
            <a:off x="4407408" y="3063240"/>
            <a:ext cx="3383280" cy="2057400"/>
          </a:xfrm>
          <a:prstGeom prst="roundRect">
            <a:avLst/>
          </a:prstGeom>
          <a:solidFill>
            <a:srgbClr val="FFFFFF"/>
          </a:solidFill>
          <a:ln w="12700">
            <a:solidFill>
              <a:srgbClr val="E2E7EE"/>
            </a:solidFill>
          </a:ln>
        </p:spPr>
      </p:sp>
      <p:sp>
        <p:nvSpPr>
          <p:cNvPr id="42" name="Kicker"/>
          <p:cNvSpPr/>
          <p:nvPr/>
        </p:nvSpPr>
        <p:spPr>
          <a:xfrm>
            <a:off x="4636008" y="3227832"/>
            <a:ext cx="2971800" cy="228600"/>
          </a:xfrm>
          <a:prstGeom prst="rect">
            <a:avLst/>
          </a:prstGeom>
          <a:noFill/>
          <a:ln>
            <a:noFill/>
          </a:ln>
        </p:spPr>
        <p:txBody>
          <a:bodyPr wrap="square" lIns="0" tIns="0" rIns="0" bIns="0" anchor="ctr"/>
          <a:lstStyle/>
          <a:p>
            <a:pPr algn="l"/>
            <a:r>
              <a:rPr lang="en-US" sz="1000" b="1">
                <a:solidFill>
                  <a:srgbClr val="25B7A5"/>
                </a:solidFill>
                <a:latin typeface="Aptos"/>
              </a:rPr>
              <a:t>WHEN</a:t>
            </a:r>
            <a:endParaRPr lang="en-US" sz="1000"/>
          </a:p>
        </p:txBody>
      </p:sp>
      <p:sp>
        <p:nvSpPr>
          <p:cNvPr id="43" name="CardTitle"/>
          <p:cNvSpPr/>
          <p:nvPr/>
        </p:nvSpPr>
        <p:spPr>
          <a:xfrm>
            <a:off x="4636008" y="3566160"/>
            <a:ext cx="2971800" cy="347472"/>
          </a:xfrm>
          <a:prstGeom prst="rect">
            <a:avLst/>
          </a:prstGeom>
          <a:noFill/>
          <a:ln>
            <a:noFill/>
          </a:ln>
        </p:spPr>
        <p:txBody>
          <a:bodyPr wrap="square" lIns="0" tIns="0" rIns="0" bIns="0" anchor="ctr"/>
          <a:lstStyle/>
          <a:p>
            <a:pPr algn="l"/>
            <a:r>
              <a:rPr lang="en-US" sz="1800" b="1">
                <a:solidFill>
                  <a:srgbClr val="172033"/>
                </a:solidFill>
                <a:latin typeface="Aptos"/>
              </a:rPr>
              <a:t>When</a:t>
            </a:r>
            <a:endParaRPr lang="en-US" sz="1800"/>
          </a:p>
        </p:txBody>
      </p:sp>
      <p:sp>
        <p:nvSpPr>
          <p:cNvPr id="44" name="CardBody"/>
          <p:cNvSpPr/>
          <p:nvPr/>
        </p:nvSpPr>
        <p:spPr>
          <a:xfrm>
            <a:off x="4636008" y="3995928"/>
            <a:ext cx="2971800" cy="960120"/>
          </a:xfrm>
          <a:prstGeom prst="rect">
            <a:avLst/>
          </a:prstGeom>
          <a:noFill/>
          <a:ln>
            <a:noFill/>
          </a:ln>
        </p:spPr>
        <p:txBody>
          <a:bodyPr wrap="square" lIns="0" tIns="0" rIns="0" bIns="0" anchor="ctr"/>
          <a:lstStyle/>
          <a:p>
            <a:pPr algn="l"/>
            <a:r>
              <a:rPr lang="en-US" sz="1400">
                <a:solidFill>
                  <a:srgbClr val="536174"/>
                </a:solidFill>
                <a:latin typeface="Aptos"/>
              </a:rPr>
              <a:t>I select “Shop as a guest” and provide a valid email.</a:t>
            </a:r>
            <a:endParaRPr lang="en-US" sz="1400"/>
          </a:p>
        </p:txBody>
      </p:sp>
      <p:sp>
        <p:nvSpPr>
          <p:cNvPr id="50" name="Box 50"/>
          <p:cNvSpPr/>
          <p:nvPr/>
        </p:nvSpPr>
        <p:spPr>
          <a:xfrm>
            <a:off x="8119872" y="3063240"/>
            <a:ext cx="3383280" cy="2057400"/>
          </a:xfrm>
          <a:prstGeom prst="roundRect">
            <a:avLst/>
          </a:prstGeom>
          <a:solidFill>
            <a:srgbClr val="FFFFFF"/>
          </a:solidFill>
          <a:ln w="12700">
            <a:solidFill>
              <a:srgbClr val="E2E7EE"/>
            </a:solidFill>
          </a:ln>
        </p:spPr>
      </p:sp>
      <p:sp>
        <p:nvSpPr>
          <p:cNvPr id="52" name="Kicker"/>
          <p:cNvSpPr/>
          <p:nvPr/>
        </p:nvSpPr>
        <p:spPr>
          <a:xfrm>
            <a:off x="8348472" y="3227832"/>
            <a:ext cx="2971800" cy="228600"/>
          </a:xfrm>
          <a:prstGeom prst="rect">
            <a:avLst/>
          </a:prstGeom>
          <a:noFill/>
          <a:ln>
            <a:noFill/>
          </a:ln>
        </p:spPr>
        <p:txBody>
          <a:bodyPr wrap="square" lIns="0" tIns="0" rIns="0" bIns="0" anchor="ctr"/>
          <a:lstStyle/>
          <a:p>
            <a:pPr algn="l"/>
            <a:r>
              <a:rPr lang="en-US" sz="1000" b="1">
                <a:solidFill>
                  <a:srgbClr val="F6B44C"/>
                </a:solidFill>
                <a:latin typeface="Aptos"/>
              </a:rPr>
              <a:t>THEN</a:t>
            </a:r>
            <a:endParaRPr lang="en-US" sz="1000"/>
          </a:p>
        </p:txBody>
      </p:sp>
      <p:sp>
        <p:nvSpPr>
          <p:cNvPr id="53" name="CardTitle"/>
          <p:cNvSpPr/>
          <p:nvPr/>
        </p:nvSpPr>
        <p:spPr>
          <a:xfrm>
            <a:off x="8348472" y="3566160"/>
            <a:ext cx="2971800" cy="347472"/>
          </a:xfrm>
          <a:prstGeom prst="rect">
            <a:avLst/>
          </a:prstGeom>
          <a:noFill/>
          <a:ln>
            <a:noFill/>
          </a:ln>
        </p:spPr>
        <p:txBody>
          <a:bodyPr wrap="square" lIns="0" tIns="0" rIns="0" bIns="0" anchor="ctr"/>
          <a:lstStyle/>
          <a:p>
            <a:pPr algn="l"/>
            <a:r>
              <a:rPr lang="en-US" sz="1800" b="1">
                <a:solidFill>
                  <a:srgbClr val="172033"/>
                </a:solidFill>
                <a:latin typeface="Aptos"/>
              </a:rPr>
              <a:t>Then</a:t>
            </a:r>
            <a:endParaRPr lang="en-US" sz="1800"/>
          </a:p>
        </p:txBody>
      </p:sp>
      <p:sp>
        <p:nvSpPr>
          <p:cNvPr id="54" name="CardBody"/>
          <p:cNvSpPr/>
          <p:nvPr/>
        </p:nvSpPr>
        <p:spPr>
          <a:xfrm>
            <a:off x="8348472" y="3995928"/>
            <a:ext cx="2971800" cy="960120"/>
          </a:xfrm>
          <a:prstGeom prst="rect">
            <a:avLst/>
          </a:prstGeom>
          <a:noFill/>
          <a:ln>
            <a:noFill/>
          </a:ln>
        </p:spPr>
        <p:txBody>
          <a:bodyPr wrap="square" lIns="0" tIns="0" rIns="0" bIns="0" anchor="ctr"/>
          <a:lstStyle/>
          <a:p>
            <a:pPr algn="l"/>
            <a:r>
              <a:rPr lang="en-US" sz="1400">
                <a:solidFill>
                  <a:srgbClr val="536174"/>
                </a:solidFill>
                <a:latin typeface="Aptos"/>
              </a:rPr>
              <a:t>I can pay and I receive a confirmation email.</a:t>
            </a:r>
            <a:endParaRPr lang="en-US" sz="14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12</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Use case: the full flow</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685800" y="1371600"/>
            <a:ext cx="3200400" cy="4361688"/>
          </a:xfrm>
          <a:prstGeom prst="roundRect">
            <a:avLst/>
          </a:prstGeom>
          <a:solidFill>
            <a:srgbClr val="FFFFFF"/>
          </a:solidFill>
          <a:ln w="12700">
            <a:solidFill>
              <a:srgbClr val="E2E7EE"/>
            </a:solidFill>
          </a:ln>
        </p:spPr>
      </p:sp>
      <p:sp>
        <p:nvSpPr>
          <p:cNvPr id="22" name="Kicker"/>
          <p:cNvSpPr/>
          <p:nvPr/>
        </p:nvSpPr>
        <p:spPr>
          <a:xfrm>
            <a:off x="914400" y="1621750"/>
            <a:ext cx="2788920" cy="228600"/>
          </a:xfrm>
          <a:prstGeom prst="rect">
            <a:avLst/>
          </a:prstGeom>
          <a:noFill/>
          <a:ln>
            <a:noFill/>
          </a:ln>
        </p:spPr>
        <p:txBody>
          <a:bodyPr wrap="square" lIns="0" tIns="0" rIns="0" bIns="0" anchor="ctr"/>
          <a:lstStyle/>
          <a:p>
            <a:pPr algn="l"/>
            <a:r>
              <a:rPr lang="en-US" sz="1000" b="1" dirty="0">
                <a:solidFill>
                  <a:srgbClr val="25B7A5"/>
                </a:solidFill>
                <a:latin typeface="Aptos"/>
              </a:rPr>
              <a:t>ACTOR</a:t>
            </a:r>
            <a:endParaRPr lang="en-US" sz="1000" dirty="0"/>
          </a:p>
        </p:txBody>
      </p:sp>
      <p:sp>
        <p:nvSpPr>
          <p:cNvPr id="23" name="CardTitle"/>
          <p:cNvSpPr/>
          <p:nvPr/>
        </p:nvSpPr>
        <p:spPr>
          <a:xfrm>
            <a:off x="914400" y="1960078"/>
            <a:ext cx="2788920" cy="347472"/>
          </a:xfrm>
          <a:prstGeom prst="rect">
            <a:avLst/>
          </a:prstGeom>
          <a:noFill/>
          <a:ln>
            <a:noFill/>
          </a:ln>
        </p:spPr>
        <p:txBody>
          <a:bodyPr wrap="square" lIns="0" tIns="0" rIns="0" bIns="0" anchor="ctr"/>
          <a:lstStyle/>
          <a:p>
            <a:pPr algn="l"/>
            <a:r>
              <a:rPr lang="en-US" sz="1800" b="1" dirty="0">
                <a:solidFill>
                  <a:srgbClr val="172033"/>
                </a:solidFill>
                <a:latin typeface="Aptos"/>
              </a:rPr>
              <a:t>Customer</a:t>
            </a:r>
            <a:endParaRPr lang="en-US" sz="1800" dirty="0"/>
          </a:p>
        </p:txBody>
      </p:sp>
      <p:sp>
        <p:nvSpPr>
          <p:cNvPr id="24" name="CardBody"/>
          <p:cNvSpPr/>
          <p:nvPr/>
        </p:nvSpPr>
        <p:spPr>
          <a:xfrm>
            <a:off x="914400" y="2505456"/>
            <a:ext cx="2788920" cy="3063240"/>
          </a:xfrm>
          <a:prstGeom prst="rect">
            <a:avLst/>
          </a:prstGeom>
          <a:noFill/>
          <a:ln>
            <a:noFill/>
          </a:ln>
        </p:spPr>
        <p:txBody>
          <a:bodyPr wrap="square" lIns="0" tIns="0" rIns="0" bIns="0" anchor="ctr"/>
          <a:lstStyle/>
          <a:p>
            <a:pPr algn="l"/>
            <a:r>
              <a:rPr lang="en-US" sz="1400" dirty="0">
                <a:solidFill>
                  <a:srgbClr val="536174"/>
                </a:solidFill>
                <a:latin typeface="Aptos"/>
              </a:rPr>
              <a:t>Goal: purchase completion.</a:t>
            </a:r>
          </a:p>
          <a:p>
            <a:pPr algn="l"/>
            <a:endParaRPr lang="en-US" sz="1400" dirty="0">
              <a:solidFill>
                <a:srgbClr val="536174"/>
              </a:solidFill>
              <a:latin typeface="Aptos"/>
            </a:endParaRPr>
          </a:p>
          <a:p>
            <a:pPr algn="l"/>
            <a:r>
              <a:rPr lang="en-US" sz="1400" dirty="0" err="1">
                <a:solidFill>
                  <a:srgbClr val="536174"/>
                </a:solidFill>
                <a:latin typeface="Aptos"/>
              </a:rPr>
              <a:t>Precondition</a:t>
            </a:r>
            <a:r>
              <a:rPr lang="en-US" sz="1400" dirty="0">
                <a:solidFill>
                  <a:srgbClr val="536174"/>
                </a:solidFill>
                <a:latin typeface="Aptos"/>
              </a:rPr>
              <a:t>: active cart.</a:t>
            </a:r>
          </a:p>
          <a:p>
            <a:pPr algn="l"/>
            <a:endParaRPr lang="en-US" sz="1400" dirty="0">
              <a:solidFill>
                <a:srgbClr val="536174"/>
              </a:solidFill>
              <a:latin typeface="Aptos"/>
            </a:endParaRPr>
          </a:p>
          <a:p>
            <a:pPr algn="l"/>
            <a:r>
              <a:rPr lang="en-US" sz="1400" dirty="0" err="1">
                <a:solidFill>
                  <a:srgbClr val="536174"/>
                </a:solidFill>
                <a:latin typeface="Aptos"/>
              </a:rPr>
              <a:t>Trigger</a:t>
            </a:r>
            <a:r>
              <a:rPr lang="en-US" sz="1400" dirty="0">
                <a:solidFill>
                  <a:srgbClr val="536174"/>
                </a:solidFill>
                <a:latin typeface="Aptos"/>
              </a:rPr>
              <a:t>: “Checkout”.</a:t>
            </a:r>
            <a:endParaRPr lang="en-US" sz="1400" dirty="0"/>
          </a:p>
        </p:txBody>
      </p:sp>
      <p:sp>
        <p:nvSpPr>
          <p:cNvPr id="10" name="Box 20">
            <a:extLst>
              <a:ext uri="{FF2B5EF4-FFF2-40B4-BE49-F238E27FC236}">
                <a16:creationId xmlns:a16="http://schemas.microsoft.com/office/drawing/2014/main" id="{9F70FCF5-F110-732B-A923-F90241A21B09}"/>
              </a:ext>
            </a:extLst>
          </p:cNvPr>
          <p:cNvSpPr/>
          <p:nvPr/>
        </p:nvSpPr>
        <p:spPr>
          <a:xfrm>
            <a:off x="4114800" y="1371600"/>
            <a:ext cx="3355848" cy="4361688"/>
          </a:xfrm>
          <a:prstGeom prst="roundRect">
            <a:avLst/>
          </a:prstGeom>
          <a:solidFill>
            <a:srgbClr val="FFFFFF"/>
          </a:solidFill>
          <a:ln w="12700">
            <a:solidFill>
              <a:srgbClr val="E2E7EE"/>
            </a:solidFill>
          </a:ln>
        </p:spPr>
      </p:sp>
      <p:sp>
        <p:nvSpPr>
          <p:cNvPr id="30" name="Main"/>
          <p:cNvSpPr/>
          <p:nvPr/>
        </p:nvSpPr>
        <p:spPr>
          <a:xfrm>
            <a:off x="4315968" y="1600200"/>
            <a:ext cx="3017520" cy="347472"/>
          </a:xfrm>
          <a:prstGeom prst="rect">
            <a:avLst/>
          </a:prstGeom>
          <a:noFill/>
          <a:ln>
            <a:noFill/>
          </a:ln>
        </p:spPr>
        <p:txBody>
          <a:bodyPr wrap="square" lIns="0" tIns="0" rIns="0" bIns="0" anchor="ctr"/>
          <a:lstStyle/>
          <a:p>
            <a:pPr algn="l"/>
            <a:r>
              <a:rPr lang="en-US" sz="1900" b="1">
                <a:solidFill>
                  <a:srgbClr val="172033"/>
                </a:solidFill>
                <a:latin typeface="Aptos"/>
              </a:rPr>
              <a:t>Main flow</a:t>
            </a:r>
            <a:endParaRPr lang="en-US" sz="1900"/>
          </a:p>
        </p:txBody>
      </p:sp>
      <p:sp>
        <p:nvSpPr>
          <p:cNvPr id="12" name="Box 20">
            <a:extLst>
              <a:ext uri="{FF2B5EF4-FFF2-40B4-BE49-F238E27FC236}">
                <a16:creationId xmlns:a16="http://schemas.microsoft.com/office/drawing/2014/main" id="{8E84E353-A175-FB03-F081-4CD01F23D9E0}"/>
              </a:ext>
            </a:extLst>
          </p:cNvPr>
          <p:cNvSpPr/>
          <p:nvPr/>
        </p:nvSpPr>
        <p:spPr>
          <a:xfrm>
            <a:off x="7699248" y="1371600"/>
            <a:ext cx="3547872" cy="4361688"/>
          </a:xfrm>
          <a:prstGeom prst="roundRect">
            <a:avLst/>
          </a:prstGeom>
          <a:solidFill>
            <a:srgbClr val="FFFFFF"/>
          </a:solidFill>
          <a:ln w="12700">
            <a:solidFill>
              <a:srgbClr val="E2E7EE"/>
            </a:solidFill>
          </a:ln>
        </p:spPr>
      </p:sp>
      <p:sp>
        <p:nvSpPr>
          <p:cNvPr id="31" name="Steps"/>
          <p:cNvSpPr/>
          <p:nvPr/>
        </p:nvSpPr>
        <p:spPr>
          <a:xfrm>
            <a:off x="4315968" y="2148840"/>
            <a:ext cx="3154680" cy="3337560"/>
          </a:xfrm>
          <a:prstGeom prst="rect">
            <a:avLst/>
          </a:prstGeom>
          <a:noFill/>
          <a:ln>
            <a:noFill/>
          </a:ln>
        </p:spPr>
        <p:txBody>
          <a:bodyPr wrap="square" lIns="0" tIns="0" rIns="0" bIns="0" anchor="ctr"/>
          <a:lstStyle/>
          <a:p>
            <a:pPr marL="342900" indent="-342900" algn="l">
              <a:buAutoNum type="arabicPlain"/>
            </a:pPr>
            <a:r>
              <a:rPr lang="en-US" sz="1600" dirty="0">
                <a:solidFill>
                  <a:srgbClr val="536174"/>
                </a:solidFill>
                <a:latin typeface="Aptos"/>
              </a:rPr>
              <a:t>Choose delivery method</a:t>
            </a:r>
          </a:p>
          <a:p>
            <a:pPr marL="342900" indent="-342900" algn="l">
              <a:buAutoNum type="arabicPlain"/>
            </a:pPr>
            <a:r>
              <a:rPr lang="en-US" sz="1600" dirty="0">
                <a:solidFill>
                  <a:srgbClr val="536174"/>
                </a:solidFill>
                <a:latin typeface="Aptos"/>
              </a:rPr>
              <a:t>Import data</a:t>
            </a:r>
          </a:p>
          <a:p>
            <a:pPr marL="342900" indent="-342900" algn="l">
              <a:buAutoNum type="arabicPlain"/>
            </a:pPr>
            <a:r>
              <a:rPr lang="en-US" sz="1600" dirty="0">
                <a:solidFill>
                  <a:srgbClr val="536174"/>
                </a:solidFill>
                <a:latin typeface="Aptos"/>
              </a:rPr>
              <a:t>Payment option</a:t>
            </a:r>
          </a:p>
          <a:p>
            <a:pPr marL="342900" indent="-342900" algn="l">
              <a:buAutoNum type="arabicPlain"/>
            </a:pPr>
            <a:r>
              <a:rPr lang="en-US" sz="1600" dirty="0">
                <a:solidFill>
                  <a:srgbClr val="536174"/>
                </a:solidFill>
                <a:latin typeface="Aptos"/>
              </a:rPr>
              <a:t>Order confirmation</a:t>
            </a:r>
            <a:endParaRPr lang="en-US" sz="1600" dirty="0"/>
          </a:p>
        </p:txBody>
      </p:sp>
      <p:sp>
        <p:nvSpPr>
          <p:cNvPr id="40" name="Alt"/>
          <p:cNvSpPr/>
          <p:nvPr/>
        </p:nvSpPr>
        <p:spPr>
          <a:xfrm>
            <a:off x="7818120" y="1600200"/>
            <a:ext cx="3200400" cy="347472"/>
          </a:xfrm>
          <a:prstGeom prst="rect">
            <a:avLst/>
          </a:prstGeom>
          <a:noFill/>
          <a:ln>
            <a:noFill/>
          </a:ln>
        </p:spPr>
        <p:txBody>
          <a:bodyPr wrap="square" lIns="0" tIns="0" rIns="0" bIns="0" anchor="ctr"/>
          <a:lstStyle/>
          <a:p>
            <a:pPr algn="l"/>
            <a:r>
              <a:rPr lang="en-US" sz="1900" b="1">
                <a:solidFill>
                  <a:srgbClr val="D06B4F"/>
                </a:solidFill>
                <a:latin typeface="Aptos"/>
              </a:rPr>
              <a:t>Alternatives / exceptions</a:t>
            </a:r>
            <a:endParaRPr lang="en-US" sz="1900"/>
          </a:p>
        </p:txBody>
      </p:sp>
      <p:sp>
        <p:nvSpPr>
          <p:cNvPr id="41" name="AltSteps"/>
          <p:cNvSpPr/>
          <p:nvPr/>
        </p:nvSpPr>
        <p:spPr>
          <a:xfrm>
            <a:off x="7818120" y="2148840"/>
            <a:ext cx="3429000" cy="3337560"/>
          </a:xfrm>
          <a:prstGeom prst="rect">
            <a:avLst/>
          </a:prstGeom>
          <a:noFill/>
          <a:ln>
            <a:noFill/>
          </a:ln>
        </p:spPr>
        <p:txBody>
          <a:bodyPr wrap="square" lIns="0" tIns="0" rIns="0" bIns="0" anchor="ctr"/>
          <a:lstStyle/>
          <a:p>
            <a:pPr algn="l"/>
            <a:r>
              <a:rPr lang="en-US" sz="1600" dirty="0">
                <a:solidFill>
                  <a:srgbClr val="536174"/>
                </a:solidFill>
                <a:latin typeface="Aptos"/>
              </a:rPr>
              <a:t>• Product unavailable</a:t>
            </a:r>
          </a:p>
          <a:p>
            <a:pPr algn="l"/>
            <a:r>
              <a:rPr lang="en-US" sz="1600" dirty="0">
                <a:solidFill>
                  <a:srgbClr val="536174"/>
                </a:solidFill>
                <a:latin typeface="Aptos"/>
              </a:rPr>
              <a:t>• Payment rejection</a:t>
            </a:r>
          </a:p>
          <a:p>
            <a:pPr algn="l"/>
            <a:r>
              <a:rPr lang="en-US" sz="1600" dirty="0">
                <a:solidFill>
                  <a:srgbClr val="536174"/>
                </a:solidFill>
                <a:latin typeface="Aptos"/>
              </a:rPr>
              <a:t>• Invalid address</a:t>
            </a:r>
          </a:p>
          <a:p>
            <a:pPr algn="l"/>
            <a:r>
              <a:rPr lang="en-US" sz="1600" dirty="0">
                <a:solidFill>
                  <a:srgbClr val="536174"/>
                </a:solidFill>
                <a:latin typeface="Aptos"/>
              </a:rPr>
              <a:t>• End of session</a:t>
            </a:r>
            <a:endParaRPr lang="en-US" sz="1600" dirty="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13</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What makes a requirement “good”?</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685800" y="1572768"/>
            <a:ext cx="3401568" cy="1325880"/>
          </a:xfrm>
          <a:prstGeom prst="roundRect">
            <a:avLst/>
          </a:prstGeom>
          <a:solidFill>
            <a:srgbClr val="FFFFFF"/>
          </a:solidFill>
          <a:ln w="12700">
            <a:solidFill>
              <a:srgbClr val="E2E7EE"/>
            </a:solidFill>
          </a:ln>
        </p:spPr>
      </p:sp>
      <p:sp>
        <p:nvSpPr>
          <p:cNvPr id="22" name="Kicker"/>
          <p:cNvSpPr/>
          <p:nvPr/>
        </p:nvSpPr>
        <p:spPr>
          <a:xfrm>
            <a:off x="914400" y="1737360"/>
            <a:ext cx="2990088" cy="228600"/>
          </a:xfrm>
          <a:prstGeom prst="rect">
            <a:avLst/>
          </a:prstGeom>
          <a:noFill/>
          <a:ln>
            <a:noFill/>
          </a:ln>
        </p:spPr>
        <p:txBody>
          <a:bodyPr wrap="square" lIns="0" tIns="0" rIns="0" bIns="0" anchor="ctr"/>
          <a:lstStyle/>
          <a:p>
            <a:pPr algn="l"/>
            <a:r>
              <a:rPr lang="en-US" sz="1000" b="1">
                <a:solidFill>
                  <a:srgbClr val="25B7A5"/>
                </a:solidFill>
                <a:latin typeface="Aptos"/>
              </a:rPr>
              <a:t>CLEAR</a:t>
            </a:r>
            <a:endParaRPr lang="en-US" sz="1000"/>
          </a:p>
        </p:txBody>
      </p:sp>
      <p:sp>
        <p:nvSpPr>
          <p:cNvPr id="23" name="CardTitle"/>
          <p:cNvSpPr/>
          <p:nvPr/>
        </p:nvSpPr>
        <p:spPr>
          <a:xfrm>
            <a:off x="914400" y="2075688"/>
            <a:ext cx="2990088" cy="347472"/>
          </a:xfrm>
          <a:prstGeom prst="rect">
            <a:avLst/>
          </a:prstGeom>
          <a:noFill/>
          <a:ln>
            <a:noFill/>
          </a:ln>
        </p:spPr>
        <p:txBody>
          <a:bodyPr wrap="square" lIns="0" tIns="0" rIns="0" bIns="0" anchor="ctr"/>
          <a:lstStyle/>
          <a:p>
            <a:pPr algn="l"/>
            <a:r>
              <a:rPr lang="en-US" sz="1800" b="1">
                <a:solidFill>
                  <a:srgbClr val="172033"/>
                </a:solidFill>
                <a:latin typeface="Aptos"/>
              </a:rPr>
              <a:t>Clear</a:t>
            </a:r>
            <a:endParaRPr lang="en-US" sz="1800"/>
          </a:p>
        </p:txBody>
      </p:sp>
      <p:sp>
        <p:nvSpPr>
          <p:cNvPr id="24" name="CardBody"/>
          <p:cNvSpPr/>
          <p:nvPr/>
        </p:nvSpPr>
        <p:spPr>
          <a:xfrm>
            <a:off x="914400" y="2505456"/>
            <a:ext cx="2990088" cy="228600"/>
          </a:xfrm>
          <a:prstGeom prst="rect">
            <a:avLst/>
          </a:prstGeom>
          <a:noFill/>
          <a:ln>
            <a:noFill/>
          </a:ln>
        </p:spPr>
        <p:txBody>
          <a:bodyPr wrap="square" lIns="0" tIns="0" rIns="0" bIns="0" anchor="ctr"/>
          <a:lstStyle/>
          <a:p>
            <a:pPr algn="l"/>
            <a:r>
              <a:rPr lang="en-US" sz="1400">
                <a:solidFill>
                  <a:srgbClr val="536174"/>
                </a:solidFill>
                <a:latin typeface="Aptos"/>
              </a:rPr>
              <a:t>A reasonable interpretation.</a:t>
            </a:r>
            <a:endParaRPr lang="en-US" sz="1400"/>
          </a:p>
        </p:txBody>
      </p:sp>
      <p:sp>
        <p:nvSpPr>
          <p:cNvPr id="30" name="Box 30"/>
          <p:cNvSpPr/>
          <p:nvPr/>
        </p:nvSpPr>
        <p:spPr>
          <a:xfrm>
            <a:off x="4389120" y="1572768"/>
            <a:ext cx="3401568" cy="1325880"/>
          </a:xfrm>
          <a:prstGeom prst="roundRect">
            <a:avLst/>
          </a:prstGeom>
          <a:solidFill>
            <a:srgbClr val="FFFFFF"/>
          </a:solidFill>
          <a:ln w="12700">
            <a:solidFill>
              <a:srgbClr val="E2E7EE"/>
            </a:solidFill>
          </a:ln>
        </p:spPr>
      </p:sp>
      <p:sp>
        <p:nvSpPr>
          <p:cNvPr id="32" name="Kicker"/>
          <p:cNvSpPr/>
          <p:nvPr/>
        </p:nvSpPr>
        <p:spPr>
          <a:xfrm>
            <a:off x="4617720" y="1737360"/>
            <a:ext cx="2990088" cy="228600"/>
          </a:xfrm>
          <a:prstGeom prst="rect">
            <a:avLst/>
          </a:prstGeom>
          <a:noFill/>
          <a:ln>
            <a:noFill/>
          </a:ln>
        </p:spPr>
        <p:txBody>
          <a:bodyPr wrap="square" lIns="0" tIns="0" rIns="0" bIns="0" anchor="ctr"/>
          <a:lstStyle/>
          <a:p>
            <a:pPr algn="l"/>
            <a:r>
              <a:rPr lang="en-US" sz="1000" b="1">
                <a:solidFill>
                  <a:srgbClr val="5B7CFA"/>
                </a:solidFill>
                <a:latin typeface="Aptos"/>
              </a:rPr>
              <a:t>COMPLETE</a:t>
            </a:r>
            <a:endParaRPr lang="en-US" sz="1000"/>
          </a:p>
        </p:txBody>
      </p:sp>
      <p:sp>
        <p:nvSpPr>
          <p:cNvPr id="33" name="CardTitle"/>
          <p:cNvSpPr/>
          <p:nvPr/>
        </p:nvSpPr>
        <p:spPr>
          <a:xfrm>
            <a:off x="4617720" y="2075688"/>
            <a:ext cx="2990088" cy="347472"/>
          </a:xfrm>
          <a:prstGeom prst="rect">
            <a:avLst/>
          </a:prstGeom>
          <a:noFill/>
          <a:ln>
            <a:noFill/>
          </a:ln>
        </p:spPr>
        <p:txBody>
          <a:bodyPr wrap="square" lIns="0" tIns="0" rIns="0" bIns="0" anchor="ctr"/>
          <a:lstStyle/>
          <a:p>
            <a:pPr algn="l"/>
            <a:r>
              <a:rPr lang="en-US" sz="1800" b="1">
                <a:solidFill>
                  <a:srgbClr val="172033"/>
                </a:solidFill>
                <a:latin typeface="Aptos"/>
              </a:rPr>
              <a:t>Complete</a:t>
            </a:r>
            <a:endParaRPr lang="en-US" sz="1800"/>
          </a:p>
        </p:txBody>
      </p:sp>
      <p:sp>
        <p:nvSpPr>
          <p:cNvPr id="34" name="CardBody"/>
          <p:cNvSpPr/>
          <p:nvPr/>
        </p:nvSpPr>
        <p:spPr>
          <a:xfrm>
            <a:off x="4617720" y="2505456"/>
            <a:ext cx="2990088" cy="228600"/>
          </a:xfrm>
          <a:prstGeom prst="rect">
            <a:avLst/>
          </a:prstGeom>
          <a:noFill/>
          <a:ln>
            <a:noFill/>
          </a:ln>
        </p:spPr>
        <p:txBody>
          <a:bodyPr wrap="square" lIns="0" tIns="0" rIns="0" bIns="0" anchor="ctr"/>
          <a:lstStyle/>
          <a:p>
            <a:pPr algn="l"/>
            <a:r>
              <a:rPr lang="en-US" sz="1400">
                <a:solidFill>
                  <a:srgbClr val="536174"/>
                </a:solidFill>
                <a:latin typeface="Aptos"/>
              </a:rPr>
              <a:t>Terms, limits and exceptions.</a:t>
            </a:r>
            <a:endParaRPr lang="en-US" sz="1400"/>
          </a:p>
        </p:txBody>
      </p:sp>
      <p:sp>
        <p:nvSpPr>
          <p:cNvPr id="40" name="Box 40"/>
          <p:cNvSpPr/>
          <p:nvPr/>
        </p:nvSpPr>
        <p:spPr>
          <a:xfrm>
            <a:off x="8092440" y="1572768"/>
            <a:ext cx="3401568" cy="1325880"/>
          </a:xfrm>
          <a:prstGeom prst="roundRect">
            <a:avLst/>
          </a:prstGeom>
          <a:solidFill>
            <a:srgbClr val="FFFFFF"/>
          </a:solidFill>
          <a:ln w="12700">
            <a:solidFill>
              <a:srgbClr val="E2E7EE"/>
            </a:solidFill>
          </a:ln>
        </p:spPr>
      </p:sp>
      <p:sp>
        <p:nvSpPr>
          <p:cNvPr id="42" name="Kicker"/>
          <p:cNvSpPr/>
          <p:nvPr/>
        </p:nvSpPr>
        <p:spPr>
          <a:xfrm>
            <a:off x="8321040" y="1737360"/>
            <a:ext cx="2990088" cy="228600"/>
          </a:xfrm>
          <a:prstGeom prst="rect">
            <a:avLst/>
          </a:prstGeom>
          <a:noFill/>
          <a:ln>
            <a:noFill/>
          </a:ln>
        </p:spPr>
        <p:txBody>
          <a:bodyPr wrap="square" lIns="0" tIns="0" rIns="0" bIns="0" anchor="ctr"/>
          <a:lstStyle/>
          <a:p>
            <a:pPr algn="l"/>
            <a:r>
              <a:rPr lang="en-US" sz="1000" b="1">
                <a:solidFill>
                  <a:srgbClr val="F6B44C"/>
                </a:solidFill>
                <a:latin typeface="Aptos"/>
              </a:rPr>
              <a:t>CONSISTENT</a:t>
            </a:r>
            <a:endParaRPr lang="en-US" sz="1000"/>
          </a:p>
        </p:txBody>
      </p:sp>
      <p:sp>
        <p:nvSpPr>
          <p:cNvPr id="43" name="CardTitle"/>
          <p:cNvSpPr/>
          <p:nvPr/>
        </p:nvSpPr>
        <p:spPr>
          <a:xfrm>
            <a:off x="8321040" y="2075688"/>
            <a:ext cx="2990088" cy="347472"/>
          </a:xfrm>
          <a:prstGeom prst="rect">
            <a:avLst/>
          </a:prstGeom>
          <a:noFill/>
          <a:ln>
            <a:noFill/>
          </a:ln>
        </p:spPr>
        <p:txBody>
          <a:bodyPr wrap="square" lIns="0" tIns="0" rIns="0" bIns="0" anchor="ctr"/>
          <a:lstStyle/>
          <a:p>
            <a:pPr algn="l"/>
            <a:r>
              <a:rPr lang="en-US" sz="1800" b="1">
                <a:solidFill>
                  <a:srgbClr val="172033"/>
                </a:solidFill>
                <a:latin typeface="Aptos"/>
              </a:rPr>
              <a:t>Consistent</a:t>
            </a:r>
            <a:endParaRPr lang="en-US" sz="1800"/>
          </a:p>
        </p:txBody>
      </p:sp>
      <p:sp>
        <p:nvSpPr>
          <p:cNvPr id="44" name="CardBody"/>
          <p:cNvSpPr/>
          <p:nvPr/>
        </p:nvSpPr>
        <p:spPr>
          <a:xfrm>
            <a:off x="8321040" y="2505456"/>
            <a:ext cx="2990088" cy="228600"/>
          </a:xfrm>
          <a:prstGeom prst="rect">
            <a:avLst/>
          </a:prstGeom>
          <a:noFill/>
          <a:ln>
            <a:noFill/>
          </a:ln>
        </p:spPr>
        <p:txBody>
          <a:bodyPr wrap="square" lIns="0" tIns="0" rIns="0" bIns="0" anchor="ctr"/>
          <a:lstStyle/>
          <a:p>
            <a:pPr algn="l"/>
            <a:r>
              <a:rPr lang="en-US" sz="1400">
                <a:solidFill>
                  <a:srgbClr val="536174"/>
                </a:solidFill>
                <a:latin typeface="Aptos"/>
              </a:rPr>
              <a:t>Without conflict with others.</a:t>
            </a:r>
            <a:endParaRPr lang="en-US" sz="1400"/>
          </a:p>
        </p:txBody>
      </p:sp>
      <p:sp>
        <p:nvSpPr>
          <p:cNvPr id="50" name="Box 50"/>
          <p:cNvSpPr/>
          <p:nvPr/>
        </p:nvSpPr>
        <p:spPr>
          <a:xfrm>
            <a:off x="685800" y="3218688"/>
            <a:ext cx="3401568" cy="1325880"/>
          </a:xfrm>
          <a:prstGeom prst="roundRect">
            <a:avLst/>
          </a:prstGeom>
          <a:solidFill>
            <a:srgbClr val="FFFFFF"/>
          </a:solidFill>
          <a:ln w="12700">
            <a:solidFill>
              <a:srgbClr val="E2E7EE"/>
            </a:solidFill>
          </a:ln>
        </p:spPr>
      </p:sp>
      <p:sp>
        <p:nvSpPr>
          <p:cNvPr id="52" name="Kicker"/>
          <p:cNvSpPr/>
          <p:nvPr/>
        </p:nvSpPr>
        <p:spPr>
          <a:xfrm>
            <a:off x="914400" y="3383280"/>
            <a:ext cx="2990088" cy="228600"/>
          </a:xfrm>
          <a:prstGeom prst="rect">
            <a:avLst/>
          </a:prstGeom>
          <a:noFill/>
          <a:ln>
            <a:noFill/>
          </a:ln>
        </p:spPr>
        <p:txBody>
          <a:bodyPr wrap="square" lIns="0" tIns="0" rIns="0" bIns="0" anchor="ctr"/>
          <a:lstStyle/>
          <a:p>
            <a:pPr algn="l"/>
            <a:r>
              <a:rPr lang="en-US" sz="1000" b="1">
                <a:solidFill>
                  <a:srgbClr val="D06B4F"/>
                </a:solidFill>
                <a:latin typeface="Aptos"/>
              </a:rPr>
              <a:t>FEASIBLE</a:t>
            </a:r>
            <a:endParaRPr lang="en-US" sz="1000"/>
          </a:p>
        </p:txBody>
      </p:sp>
      <p:sp>
        <p:nvSpPr>
          <p:cNvPr id="53" name="CardTitle"/>
          <p:cNvSpPr/>
          <p:nvPr/>
        </p:nvSpPr>
        <p:spPr>
          <a:xfrm>
            <a:off x="914400" y="3721608"/>
            <a:ext cx="2990088" cy="347472"/>
          </a:xfrm>
          <a:prstGeom prst="rect">
            <a:avLst/>
          </a:prstGeom>
          <a:noFill/>
          <a:ln>
            <a:noFill/>
          </a:ln>
        </p:spPr>
        <p:txBody>
          <a:bodyPr wrap="square" lIns="0" tIns="0" rIns="0" bIns="0" anchor="ctr"/>
          <a:lstStyle/>
          <a:p>
            <a:pPr algn="l"/>
            <a:r>
              <a:rPr lang="en-US" sz="1800" b="1">
                <a:solidFill>
                  <a:srgbClr val="172033"/>
                </a:solidFill>
                <a:latin typeface="Aptos"/>
              </a:rPr>
              <a:t>Feasible</a:t>
            </a:r>
            <a:endParaRPr lang="en-US" sz="1800"/>
          </a:p>
        </p:txBody>
      </p:sp>
      <p:sp>
        <p:nvSpPr>
          <p:cNvPr id="54" name="CardBody"/>
          <p:cNvSpPr/>
          <p:nvPr/>
        </p:nvSpPr>
        <p:spPr>
          <a:xfrm>
            <a:off x="914400" y="4151376"/>
            <a:ext cx="2990088" cy="228600"/>
          </a:xfrm>
          <a:prstGeom prst="rect">
            <a:avLst/>
          </a:prstGeom>
          <a:noFill/>
          <a:ln>
            <a:noFill/>
          </a:ln>
        </p:spPr>
        <p:txBody>
          <a:bodyPr wrap="square" lIns="0" tIns="0" rIns="0" bIns="0" anchor="ctr"/>
          <a:lstStyle/>
          <a:p>
            <a:pPr algn="l"/>
            <a:r>
              <a:rPr lang="en-US" sz="1400">
                <a:solidFill>
                  <a:srgbClr val="536174"/>
                </a:solidFill>
                <a:latin typeface="Aptos"/>
              </a:rPr>
              <a:t>Technically and financially.</a:t>
            </a:r>
            <a:endParaRPr lang="en-US" sz="1400"/>
          </a:p>
        </p:txBody>
      </p:sp>
      <p:sp>
        <p:nvSpPr>
          <p:cNvPr id="60" name="Box 60"/>
          <p:cNvSpPr/>
          <p:nvPr/>
        </p:nvSpPr>
        <p:spPr>
          <a:xfrm>
            <a:off x="4389120" y="3218688"/>
            <a:ext cx="3401568" cy="1325880"/>
          </a:xfrm>
          <a:prstGeom prst="roundRect">
            <a:avLst/>
          </a:prstGeom>
          <a:solidFill>
            <a:srgbClr val="FFFFFF"/>
          </a:solidFill>
          <a:ln w="12700">
            <a:solidFill>
              <a:srgbClr val="E2E7EE"/>
            </a:solidFill>
          </a:ln>
        </p:spPr>
      </p:sp>
      <p:sp>
        <p:nvSpPr>
          <p:cNvPr id="62" name="Kicker"/>
          <p:cNvSpPr/>
          <p:nvPr/>
        </p:nvSpPr>
        <p:spPr>
          <a:xfrm>
            <a:off x="4617720" y="3383280"/>
            <a:ext cx="2990088" cy="228600"/>
          </a:xfrm>
          <a:prstGeom prst="rect">
            <a:avLst/>
          </a:prstGeom>
          <a:noFill/>
          <a:ln>
            <a:noFill/>
          </a:ln>
        </p:spPr>
        <p:txBody>
          <a:bodyPr wrap="square" lIns="0" tIns="0" rIns="0" bIns="0" anchor="ctr"/>
          <a:lstStyle/>
          <a:p>
            <a:pPr algn="l"/>
            <a:r>
              <a:rPr lang="en-US" sz="1000" b="1">
                <a:solidFill>
                  <a:srgbClr val="8764D8"/>
                </a:solidFill>
                <a:latin typeface="Aptos"/>
              </a:rPr>
              <a:t>VERIFIABLE</a:t>
            </a:r>
            <a:endParaRPr lang="en-US" sz="1000"/>
          </a:p>
        </p:txBody>
      </p:sp>
      <p:sp>
        <p:nvSpPr>
          <p:cNvPr id="63" name="CardTitle"/>
          <p:cNvSpPr/>
          <p:nvPr/>
        </p:nvSpPr>
        <p:spPr>
          <a:xfrm>
            <a:off x="4617720" y="3721608"/>
            <a:ext cx="2990088" cy="347472"/>
          </a:xfrm>
          <a:prstGeom prst="rect">
            <a:avLst/>
          </a:prstGeom>
          <a:noFill/>
          <a:ln>
            <a:noFill/>
          </a:ln>
        </p:spPr>
        <p:txBody>
          <a:bodyPr wrap="square" lIns="0" tIns="0" rIns="0" bIns="0" anchor="ctr"/>
          <a:lstStyle/>
          <a:p>
            <a:pPr algn="l"/>
            <a:r>
              <a:rPr lang="en-US" sz="1800" b="1">
                <a:solidFill>
                  <a:srgbClr val="172033"/>
                </a:solidFill>
                <a:latin typeface="Aptos"/>
              </a:rPr>
              <a:t>Verifiable</a:t>
            </a:r>
            <a:endParaRPr lang="en-US" sz="1800"/>
          </a:p>
        </p:txBody>
      </p:sp>
      <p:sp>
        <p:nvSpPr>
          <p:cNvPr id="64" name="CardBody"/>
          <p:cNvSpPr/>
          <p:nvPr/>
        </p:nvSpPr>
        <p:spPr>
          <a:xfrm>
            <a:off x="4617720" y="4151376"/>
            <a:ext cx="2990088" cy="228600"/>
          </a:xfrm>
          <a:prstGeom prst="rect">
            <a:avLst/>
          </a:prstGeom>
          <a:noFill/>
          <a:ln>
            <a:noFill/>
          </a:ln>
        </p:spPr>
        <p:txBody>
          <a:bodyPr wrap="square" lIns="0" tIns="0" rIns="0" bIns="0" anchor="ctr"/>
          <a:lstStyle/>
          <a:p>
            <a:pPr algn="l"/>
            <a:r>
              <a:rPr lang="en-US" sz="1400">
                <a:solidFill>
                  <a:srgbClr val="536174"/>
                </a:solidFill>
                <a:latin typeface="Aptos"/>
              </a:rPr>
              <a:t>There is objective control.</a:t>
            </a:r>
            <a:endParaRPr lang="en-US" sz="1400"/>
          </a:p>
        </p:txBody>
      </p:sp>
      <p:sp>
        <p:nvSpPr>
          <p:cNvPr id="70" name="Box 70"/>
          <p:cNvSpPr/>
          <p:nvPr/>
        </p:nvSpPr>
        <p:spPr>
          <a:xfrm>
            <a:off x="8092440" y="3218688"/>
            <a:ext cx="3401568" cy="1325880"/>
          </a:xfrm>
          <a:prstGeom prst="roundRect">
            <a:avLst/>
          </a:prstGeom>
          <a:solidFill>
            <a:srgbClr val="FFFFFF"/>
          </a:solidFill>
          <a:ln w="12700">
            <a:solidFill>
              <a:srgbClr val="E2E7EE"/>
            </a:solidFill>
          </a:ln>
        </p:spPr>
      </p:sp>
      <p:sp>
        <p:nvSpPr>
          <p:cNvPr id="72" name="Kicker"/>
          <p:cNvSpPr/>
          <p:nvPr/>
        </p:nvSpPr>
        <p:spPr>
          <a:xfrm>
            <a:off x="8321040" y="3383280"/>
            <a:ext cx="2990088" cy="228600"/>
          </a:xfrm>
          <a:prstGeom prst="rect">
            <a:avLst/>
          </a:prstGeom>
          <a:noFill/>
          <a:ln>
            <a:noFill/>
          </a:ln>
        </p:spPr>
        <p:txBody>
          <a:bodyPr wrap="square" lIns="0" tIns="0" rIns="0" bIns="0" anchor="ctr"/>
          <a:lstStyle/>
          <a:p>
            <a:pPr algn="l"/>
            <a:r>
              <a:rPr lang="en-US" sz="1000" b="1">
                <a:solidFill>
                  <a:srgbClr val="4D9A73"/>
                </a:solidFill>
                <a:latin typeface="Aptos"/>
              </a:rPr>
              <a:t>TRACEABLE</a:t>
            </a:r>
            <a:endParaRPr lang="en-US" sz="1000"/>
          </a:p>
        </p:txBody>
      </p:sp>
      <p:sp>
        <p:nvSpPr>
          <p:cNvPr id="73" name="CardTitle"/>
          <p:cNvSpPr/>
          <p:nvPr/>
        </p:nvSpPr>
        <p:spPr>
          <a:xfrm>
            <a:off x="8321040" y="3721608"/>
            <a:ext cx="2990088" cy="347472"/>
          </a:xfrm>
          <a:prstGeom prst="rect">
            <a:avLst/>
          </a:prstGeom>
          <a:noFill/>
          <a:ln>
            <a:noFill/>
          </a:ln>
        </p:spPr>
        <p:txBody>
          <a:bodyPr wrap="square" lIns="0" tIns="0" rIns="0" bIns="0" anchor="ctr"/>
          <a:lstStyle/>
          <a:p>
            <a:pPr algn="l"/>
            <a:r>
              <a:rPr lang="en-US" sz="1800" b="1">
                <a:solidFill>
                  <a:srgbClr val="172033"/>
                </a:solidFill>
                <a:latin typeface="Aptos"/>
              </a:rPr>
              <a:t>Traceable</a:t>
            </a:r>
            <a:endParaRPr lang="en-US" sz="1800"/>
          </a:p>
        </p:txBody>
      </p:sp>
      <p:sp>
        <p:nvSpPr>
          <p:cNvPr id="74" name="CardBody"/>
          <p:cNvSpPr/>
          <p:nvPr/>
        </p:nvSpPr>
        <p:spPr>
          <a:xfrm>
            <a:off x="8321040" y="4151376"/>
            <a:ext cx="2990088" cy="228600"/>
          </a:xfrm>
          <a:prstGeom prst="rect">
            <a:avLst/>
          </a:prstGeom>
          <a:noFill/>
          <a:ln>
            <a:noFill/>
          </a:ln>
        </p:spPr>
        <p:txBody>
          <a:bodyPr wrap="square" lIns="0" tIns="0" rIns="0" bIns="0" anchor="ctr"/>
          <a:lstStyle/>
          <a:p>
            <a:pPr algn="l"/>
            <a:r>
              <a:rPr lang="en-US" sz="1400">
                <a:solidFill>
                  <a:srgbClr val="536174"/>
                </a:solidFill>
                <a:latin typeface="Aptos"/>
              </a:rPr>
              <a:t>It has a source and a downstream connection.</a:t>
            </a:r>
            <a:endParaRPr lang="en-US" sz="1400"/>
          </a:p>
        </p:txBody>
      </p:sp>
      <p:sp>
        <p:nvSpPr>
          <p:cNvPr id="80" name="Mnemonic"/>
          <p:cNvSpPr/>
          <p:nvPr/>
        </p:nvSpPr>
        <p:spPr>
          <a:xfrm>
            <a:off x="1188720" y="5166360"/>
            <a:ext cx="9784080" cy="457200"/>
          </a:xfrm>
          <a:prstGeom prst="rect">
            <a:avLst/>
          </a:prstGeom>
          <a:noFill/>
          <a:ln>
            <a:noFill/>
          </a:ln>
        </p:spPr>
        <p:txBody>
          <a:bodyPr wrap="square" lIns="0" tIns="0" rIns="0" bIns="0" anchor="ctr"/>
          <a:lstStyle/>
          <a:p>
            <a:pPr algn="l"/>
            <a:r>
              <a:rPr lang="en-US" sz="1600" b="1">
                <a:solidFill>
                  <a:srgbClr val="172033"/>
                </a:solidFill>
                <a:latin typeface="Aptos"/>
              </a:rPr>
              <a:t>If we can't agree on how it will be controlled, it's not done.</a:t>
            </a:r>
            <a:endParaRPr lang="en-US" sz="16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14</a:t>
            </a:r>
            <a:endParaRPr lang="en-US"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4" name="Section"/>
          <p:cNvSpPr/>
          <p:nvPr/>
        </p:nvSpPr>
        <p:spPr>
          <a:xfrm>
            <a:off x="502920" y="256032"/>
            <a:ext cx="8046720" cy="274320"/>
          </a:xfrm>
          <a:prstGeom prst="rect">
            <a:avLst/>
          </a:prstGeom>
          <a:noFill/>
          <a:ln>
            <a:noFill/>
          </a:ln>
        </p:spPr>
        <p:txBody>
          <a:bodyPr wrap="square" lIns="0" tIns="0" rIns="0" bIns="0" anchor="ctr"/>
          <a:lstStyle/>
          <a:p>
            <a:pPr algn="l"/>
            <a:r>
              <a:rPr lang="en-US" sz="1000" b="1">
                <a:solidFill>
                  <a:srgbClr val="25B7A5"/>
                </a:solidFill>
                <a:latin typeface="Aptos"/>
              </a:rPr>
              <a:t>SMALL EXERCISE</a:t>
            </a:r>
            <a:endParaRPr lang="en-US" sz="1000"/>
          </a:p>
        </p:txBody>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Identify the ambiguity</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777240" y="1645920"/>
            <a:ext cx="10652760" cy="960120"/>
          </a:xfrm>
          <a:prstGeom prst="roundRect">
            <a:avLst/>
          </a:prstGeom>
          <a:solidFill>
            <a:srgbClr val="FFF0ED"/>
          </a:solidFill>
          <a:ln w="12700">
            <a:solidFill>
              <a:srgbClr val="F0BEB2"/>
            </a:solidFill>
          </a:ln>
        </p:spPr>
      </p:sp>
      <p:sp>
        <p:nvSpPr>
          <p:cNvPr id="21" name="Bad"/>
          <p:cNvSpPr/>
          <p:nvPr/>
        </p:nvSpPr>
        <p:spPr>
          <a:xfrm>
            <a:off x="1097280" y="1920240"/>
            <a:ext cx="10012680" cy="347472"/>
          </a:xfrm>
          <a:prstGeom prst="rect">
            <a:avLst/>
          </a:prstGeom>
          <a:noFill/>
          <a:ln>
            <a:noFill/>
          </a:ln>
        </p:spPr>
        <p:txBody>
          <a:bodyPr wrap="square" lIns="0" tIns="0" rIns="0" bIns="0" anchor="ctr"/>
          <a:lstStyle/>
          <a:p>
            <a:pPr algn="l"/>
            <a:r>
              <a:rPr lang="en-US" sz="2000" b="1">
                <a:solidFill>
                  <a:srgbClr val="9A3E2A"/>
                </a:solidFill>
                <a:latin typeface="Aptos"/>
              </a:rPr>
              <a:t>"The system will quickly send notifications to relevant users."</a:t>
            </a:r>
            <a:endParaRPr lang="en-US" sz="2000"/>
          </a:p>
        </p:txBody>
      </p:sp>
      <p:sp>
        <p:nvSpPr>
          <p:cNvPr id="30" name="Box 30"/>
          <p:cNvSpPr/>
          <p:nvPr/>
        </p:nvSpPr>
        <p:spPr>
          <a:xfrm>
            <a:off x="777240" y="2971800"/>
            <a:ext cx="3246120" cy="2011680"/>
          </a:xfrm>
          <a:prstGeom prst="roundRect">
            <a:avLst/>
          </a:prstGeom>
          <a:solidFill>
            <a:srgbClr val="FFFFFF"/>
          </a:solidFill>
          <a:ln w="12700">
            <a:solidFill>
              <a:srgbClr val="E2E7EE"/>
            </a:solidFill>
          </a:ln>
        </p:spPr>
      </p:sp>
      <p:sp>
        <p:nvSpPr>
          <p:cNvPr id="32" name="Kicker"/>
          <p:cNvSpPr/>
          <p:nvPr/>
        </p:nvSpPr>
        <p:spPr>
          <a:xfrm>
            <a:off x="1005840" y="3136392"/>
            <a:ext cx="2834640" cy="228600"/>
          </a:xfrm>
          <a:prstGeom prst="rect">
            <a:avLst/>
          </a:prstGeom>
          <a:noFill/>
          <a:ln>
            <a:noFill/>
          </a:ln>
        </p:spPr>
        <p:txBody>
          <a:bodyPr wrap="square" lIns="0" tIns="0" rIns="0" bIns="0" anchor="ctr"/>
          <a:lstStyle/>
          <a:p>
            <a:pPr algn="l"/>
            <a:r>
              <a:rPr lang="en-US" sz="1000" b="1">
                <a:solidFill>
                  <a:srgbClr val="D06B4F"/>
                </a:solidFill>
                <a:latin typeface="Aptos"/>
              </a:rPr>
              <a:t>QUICKLY;</a:t>
            </a:r>
            <a:endParaRPr lang="en-US" sz="1000"/>
          </a:p>
        </p:txBody>
      </p:sp>
      <p:sp>
        <p:nvSpPr>
          <p:cNvPr id="33" name="CardTitle"/>
          <p:cNvSpPr/>
          <p:nvPr/>
        </p:nvSpPr>
        <p:spPr>
          <a:xfrm>
            <a:off x="1005840" y="3474720"/>
            <a:ext cx="2834640" cy="347472"/>
          </a:xfrm>
          <a:prstGeom prst="rect">
            <a:avLst/>
          </a:prstGeom>
          <a:noFill/>
          <a:ln>
            <a:noFill/>
          </a:ln>
        </p:spPr>
        <p:txBody>
          <a:bodyPr wrap="square" lIns="0" tIns="0" rIns="0" bIns="0" anchor="ctr"/>
          <a:lstStyle/>
          <a:p>
            <a:pPr algn="l"/>
            <a:r>
              <a:rPr lang="en-US" sz="1800" b="1">
                <a:solidFill>
                  <a:srgbClr val="172033"/>
                </a:solidFill>
                <a:latin typeface="Aptos"/>
              </a:rPr>
              <a:t>Year</a:t>
            </a:r>
            <a:endParaRPr lang="en-US" sz="1800"/>
          </a:p>
        </p:txBody>
      </p:sp>
      <p:sp>
        <p:nvSpPr>
          <p:cNvPr id="34" name="CardBody"/>
          <p:cNvSpPr/>
          <p:nvPr/>
        </p:nvSpPr>
        <p:spPr>
          <a:xfrm>
            <a:off x="1005840" y="3904488"/>
            <a:ext cx="2834640" cy="914400"/>
          </a:xfrm>
          <a:prstGeom prst="rect">
            <a:avLst/>
          </a:prstGeom>
          <a:noFill/>
          <a:ln>
            <a:noFill/>
          </a:ln>
        </p:spPr>
        <p:txBody>
          <a:bodyPr wrap="square" lIns="0" tIns="0" rIns="0" bIns="0" anchor="ctr"/>
          <a:lstStyle/>
          <a:p>
            <a:pPr algn="l"/>
            <a:r>
              <a:rPr lang="en-US" sz="1400">
                <a:solidFill>
                  <a:srgbClr val="536174"/>
                </a:solidFill>
                <a:latin typeface="Aptos"/>
              </a:rPr>
              <a:t>In 1 s, 1 min or 1 day?</a:t>
            </a:r>
            <a:endParaRPr lang="en-US" sz="1400"/>
          </a:p>
        </p:txBody>
      </p:sp>
      <p:sp>
        <p:nvSpPr>
          <p:cNvPr id="40" name="Box 40"/>
          <p:cNvSpPr/>
          <p:nvPr/>
        </p:nvSpPr>
        <p:spPr>
          <a:xfrm>
            <a:off x="4480560" y="2971800"/>
            <a:ext cx="3246120" cy="2011680"/>
          </a:xfrm>
          <a:prstGeom prst="roundRect">
            <a:avLst/>
          </a:prstGeom>
          <a:solidFill>
            <a:srgbClr val="FFFFFF"/>
          </a:solidFill>
          <a:ln w="12700">
            <a:solidFill>
              <a:srgbClr val="E2E7EE"/>
            </a:solidFill>
          </a:ln>
        </p:spPr>
      </p:sp>
      <p:sp>
        <p:nvSpPr>
          <p:cNvPr id="42" name="Kicker"/>
          <p:cNvSpPr/>
          <p:nvPr/>
        </p:nvSpPr>
        <p:spPr>
          <a:xfrm>
            <a:off x="4709160" y="3136392"/>
            <a:ext cx="2834640" cy="228600"/>
          </a:xfrm>
          <a:prstGeom prst="rect">
            <a:avLst/>
          </a:prstGeom>
          <a:noFill/>
          <a:ln>
            <a:noFill/>
          </a:ln>
        </p:spPr>
        <p:txBody>
          <a:bodyPr wrap="square" lIns="0" tIns="0" rIns="0" bIns="0" anchor="ctr"/>
          <a:lstStyle/>
          <a:p>
            <a:pPr algn="l"/>
            <a:r>
              <a:rPr lang="en-US" sz="1000" b="1">
                <a:solidFill>
                  <a:srgbClr val="F6B44C"/>
                </a:solidFill>
                <a:latin typeface="Aptos"/>
              </a:rPr>
              <a:t>RELATED?</a:t>
            </a:r>
            <a:endParaRPr lang="en-US" sz="1000"/>
          </a:p>
        </p:txBody>
      </p:sp>
      <p:sp>
        <p:nvSpPr>
          <p:cNvPr id="43" name="CardTitle"/>
          <p:cNvSpPr/>
          <p:nvPr/>
        </p:nvSpPr>
        <p:spPr>
          <a:xfrm>
            <a:off x="4709160" y="3474720"/>
            <a:ext cx="2834640" cy="347472"/>
          </a:xfrm>
          <a:prstGeom prst="rect">
            <a:avLst/>
          </a:prstGeom>
          <a:noFill/>
          <a:ln>
            <a:noFill/>
          </a:ln>
        </p:spPr>
        <p:txBody>
          <a:bodyPr wrap="square" lIns="0" tIns="0" rIns="0" bIns="0" anchor="ctr"/>
          <a:lstStyle/>
          <a:p>
            <a:pPr algn="l"/>
            <a:r>
              <a:rPr lang="en-US" sz="1800" b="1">
                <a:solidFill>
                  <a:srgbClr val="172033"/>
                </a:solidFill>
                <a:latin typeface="Aptos"/>
              </a:rPr>
              <a:t>Public</a:t>
            </a:r>
            <a:endParaRPr lang="en-US" sz="1800"/>
          </a:p>
        </p:txBody>
      </p:sp>
      <p:sp>
        <p:nvSpPr>
          <p:cNvPr id="44" name="CardBody"/>
          <p:cNvSpPr/>
          <p:nvPr/>
        </p:nvSpPr>
        <p:spPr>
          <a:xfrm>
            <a:off x="4709160" y="3904488"/>
            <a:ext cx="2834640" cy="914400"/>
          </a:xfrm>
          <a:prstGeom prst="rect">
            <a:avLst/>
          </a:prstGeom>
          <a:noFill/>
          <a:ln>
            <a:noFill/>
          </a:ln>
        </p:spPr>
        <p:txBody>
          <a:bodyPr wrap="square" lIns="0" tIns="0" rIns="0" bIns="0" anchor="ctr"/>
          <a:lstStyle/>
          <a:p>
            <a:pPr algn="l"/>
            <a:r>
              <a:rPr lang="en-US" sz="1400">
                <a:solidFill>
                  <a:srgbClr val="536174"/>
                </a:solidFill>
                <a:latin typeface="Aptos"/>
              </a:rPr>
              <a:t>Which roles and by what rule?</a:t>
            </a:r>
            <a:endParaRPr lang="en-US" sz="1400"/>
          </a:p>
        </p:txBody>
      </p:sp>
      <p:sp>
        <p:nvSpPr>
          <p:cNvPr id="50" name="Box 50"/>
          <p:cNvSpPr/>
          <p:nvPr/>
        </p:nvSpPr>
        <p:spPr>
          <a:xfrm>
            <a:off x="8183880" y="2971800"/>
            <a:ext cx="3246120" cy="2011680"/>
          </a:xfrm>
          <a:prstGeom prst="roundRect">
            <a:avLst/>
          </a:prstGeom>
          <a:solidFill>
            <a:srgbClr val="FFFFFF"/>
          </a:solidFill>
          <a:ln w="12700">
            <a:solidFill>
              <a:srgbClr val="E2E7EE"/>
            </a:solidFill>
          </a:ln>
        </p:spPr>
      </p:sp>
      <p:sp>
        <p:nvSpPr>
          <p:cNvPr id="52" name="Kicker"/>
          <p:cNvSpPr/>
          <p:nvPr/>
        </p:nvSpPr>
        <p:spPr>
          <a:xfrm>
            <a:off x="8412480" y="3136392"/>
            <a:ext cx="2834640" cy="228600"/>
          </a:xfrm>
          <a:prstGeom prst="rect">
            <a:avLst/>
          </a:prstGeom>
          <a:noFill/>
          <a:ln>
            <a:noFill/>
          </a:ln>
        </p:spPr>
        <p:txBody>
          <a:bodyPr wrap="square" lIns="0" tIns="0" rIns="0" bIns="0" anchor="ctr"/>
          <a:lstStyle/>
          <a:p>
            <a:pPr algn="l"/>
            <a:r>
              <a:rPr lang="en-US" sz="1000" b="1">
                <a:solidFill>
                  <a:srgbClr val="5B7CFA"/>
                </a:solidFill>
                <a:latin typeface="Aptos"/>
              </a:rPr>
              <a:t>NOTIFICATIONS?</a:t>
            </a:r>
            <a:endParaRPr lang="en-US" sz="1000"/>
          </a:p>
        </p:txBody>
      </p:sp>
      <p:sp>
        <p:nvSpPr>
          <p:cNvPr id="53" name="CardTitle"/>
          <p:cNvSpPr/>
          <p:nvPr/>
        </p:nvSpPr>
        <p:spPr>
          <a:xfrm>
            <a:off x="8412480" y="3474720"/>
            <a:ext cx="2834640" cy="347472"/>
          </a:xfrm>
          <a:prstGeom prst="rect">
            <a:avLst/>
          </a:prstGeom>
          <a:noFill/>
          <a:ln>
            <a:noFill/>
          </a:ln>
        </p:spPr>
        <p:txBody>
          <a:bodyPr wrap="square" lIns="0" tIns="0" rIns="0" bIns="0" anchor="ctr"/>
          <a:lstStyle/>
          <a:p>
            <a:pPr algn="l"/>
            <a:r>
              <a:rPr lang="en-US" sz="1800" b="1">
                <a:solidFill>
                  <a:srgbClr val="172033"/>
                </a:solidFill>
                <a:latin typeface="Aptos"/>
              </a:rPr>
              <a:t>Channel</a:t>
            </a:r>
            <a:endParaRPr lang="en-US" sz="1800"/>
          </a:p>
        </p:txBody>
      </p:sp>
      <p:sp>
        <p:nvSpPr>
          <p:cNvPr id="54" name="CardBody"/>
          <p:cNvSpPr/>
          <p:nvPr/>
        </p:nvSpPr>
        <p:spPr>
          <a:xfrm>
            <a:off x="8412480" y="3904488"/>
            <a:ext cx="2834640" cy="914400"/>
          </a:xfrm>
          <a:prstGeom prst="rect">
            <a:avLst/>
          </a:prstGeom>
          <a:noFill/>
          <a:ln>
            <a:noFill/>
          </a:ln>
        </p:spPr>
        <p:txBody>
          <a:bodyPr wrap="square" lIns="0" tIns="0" rIns="0" bIns="0" anchor="ctr"/>
          <a:lstStyle/>
          <a:p>
            <a:pPr algn="l"/>
            <a:r>
              <a:rPr lang="en-US" sz="1400">
                <a:solidFill>
                  <a:srgbClr val="536174"/>
                </a:solidFill>
                <a:latin typeface="Aptos"/>
              </a:rPr>
              <a:t>Email, push, SMS; what happens if it fails?</a:t>
            </a:r>
            <a:endParaRPr lang="en-US" sz="1400"/>
          </a:p>
        </p:txBody>
      </p:sp>
      <p:sp>
        <p:nvSpPr>
          <p:cNvPr id="60" name="Prompt"/>
          <p:cNvSpPr/>
          <p:nvPr/>
        </p:nvSpPr>
        <p:spPr>
          <a:xfrm>
            <a:off x="1005840" y="5440680"/>
            <a:ext cx="10149840" cy="320040"/>
          </a:xfrm>
          <a:prstGeom prst="rect">
            <a:avLst/>
          </a:prstGeom>
          <a:noFill/>
          <a:ln>
            <a:noFill/>
          </a:ln>
        </p:spPr>
        <p:txBody>
          <a:bodyPr wrap="square" lIns="0" tIns="0" rIns="0" bIns="0" anchor="ctr"/>
          <a:lstStyle/>
          <a:p>
            <a:pPr algn="l"/>
            <a:r>
              <a:rPr lang="en-US" sz="1600" b="1">
                <a:solidFill>
                  <a:srgbClr val="172033"/>
                </a:solidFill>
                <a:latin typeface="Aptos"/>
              </a:rPr>
              <a:t>2 minutes: rewrite the requirement so that it is testable.</a:t>
            </a:r>
            <a:endParaRPr lang="en-US" sz="16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15</a:t>
            </a:r>
            <a:endParaRPr lang="en-US" sz="9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2B32E-8E8B-40AF-1BF3-D00A2D79C42C}"/>
            </a:ext>
          </a:extLst>
        </p:cNvPr>
        <p:cNvGrpSpPr/>
        <p:nvPr/>
      </p:nvGrpSpPr>
      <p:grpSpPr>
        <a:xfrm>
          <a:off x="0" y="0"/>
          <a:ext cx="0" cy="0"/>
          <a:chOff x="0" y="0"/>
          <a:chExt cx="0" cy="0"/>
        </a:xfrm>
      </p:grpSpPr>
      <p:sp>
        <p:nvSpPr>
          <p:cNvPr id="2" name="Box 2">
            <a:extLst>
              <a:ext uri="{FF2B5EF4-FFF2-40B4-BE49-F238E27FC236}">
                <a16:creationId xmlns:a16="http://schemas.microsoft.com/office/drawing/2014/main" id="{F6C5C8EF-2AC8-A9C8-FC16-7872DA113113}"/>
              </a:ext>
            </a:extLst>
          </p:cNvPr>
          <p:cNvSpPr/>
          <p:nvPr/>
        </p:nvSpPr>
        <p:spPr>
          <a:xfrm>
            <a:off x="0" y="0"/>
            <a:ext cx="12191695" cy="6858000"/>
          </a:xfrm>
          <a:prstGeom prst="rect">
            <a:avLst/>
          </a:prstGeom>
          <a:solidFill>
            <a:srgbClr val="F6F8FB"/>
          </a:solidFill>
          <a:ln w="12700">
            <a:solidFill>
              <a:srgbClr val="F6F8FB"/>
            </a:solidFill>
          </a:ln>
        </p:spPr>
      </p:sp>
      <p:sp>
        <p:nvSpPr>
          <p:cNvPr id="3" name="Box 3">
            <a:extLst>
              <a:ext uri="{FF2B5EF4-FFF2-40B4-BE49-F238E27FC236}">
                <a16:creationId xmlns:a16="http://schemas.microsoft.com/office/drawing/2014/main" id="{D924D74A-8882-D472-D085-B17BDA11A586}"/>
              </a:ext>
            </a:extLst>
          </p:cNvPr>
          <p:cNvSpPr/>
          <p:nvPr/>
        </p:nvSpPr>
        <p:spPr>
          <a:xfrm>
            <a:off x="0" y="0"/>
            <a:ext cx="146304" cy="6858000"/>
          </a:xfrm>
          <a:prstGeom prst="rect">
            <a:avLst/>
          </a:prstGeom>
          <a:solidFill>
            <a:srgbClr val="25B7A5"/>
          </a:solidFill>
          <a:ln w="12700">
            <a:solidFill>
              <a:srgbClr val="25B7A5"/>
            </a:solidFill>
          </a:ln>
        </p:spPr>
      </p:sp>
      <p:sp>
        <p:nvSpPr>
          <p:cNvPr id="4" name="Section">
            <a:extLst>
              <a:ext uri="{FF2B5EF4-FFF2-40B4-BE49-F238E27FC236}">
                <a16:creationId xmlns:a16="http://schemas.microsoft.com/office/drawing/2014/main" id="{2F143E57-5F27-A409-2DE4-5523425187B5}"/>
              </a:ext>
            </a:extLst>
          </p:cNvPr>
          <p:cNvSpPr/>
          <p:nvPr/>
        </p:nvSpPr>
        <p:spPr>
          <a:xfrm>
            <a:off x="502920" y="256032"/>
            <a:ext cx="8046720" cy="274320"/>
          </a:xfrm>
          <a:prstGeom prst="rect">
            <a:avLst/>
          </a:prstGeom>
          <a:noFill/>
          <a:ln>
            <a:noFill/>
          </a:ln>
        </p:spPr>
        <p:txBody>
          <a:bodyPr wrap="square" lIns="0" tIns="0" rIns="0" bIns="0" anchor="ctr"/>
          <a:lstStyle/>
          <a:p>
            <a:pPr algn="l"/>
            <a:r>
              <a:rPr lang="en-US" sz="1000" b="1">
                <a:solidFill>
                  <a:srgbClr val="25B7A5"/>
                </a:solidFill>
                <a:latin typeface="Aptos"/>
              </a:rPr>
              <a:t>SMALL EXERCISE</a:t>
            </a:r>
            <a:endParaRPr lang="en-US" sz="1000"/>
          </a:p>
        </p:txBody>
      </p:sp>
      <p:sp>
        <p:nvSpPr>
          <p:cNvPr id="5" name="Title">
            <a:extLst>
              <a:ext uri="{FF2B5EF4-FFF2-40B4-BE49-F238E27FC236}">
                <a16:creationId xmlns:a16="http://schemas.microsoft.com/office/drawing/2014/main" id="{C91E8601-BFED-B444-3E77-C91295506E10}"/>
              </a:ext>
            </a:extLst>
          </p:cNvPr>
          <p:cNvSpPr/>
          <p:nvPr/>
        </p:nvSpPr>
        <p:spPr>
          <a:xfrm>
            <a:off x="502920" y="612648"/>
            <a:ext cx="11064240" cy="594360"/>
          </a:xfrm>
          <a:prstGeom prst="rect">
            <a:avLst/>
          </a:prstGeom>
          <a:noFill/>
          <a:ln>
            <a:noFill/>
          </a:ln>
        </p:spPr>
        <p:txBody>
          <a:bodyPr wrap="square" lIns="0" tIns="0" rIns="0" bIns="0" anchor="ctr"/>
          <a:lstStyle/>
          <a:p>
            <a:pPr algn="l"/>
            <a:r>
              <a:rPr lang="en-US" sz="2900" b="1" dirty="0">
                <a:solidFill>
                  <a:srgbClr val="172033"/>
                </a:solidFill>
                <a:latin typeface="Aptos"/>
              </a:rPr>
              <a:t>Goals SMART</a:t>
            </a:r>
            <a:endParaRPr lang="en-US" sz="2900" dirty="0"/>
          </a:p>
        </p:txBody>
      </p:sp>
      <p:cxnSp>
        <p:nvCxnSpPr>
          <p:cNvPr id="6" name="Line 6">
            <a:extLst>
              <a:ext uri="{FF2B5EF4-FFF2-40B4-BE49-F238E27FC236}">
                <a16:creationId xmlns:a16="http://schemas.microsoft.com/office/drawing/2014/main" id="{A4F980D4-04BA-0F40-EDE9-288AF1D8B52F}"/>
              </a:ext>
            </a:extLst>
          </p:cNvPr>
          <p:cNvCxnSpPr/>
          <p:nvPr/>
        </p:nvCxnSpPr>
        <p:spPr>
          <a:xfrm>
            <a:off x="502920" y="1261872"/>
            <a:ext cx="11064240" cy="0"/>
          </a:xfrm>
          <a:prstGeom prst="line">
            <a:avLst/>
          </a:prstGeom>
          <a:ln w="12700">
            <a:solidFill>
              <a:srgbClr val="DDE3EA"/>
            </a:solidFill>
          </a:ln>
        </p:spPr>
      </p:cxnSp>
      <p:sp>
        <p:nvSpPr>
          <p:cNvPr id="900" name="Footer">
            <a:extLst>
              <a:ext uri="{FF2B5EF4-FFF2-40B4-BE49-F238E27FC236}">
                <a16:creationId xmlns:a16="http://schemas.microsoft.com/office/drawing/2014/main" id="{F1778C1D-F3ED-E495-B192-3CCD3B527200}"/>
              </a:ext>
            </a:extLst>
          </p:cNvP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a:extLst>
              <a:ext uri="{FF2B5EF4-FFF2-40B4-BE49-F238E27FC236}">
                <a16:creationId xmlns:a16="http://schemas.microsoft.com/office/drawing/2014/main" id="{A6FA2B28-BEFB-1486-90B7-CF510F081679}"/>
              </a:ext>
            </a:extLst>
          </p:cNvPr>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15</a:t>
            </a:r>
            <a:endParaRPr lang="en-US" sz="900"/>
          </a:p>
        </p:txBody>
      </p:sp>
      <p:pic>
        <p:nvPicPr>
          <p:cNvPr id="7" name="Θέση περιεχομένου 4">
            <a:extLst>
              <a:ext uri="{FF2B5EF4-FFF2-40B4-BE49-F238E27FC236}">
                <a16:creationId xmlns:a16="http://schemas.microsoft.com/office/drawing/2014/main" id="{40BAAFB7-5862-664E-2B26-8D92E71FBE0E}"/>
              </a:ext>
            </a:extLst>
          </p:cNvPr>
          <p:cNvPicPr>
            <a:picLocks noChangeAspect="1"/>
          </p:cNvPicPr>
          <p:nvPr/>
        </p:nvPicPr>
        <p:blipFill>
          <a:blip r:embed="rId2">
            <a:extLst>
              <a:ext uri="{28A0092B-C50C-407E-A947-70E740481C1C}">
                <a14:useLocalDpi xmlns:a14="http://schemas.microsoft.com/office/drawing/2010/main" val="0"/>
              </a:ext>
            </a:extLst>
          </a:blip>
          <a:srcRect t="6296"/>
          <a:stretch>
            <a:fillRect/>
          </a:stretch>
        </p:blipFill>
        <p:spPr>
          <a:xfrm>
            <a:off x="956442" y="1381920"/>
            <a:ext cx="9771500" cy="5045137"/>
          </a:xfrm>
          <a:prstGeom prst="rect">
            <a:avLst/>
          </a:prstGeom>
        </p:spPr>
      </p:pic>
    </p:spTree>
    <p:extLst>
      <p:ext uri="{BB962C8B-B14F-4D97-AF65-F5344CB8AC3E}">
        <p14:creationId xmlns:p14="http://schemas.microsoft.com/office/powerpoint/2010/main" val="132461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7BA22-DC1F-8338-62AF-63C65F05F6BF}"/>
            </a:ext>
          </a:extLst>
        </p:cNvPr>
        <p:cNvGrpSpPr/>
        <p:nvPr/>
      </p:nvGrpSpPr>
      <p:grpSpPr>
        <a:xfrm>
          <a:off x="0" y="0"/>
          <a:ext cx="0" cy="0"/>
          <a:chOff x="0" y="0"/>
          <a:chExt cx="0" cy="0"/>
        </a:xfrm>
      </p:grpSpPr>
      <p:sp>
        <p:nvSpPr>
          <p:cNvPr id="2" name="Box 2">
            <a:extLst>
              <a:ext uri="{FF2B5EF4-FFF2-40B4-BE49-F238E27FC236}">
                <a16:creationId xmlns:a16="http://schemas.microsoft.com/office/drawing/2014/main" id="{D583E637-0122-CC1C-E23D-BE72D24D3B9D}"/>
              </a:ext>
            </a:extLst>
          </p:cNvPr>
          <p:cNvSpPr/>
          <p:nvPr/>
        </p:nvSpPr>
        <p:spPr>
          <a:xfrm>
            <a:off x="0" y="0"/>
            <a:ext cx="12191695" cy="6858000"/>
          </a:xfrm>
          <a:prstGeom prst="rect">
            <a:avLst/>
          </a:prstGeom>
          <a:solidFill>
            <a:srgbClr val="F6F8FB"/>
          </a:solidFill>
          <a:ln w="12700">
            <a:solidFill>
              <a:srgbClr val="F6F8FB"/>
            </a:solidFill>
          </a:ln>
        </p:spPr>
      </p:sp>
      <p:sp>
        <p:nvSpPr>
          <p:cNvPr id="3" name="Box 3">
            <a:extLst>
              <a:ext uri="{FF2B5EF4-FFF2-40B4-BE49-F238E27FC236}">
                <a16:creationId xmlns:a16="http://schemas.microsoft.com/office/drawing/2014/main" id="{85E6AED9-61E5-D5AB-698E-3BD8B54093DE}"/>
              </a:ext>
            </a:extLst>
          </p:cNvPr>
          <p:cNvSpPr/>
          <p:nvPr/>
        </p:nvSpPr>
        <p:spPr>
          <a:xfrm>
            <a:off x="0" y="0"/>
            <a:ext cx="146304" cy="6858000"/>
          </a:xfrm>
          <a:prstGeom prst="rect">
            <a:avLst/>
          </a:prstGeom>
          <a:solidFill>
            <a:srgbClr val="25B7A5"/>
          </a:solidFill>
          <a:ln w="12700">
            <a:solidFill>
              <a:srgbClr val="25B7A5"/>
            </a:solidFill>
          </a:ln>
        </p:spPr>
      </p:sp>
      <p:sp>
        <p:nvSpPr>
          <p:cNvPr id="4" name="Section">
            <a:extLst>
              <a:ext uri="{FF2B5EF4-FFF2-40B4-BE49-F238E27FC236}">
                <a16:creationId xmlns:a16="http://schemas.microsoft.com/office/drawing/2014/main" id="{42AA7ACF-77E8-85AA-8D6B-ED45F00C04AF}"/>
              </a:ext>
            </a:extLst>
          </p:cNvPr>
          <p:cNvSpPr/>
          <p:nvPr/>
        </p:nvSpPr>
        <p:spPr>
          <a:xfrm>
            <a:off x="502920" y="256032"/>
            <a:ext cx="8046720" cy="274320"/>
          </a:xfrm>
          <a:prstGeom prst="rect">
            <a:avLst/>
          </a:prstGeom>
          <a:noFill/>
          <a:ln>
            <a:noFill/>
          </a:ln>
        </p:spPr>
        <p:txBody>
          <a:bodyPr wrap="square" lIns="0" tIns="0" rIns="0" bIns="0" anchor="ctr"/>
          <a:lstStyle/>
          <a:p>
            <a:pPr algn="l"/>
            <a:r>
              <a:rPr lang="en-US" sz="1000" b="1">
                <a:solidFill>
                  <a:srgbClr val="25B7A5"/>
                </a:solidFill>
                <a:latin typeface="Aptos"/>
              </a:rPr>
              <a:t>SMALL EXERCISE</a:t>
            </a:r>
            <a:endParaRPr lang="en-US" sz="1000"/>
          </a:p>
        </p:txBody>
      </p:sp>
      <p:sp>
        <p:nvSpPr>
          <p:cNvPr id="5" name="Title">
            <a:extLst>
              <a:ext uri="{FF2B5EF4-FFF2-40B4-BE49-F238E27FC236}">
                <a16:creationId xmlns:a16="http://schemas.microsoft.com/office/drawing/2014/main" id="{CFD77DBB-A1C5-085B-A06D-AAF0AA645427}"/>
              </a:ext>
            </a:extLst>
          </p:cNvPr>
          <p:cNvSpPr/>
          <p:nvPr/>
        </p:nvSpPr>
        <p:spPr>
          <a:xfrm>
            <a:off x="502920" y="612648"/>
            <a:ext cx="11064240" cy="594360"/>
          </a:xfrm>
          <a:prstGeom prst="rect">
            <a:avLst/>
          </a:prstGeom>
          <a:noFill/>
          <a:ln>
            <a:noFill/>
          </a:ln>
        </p:spPr>
        <p:txBody>
          <a:bodyPr wrap="square" lIns="0" tIns="0" rIns="0" bIns="0" anchor="ctr"/>
          <a:lstStyle/>
          <a:p>
            <a:pPr algn="l"/>
            <a:r>
              <a:rPr lang="en-US" sz="2900" b="1" dirty="0">
                <a:solidFill>
                  <a:srgbClr val="172033"/>
                </a:solidFill>
                <a:latin typeface="Aptos"/>
              </a:rPr>
              <a:t>Goals SMART</a:t>
            </a:r>
            <a:endParaRPr lang="en-US" sz="2900" dirty="0"/>
          </a:p>
        </p:txBody>
      </p:sp>
      <p:cxnSp>
        <p:nvCxnSpPr>
          <p:cNvPr id="6" name="Line 6">
            <a:extLst>
              <a:ext uri="{FF2B5EF4-FFF2-40B4-BE49-F238E27FC236}">
                <a16:creationId xmlns:a16="http://schemas.microsoft.com/office/drawing/2014/main" id="{1EA9B513-A923-CD21-79DF-AE6B6FB82BF4}"/>
              </a:ext>
            </a:extLst>
          </p:cNvPr>
          <p:cNvCxnSpPr/>
          <p:nvPr/>
        </p:nvCxnSpPr>
        <p:spPr>
          <a:xfrm>
            <a:off x="502920" y="1261872"/>
            <a:ext cx="11064240" cy="0"/>
          </a:xfrm>
          <a:prstGeom prst="line">
            <a:avLst/>
          </a:prstGeom>
          <a:ln w="12700">
            <a:solidFill>
              <a:srgbClr val="DDE3EA"/>
            </a:solidFill>
          </a:ln>
        </p:spPr>
      </p:cxnSp>
      <p:sp>
        <p:nvSpPr>
          <p:cNvPr id="900" name="Footer">
            <a:extLst>
              <a:ext uri="{FF2B5EF4-FFF2-40B4-BE49-F238E27FC236}">
                <a16:creationId xmlns:a16="http://schemas.microsoft.com/office/drawing/2014/main" id="{798D5CA6-ADFB-8D64-C35C-9051B23CBEAF}"/>
              </a:ext>
            </a:extLst>
          </p:cNvP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a:extLst>
              <a:ext uri="{FF2B5EF4-FFF2-40B4-BE49-F238E27FC236}">
                <a16:creationId xmlns:a16="http://schemas.microsoft.com/office/drawing/2014/main" id="{C75977E0-27E9-8EAB-B0AE-8B8177409B4D}"/>
              </a:ext>
            </a:extLst>
          </p:cNvPr>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15</a:t>
            </a:r>
            <a:endParaRPr lang="en-US" sz="900"/>
          </a:p>
        </p:txBody>
      </p:sp>
      <p:sp>
        <p:nvSpPr>
          <p:cNvPr id="8" name="TextBox 7">
            <a:extLst>
              <a:ext uri="{FF2B5EF4-FFF2-40B4-BE49-F238E27FC236}">
                <a16:creationId xmlns:a16="http://schemas.microsoft.com/office/drawing/2014/main" id="{A178B8AC-6CFA-97D3-5377-DA2480D2B56D}"/>
              </a:ext>
            </a:extLst>
          </p:cNvPr>
          <p:cNvSpPr txBox="1"/>
          <p:nvPr/>
        </p:nvSpPr>
        <p:spPr>
          <a:xfrm>
            <a:off x="502920" y="1418897"/>
            <a:ext cx="10743149" cy="3970318"/>
          </a:xfrm>
          <a:prstGeom prst="rect">
            <a:avLst/>
          </a:prstGeom>
          <a:noFill/>
        </p:spPr>
        <p:txBody>
          <a:bodyPr wrap="square" rtlCol="0">
            <a:spAutoFit/>
          </a:bodyPr>
          <a:lstStyle/>
          <a:p>
            <a:pPr marL="365760" indent="-256032">
              <a:buClr>
                <a:schemeClr val="accent1"/>
              </a:buClr>
              <a:buSzPct val="68000"/>
              <a:buFont typeface="Wingdings 3"/>
              <a:buChar char=""/>
            </a:pPr>
            <a:r>
              <a:rPr lang="en-US" dirty="0">
                <a:latin typeface="Aptos" panose="020B0004020202020204" pitchFamily="34" charset="0"/>
              </a:rPr>
              <a:t>The SMART is a mnemonic acronym that provides criteria that guide the setting of goals that yield better results, for example in project management, employee performance management, and personal development. The term was first proposed by</a:t>
            </a:r>
            <a:r>
              <a:rPr lang="en-US" dirty="0" err="1">
                <a:latin typeface="Aptos" panose="020B0004020202020204" pitchFamily="34" charset="0"/>
              </a:rPr>
              <a:t> George</a:t>
            </a:r>
            <a:r>
              <a:rPr lang="en-US" dirty="0">
                <a:latin typeface="Aptos" panose="020B0004020202020204" pitchFamily="34" charset="0"/>
              </a:rPr>
              <a:t> T. </a:t>
            </a:r>
            <a:r>
              <a:rPr lang="en-US" dirty="0" err="1">
                <a:latin typeface="Aptos" panose="020B0004020202020204" pitchFamily="34" charset="0"/>
              </a:rPr>
              <a:t>Doran</a:t>
            </a:r>
            <a:r>
              <a:rPr lang="en-US" dirty="0">
                <a:latin typeface="Aptos" panose="020B0004020202020204" pitchFamily="34" charset="0"/>
              </a:rPr>
              <a:t> in 1981.</a:t>
            </a:r>
          </a:p>
          <a:p>
            <a:pPr marL="365760" indent="-256032">
              <a:buClr>
                <a:schemeClr val="accent1"/>
              </a:buClr>
              <a:buSzPct val="68000"/>
              <a:buFont typeface="Wingdings 3"/>
              <a:buChar char=""/>
            </a:pPr>
            <a:endParaRPr lang="en-US" dirty="0">
              <a:latin typeface="Aptos" panose="020B0004020202020204" pitchFamily="34" charset="0"/>
            </a:endParaRPr>
          </a:p>
          <a:p>
            <a:pPr marL="365760" indent="-256032">
              <a:buClr>
                <a:schemeClr val="accent1"/>
              </a:buClr>
              <a:buSzPct val="68000"/>
              <a:buFont typeface="Wingdings 3"/>
              <a:buChar char=""/>
            </a:pPr>
            <a:r>
              <a:rPr lang="en-US" dirty="0">
                <a:latin typeface="Aptos" panose="020B0004020202020204" pitchFamily="34" charset="0"/>
              </a:rPr>
              <a:t>He suggested that the goals should be:</a:t>
            </a:r>
          </a:p>
          <a:p>
            <a:pPr marL="822960" lvl="1" indent="-256032">
              <a:buClr>
                <a:schemeClr val="accent1"/>
              </a:buClr>
              <a:buSzPct val="68000"/>
              <a:buFont typeface="Wingdings 3"/>
              <a:buChar char=""/>
            </a:pPr>
            <a:r>
              <a:rPr lang="en-US" i="1" dirty="0">
                <a:latin typeface="Aptos" panose="020B0004020202020204" pitchFamily="34" charset="0"/>
              </a:rPr>
              <a:t>Specific</a:t>
            </a:r>
            <a:r>
              <a:rPr lang="en-US" dirty="0">
                <a:latin typeface="Aptos" panose="020B0004020202020204" pitchFamily="34" charset="0"/>
              </a:rPr>
              <a:t> – </a:t>
            </a:r>
            <a:r>
              <a:rPr lang="en-US" i="1" dirty="0">
                <a:latin typeface="Aptos" panose="020B0004020202020204" pitchFamily="34" charset="0"/>
              </a:rPr>
              <a:t>Specific</a:t>
            </a:r>
            <a:r>
              <a:rPr lang="en-US" dirty="0">
                <a:latin typeface="Aptos" panose="020B0004020202020204" pitchFamily="34" charset="0"/>
              </a:rPr>
              <a:t>: a specific area for improvement</a:t>
            </a:r>
          </a:p>
          <a:p>
            <a:pPr marL="822960" lvl="1" indent="-256032">
              <a:buClr>
                <a:schemeClr val="accent1"/>
              </a:buClr>
              <a:buSzPct val="68000"/>
              <a:buFont typeface="Wingdings 3"/>
              <a:buChar char=""/>
            </a:pPr>
            <a:r>
              <a:rPr lang="en-US" i="1" dirty="0">
                <a:latin typeface="Aptos" panose="020B0004020202020204" pitchFamily="34" charset="0"/>
              </a:rPr>
              <a:t>Measurable</a:t>
            </a:r>
            <a:r>
              <a:rPr lang="en-US" dirty="0">
                <a:latin typeface="Aptos" panose="020B0004020202020204" pitchFamily="34" charset="0"/>
              </a:rPr>
              <a:t> –</a:t>
            </a:r>
            <a:r>
              <a:rPr lang="en-US" i="1" dirty="0">
                <a:latin typeface="Aptos" panose="020B0004020202020204" pitchFamily="34" charset="0"/>
              </a:rPr>
              <a:t>Measurable</a:t>
            </a:r>
            <a:r>
              <a:rPr lang="en-US" dirty="0">
                <a:latin typeface="Aptos" panose="020B0004020202020204" pitchFamily="34" charset="0"/>
              </a:rPr>
              <a:t>: quantification or indicators to indicate progress</a:t>
            </a:r>
          </a:p>
          <a:p>
            <a:pPr marL="822960" lvl="1" indent="-256032">
              <a:buClr>
                <a:schemeClr val="accent1"/>
              </a:buClr>
              <a:buSzPct val="68000"/>
              <a:buFont typeface="Wingdings 3"/>
              <a:buChar char=""/>
            </a:pPr>
            <a:r>
              <a:rPr lang="en-US" i="1" dirty="0">
                <a:latin typeface="Aptos" panose="020B0004020202020204" pitchFamily="34" charset="0"/>
              </a:rPr>
              <a:t>Assignable</a:t>
            </a:r>
            <a:r>
              <a:rPr lang="en-US" dirty="0">
                <a:latin typeface="Aptos" panose="020B0004020202020204" pitchFamily="34" charset="0"/>
              </a:rPr>
              <a:t> – </a:t>
            </a:r>
            <a:r>
              <a:rPr lang="en-US" i="1" dirty="0">
                <a:latin typeface="Aptos" panose="020B0004020202020204" pitchFamily="34" charset="0"/>
              </a:rPr>
              <a:t>Possibility of assignment</a:t>
            </a:r>
            <a:r>
              <a:rPr lang="en-US" dirty="0">
                <a:latin typeface="Aptos" panose="020B0004020202020204" pitchFamily="34" charset="0"/>
              </a:rPr>
              <a:t>: determining who does what //alternative to Achievable</a:t>
            </a:r>
          </a:p>
          <a:p>
            <a:pPr marL="822960" lvl="1" indent="-256032">
              <a:buClr>
                <a:schemeClr val="accent1"/>
              </a:buClr>
              <a:buSzPct val="68000"/>
              <a:buFont typeface="Wingdings 3"/>
              <a:buChar char=""/>
            </a:pPr>
            <a:r>
              <a:rPr lang="en-US" i="1" dirty="0">
                <a:latin typeface="Aptos" panose="020B0004020202020204" pitchFamily="34" charset="0"/>
              </a:rPr>
              <a:t>Realistic</a:t>
            </a:r>
            <a:r>
              <a:rPr lang="en-US" dirty="0">
                <a:latin typeface="Aptos" panose="020B0004020202020204" pitchFamily="34" charset="0"/>
              </a:rPr>
              <a:t> – </a:t>
            </a:r>
            <a:r>
              <a:rPr lang="en-US" i="1" dirty="0">
                <a:latin typeface="Aptos" panose="020B0004020202020204" pitchFamily="34" charset="0"/>
              </a:rPr>
              <a:t>Realistic</a:t>
            </a:r>
            <a:r>
              <a:rPr lang="en-US" dirty="0">
                <a:latin typeface="Aptos" panose="020B0004020202020204" pitchFamily="34" charset="0"/>
              </a:rPr>
              <a:t>: (what results can be achieved with the available resources) //alternative to Relevant</a:t>
            </a:r>
          </a:p>
          <a:p>
            <a:pPr marL="822960" lvl="1" indent="-256032">
              <a:buClr>
                <a:schemeClr val="accent1"/>
              </a:buClr>
              <a:buSzPct val="68000"/>
              <a:buFont typeface="Wingdings 3"/>
              <a:buChar char=""/>
            </a:pPr>
            <a:r>
              <a:rPr lang="en-US" i="1" dirty="0">
                <a:latin typeface="Aptos" panose="020B0004020202020204" pitchFamily="34" charset="0"/>
              </a:rPr>
              <a:t>Time-related</a:t>
            </a:r>
            <a:r>
              <a:rPr lang="en-US" dirty="0">
                <a:latin typeface="Aptos" panose="020B0004020202020204" pitchFamily="34" charset="0"/>
              </a:rPr>
              <a:t> – </a:t>
            </a:r>
            <a:r>
              <a:rPr lang="en-US" i="1" dirty="0">
                <a:latin typeface="Aptos" panose="020B0004020202020204" pitchFamily="34" charset="0"/>
              </a:rPr>
              <a:t>Time determination</a:t>
            </a:r>
            <a:r>
              <a:rPr lang="en-US" dirty="0">
                <a:latin typeface="Aptos" panose="020B0004020202020204" pitchFamily="34" charset="0"/>
              </a:rPr>
              <a:t>: when will they be achieved</a:t>
            </a:r>
          </a:p>
          <a:p>
            <a:pPr marL="365760" indent="-256032">
              <a:buClr>
                <a:schemeClr val="accent1"/>
              </a:buClr>
              <a:buSzPct val="68000"/>
              <a:buFont typeface="Wingdings 3"/>
              <a:buChar char=""/>
            </a:pPr>
            <a:endParaRPr lang="en-US" dirty="0">
              <a:latin typeface="Aptos" panose="020B0004020202020204" pitchFamily="34" charset="0"/>
            </a:endParaRPr>
          </a:p>
          <a:p>
            <a:endParaRPr lang="en-US" dirty="0">
              <a:latin typeface="Aptos" panose="020B0004020202020204" pitchFamily="34" charset="0"/>
            </a:endParaRPr>
          </a:p>
        </p:txBody>
      </p:sp>
    </p:spTree>
    <p:extLst>
      <p:ext uri="{BB962C8B-B14F-4D97-AF65-F5344CB8AC3E}">
        <p14:creationId xmlns:p14="http://schemas.microsoft.com/office/powerpoint/2010/main" val="666279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88572-E94A-3952-D9BF-5BAC05B948F1}"/>
            </a:ext>
          </a:extLst>
        </p:cNvPr>
        <p:cNvGrpSpPr/>
        <p:nvPr/>
      </p:nvGrpSpPr>
      <p:grpSpPr>
        <a:xfrm>
          <a:off x="0" y="0"/>
          <a:ext cx="0" cy="0"/>
          <a:chOff x="0" y="0"/>
          <a:chExt cx="0" cy="0"/>
        </a:xfrm>
      </p:grpSpPr>
      <p:sp>
        <p:nvSpPr>
          <p:cNvPr id="2" name="Box 2">
            <a:extLst>
              <a:ext uri="{FF2B5EF4-FFF2-40B4-BE49-F238E27FC236}">
                <a16:creationId xmlns:a16="http://schemas.microsoft.com/office/drawing/2014/main" id="{916DA2F3-3CE7-90D7-3DD3-65942C658354}"/>
              </a:ext>
            </a:extLst>
          </p:cNvPr>
          <p:cNvSpPr/>
          <p:nvPr/>
        </p:nvSpPr>
        <p:spPr>
          <a:xfrm>
            <a:off x="0" y="0"/>
            <a:ext cx="12191695" cy="6858000"/>
          </a:xfrm>
          <a:prstGeom prst="rect">
            <a:avLst/>
          </a:prstGeom>
          <a:solidFill>
            <a:srgbClr val="F6F8FB"/>
          </a:solidFill>
          <a:ln w="12700">
            <a:solidFill>
              <a:srgbClr val="F6F8FB"/>
            </a:solidFill>
          </a:ln>
        </p:spPr>
      </p:sp>
      <p:sp>
        <p:nvSpPr>
          <p:cNvPr id="3" name="Box 3">
            <a:extLst>
              <a:ext uri="{FF2B5EF4-FFF2-40B4-BE49-F238E27FC236}">
                <a16:creationId xmlns:a16="http://schemas.microsoft.com/office/drawing/2014/main" id="{CD40EF14-8B74-8E20-FCF2-94D4F877E193}"/>
              </a:ext>
            </a:extLst>
          </p:cNvPr>
          <p:cNvSpPr/>
          <p:nvPr/>
        </p:nvSpPr>
        <p:spPr>
          <a:xfrm>
            <a:off x="0" y="0"/>
            <a:ext cx="146304" cy="6858000"/>
          </a:xfrm>
          <a:prstGeom prst="rect">
            <a:avLst/>
          </a:prstGeom>
          <a:solidFill>
            <a:srgbClr val="25B7A5"/>
          </a:solidFill>
          <a:ln w="12700">
            <a:solidFill>
              <a:srgbClr val="25B7A5"/>
            </a:solidFill>
          </a:ln>
        </p:spPr>
      </p:sp>
      <p:sp>
        <p:nvSpPr>
          <p:cNvPr id="4" name="Section">
            <a:extLst>
              <a:ext uri="{FF2B5EF4-FFF2-40B4-BE49-F238E27FC236}">
                <a16:creationId xmlns:a16="http://schemas.microsoft.com/office/drawing/2014/main" id="{39AB7304-FCEF-14D1-7190-C84F228C5AC0}"/>
              </a:ext>
            </a:extLst>
          </p:cNvPr>
          <p:cNvSpPr/>
          <p:nvPr/>
        </p:nvSpPr>
        <p:spPr>
          <a:xfrm>
            <a:off x="502920" y="256032"/>
            <a:ext cx="8046720" cy="274320"/>
          </a:xfrm>
          <a:prstGeom prst="rect">
            <a:avLst/>
          </a:prstGeom>
          <a:noFill/>
          <a:ln>
            <a:noFill/>
          </a:ln>
        </p:spPr>
        <p:txBody>
          <a:bodyPr wrap="square" lIns="0" tIns="0" rIns="0" bIns="0" anchor="ctr"/>
          <a:lstStyle/>
          <a:p>
            <a:pPr algn="l"/>
            <a:r>
              <a:rPr lang="en-US" sz="1000" b="1">
                <a:solidFill>
                  <a:srgbClr val="25B7A5"/>
                </a:solidFill>
                <a:latin typeface="Aptos"/>
              </a:rPr>
              <a:t>SMALL EXERCISE</a:t>
            </a:r>
            <a:endParaRPr lang="en-US" sz="1000"/>
          </a:p>
        </p:txBody>
      </p:sp>
      <p:sp>
        <p:nvSpPr>
          <p:cNvPr id="5" name="Title">
            <a:extLst>
              <a:ext uri="{FF2B5EF4-FFF2-40B4-BE49-F238E27FC236}">
                <a16:creationId xmlns:a16="http://schemas.microsoft.com/office/drawing/2014/main" id="{1960EF63-6D8A-9775-4F64-5E43C4268248}"/>
              </a:ext>
            </a:extLst>
          </p:cNvPr>
          <p:cNvSpPr/>
          <p:nvPr/>
        </p:nvSpPr>
        <p:spPr>
          <a:xfrm>
            <a:off x="502920" y="612648"/>
            <a:ext cx="11064240" cy="594360"/>
          </a:xfrm>
          <a:prstGeom prst="rect">
            <a:avLst/>
          </a:prstGeom>
          <a:noFill/>
          <a:ln>
            <a:noFill/>
          </a:ln>
        </p:spPr>
        <p:txBody>
          <a:bodyPr wrap="square" lIns="0" tIns="0" rIns="0" bIns="0" anchor="ctr"/>
          <a:lstStyle/>
          <a:p>
            <a:pPr algn="l"/>
            <a:r>
              <a:rPr lang="en-US" sz="2900" b="1" dirty="0">
                <a:solidFill>
                  <a:srgbClr val="172033"/>
                </a:solidFill>
                <a:latin typeface="Aptos"/>
              </a:rPr>
              <a:t>Other target definitions</a:t>
            </a:r>
            <a:endParaRPr lang="en-US" sz="2900" dirty="0"/>
          </a:p>
        </p:txBody>
      </p:sp>
      <p:cxnSp>
        <p:nvCxnSpPr>
          <p:cNvPr id="6" name="Line 6">
            <a:extLst>
              <a:ext uri="{FF2B5EF4-FFF2-40B4-BE49-F238E27FC236}">
                <a16:creationId xmlns:a16="http://schemas.microsoft.com/office/drawing/2014/main" id="{620CC2FC-4102-430C-FC33-95F9E3FAAD47}"/>
              </a:ext>
            </a:extLst>
          </p:cNvPr>
          <p:cNvCxnSpPr/>
          <p:nvPr/>
        </p:nvCxnSpPr>
        <p:spPr>
          <a:xfrm>
            <a:off x="502920" y="1261872"/>
            <a:ext cx="11064240" cy="0"/>
          </a:xfrm>
          <a:prstGeom prst="line">
            <a:avLst/>
          </a:prstGeom>
          <a:ln w="12700">
            <a:solidFill>
              <a:srgbClr val="DDE3EA"/>
            </a:solidFill>
          </a:ln>
        </p:spPr>
      </p:cxnSp>
      <p:sp>
        <p:nvSpPr>
          <p:cNvPr id="900" name="Footer">
            <a:extLst>
              <a:ext uri="{FF2B5EF4-FFF2-40B4-BE49-F238E27FC236}">
                <a16:creationId xmlns:a16="http://schemas.microsoft.com/office/drawing/2014/main" id="{6A0D6793-867F-96B1-853E-F215B26934D0}"/>
              </a:ext>
            </a:extLst>
          </p:cNvP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a:extLst>
              <a:ext uri="{FF2B5EF4-FFF2-40B4-BE49-F238E27FC236}">
                <a16:creationId xmlns:a16="http://schemas.microsoft.com/office/drawing/2014/main" id="{5253C269-ED29-834F-9030-299EDE435D64}"/>
              </a:ext>
            </a:extLst>
          </p:cNvPr>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15</a:t>
            </a:r>
            <a:endParaRPr lang="en-US" sz="900"/>
          </a:p>
        </p:txBody>
      </p:sp>
      <p:sp>
        <p:nvSpPr>
          <p:cNvPr id="8" name="TextBox 7">
            <a:extLst>
              <a:ext uri="{FF2B5EF4-FFF2-40B4-BE49-F238E27FC236}">
                <a16:creationId xmlns:a16="http://schemas.microsoft.com/office/drawing/2014/main" id="{DDB01615-F8F2-F816-62DD-D5312D75CCAB}"/>
              </a:ext>
            </a:extLst>
          </p:cNvPr>
          <p:cNvSpPr txBox="1"/>
          <p:nvPr/>
        </p:nvSpPr>
        <p:spPr>
          <a:xfrm>
            <a:off x="502920" y="1418897"/>
            <a:ext cx="10743149" cy="2585323"/>
          </a:xfrm>
          <a:prstGeom prst="rect">
            <a:avLst/>
          </a:prstGeom>
          <a:noFill/>
        </p:spPr>
        <p:txBody>
          <a:bodyPr wrap="square" rtlCol="0">
            <a:spAutoFit/>
          </a:bodyPr>
          <a:lstStyle/>
          <a:p>
            <a:pPr marL="365760" indent="-256032">
              <a:buClr>
                <a:schemeClr val="accent1"/>
              </a:buClr>
              <a:buSzPct val="68000"/>
              <a:buFont typeface="Wingdings 3"/>
              <a:buChar char=""/>
            </a:pPr>
            <a:r>
              <a:rPr lang="en-US" b="1" dirty="0">
                <a:latin typeface="Aptos" panose="020B0004020202020204" pitchFamily="34" charset="0"/>
              </a:rPr>
              <a:t>CLEAR</a:t>
            </a:r>
            <a:r>
              <a:rPr lang="en-US" dirty="0">
                <a:latin typeface="Aptos" panose="020B0004020202020204" pitchFamily="34" charset="0"/>
              </a:rPr>
              <a:t>: Collaborative; Limited; Emotional; Appreciable; Refinable</a:t>
            </a:r>
          </a:p>
          <a:p>
            <a:pPr marL="365760" indent="-256032">
              <a:buClr>
                <a:schemeClr val="accent1"/>
              </a:buClr>
              <a:buSzPct val="68000"/>
              <a:buFont typeface="Wingdings 3"/>
              <a:buChar char=""/>
            </a:pPr>
            <a:endParaRPr lang="en-US" dirty="0">
              <a:latin typeface="Aptos" panose="020B0004020202020204" pitchFamily="34" charset="0"/>
            </a:endParaRPr>
          </a:p>
          <a:p>
            <a:pPr marL="365760" indent="-256032">
              <a:buClr>
                <a:schemeClr val="accent1"/>
              </a:buClr>
              <a:buSzPct val="68000"/>
              <a:buFont typeface="Wingdings 3"/>
              <a:buChar char=""/>
            </a:pPr>
            <a:r>
              <a:rPr lang="en-US" b="1" dirty="0">
                <a:latin typeface="Aptos" panose="020B0004020202020204" pitchFamily="34" charset="0"/>
              </a:rPr>
              <a:t>PURE</a:t>
            </a:r>
            <a:r>
              <a:rPr lang="en-US" dirty="0">
                <a:latin typeface="Aptos" panose="020B0004020202020204" pitchFamily="34" charset="0"/>
              </a:rPr>
              <a:t>: Positively stated; Understood; Relevant; Ethical</a:t>
            </a:r>
          </a:p>
          <a:p>
            <a:pPr marL="365760" indent="-256032">
              <a:buClr>
                <a:schemeClr val="accent1"/>
              </a:buClr>
              <a:buSzPct val="68000"/>
              <a:buFont typeface="Wingdings 3"/>
              <a:buChar char=""/>
            </a:pPr>
            <a:endParaRPr lang="en-US" dirty="0">
              <a:latin typeface="Aptos" panose="020B0004020202020204" pitchFamily="34" charset="0"/>
            </a:endParaRPr>
          </a:p>
          <a:p>
            <a:pPr marL="365760" indent="-256032">
              <a:buClr>
                <a:schemeClr val="accent1"/>
              </a:buClr>
              <a:buSzPct val="68000"/>
              <a:buFont typeface="Wingdings 3"/>
              <a:buChar char=""/>
            </a:pPr>
            <a:r>
              <a:rPr lang="en-US" b="1" dirty="0">
                <a:latin typeface="Aptos" panose="020B0004020202020204" pitchFamily="34" charset="0"/>
              </a:rPr>
              <a:t>CPQQRT</a:t>
            </a:r>
            <a:r>
              <a:rPr lang="en-US" dirty="0">
                <a:latin typeface="Aptos" panose="020B0004020202020204" pitchFamily="34" charset="0"/>
              </a:rPr>
              <a:t>: Context; Purpose; Quantity; Quality; Resources; Timing</a:t>
            </a:r>
          </a:p>
          <a:p>
            <a:pPr marL="365760" indent="-256032">
              <a:buClr>
                <a:schemeClr val="accent1"/>
              </a:buClr>
              <a:buSzPct val="68000"/>
              <a:buFont typeface="Wingdings 3"/>
              <a:buChar char=""/>
            </a:pPr>
            <a:endParaRPr lang="en-US" dirty="0">
              <a:latin typeface="Aptos" panose="020B0004020202020204" pitchFamily="34" charset="0"/>
            </a:endParaRPr>
          </a:p>
          <a:p>
            <a:pPr marL="365760" indent="-256032">
              <a:buClr>
                <a:schemeClr val="accent1"/>
              </a:buClr>
              <a:buSzPct val="68000"/>
              <a:buFont typeface="Wingdings 3"/>
              <a:buChar char=""/>
            </a:pPr>
            <a:r>
              <a:rPr lang="en-US" b="1" dirty="0">
                <a:latin typeface="Aptos" panose="020B0004020202020204" pitchFamily="34" charset="0"/>
              </a:rPr>
              <a:t>ABC</a:t>
            </a:r>
            <a:r>
              <a:rPr lang="en-US" dirty="0">
                <a:latin typeface="Aptos" panose="020B0004020202020204" pitchFamily="34" charset="0"/>
              </a:rPr>
              <a:t>: Achievable; Believable; Committed</a:t>
            </a:r>
          </a:p>
          <a:p>
            <a:pPr marL="365760" indent="-256032">
              <a:buClr>
                <a:schemeClr val="accent1"/>
              </a:buClr>
              <a:buSzPct val="68000"/>
              <a:buFont typeface="Wingdings 3"/>
              <a:buChar char=""/>
            </a:pPr>
            <a:endParaRPr lang="en-US" dirty="0">
              <a:latin typeface="Aptos" panose="020B0004020202020204" pitchFamily="34" charset="0"/>
            </a:endParaRPr>
          </a:p>
          <a:p>
            <a:endParaRPr lang="en-US" dirty="0">
              <a:latin typeface="Aptos" panose="020B0004020202020204" pitchFamily="34" charset="0"/>
            </a:endParaRPr>
          </a:p>
        </p:txBody>
      </p:sp>
    </p:spTree>
    <p:extLst>
      <p:ext uri="{BB962C8B-B14F-4D97-AF65-F5344CB8AC3E}">
        <p14:creationId xmlns:p14="http://schemas.microsoft.com/office/powerpoint/2010/main" val="3712363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Prioritization: MoSCoW</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685800" y="1600200"/>
            <a:ext cx="2560320" cy="3520440"/>
          </a:xfrm>
          <a:prstGeom prst="roundRect">
            <a:avLst/>
          </a:prstGeom>
          <a:solidFill>
            <a:srgbClr val="FFFFFF"/>
          </a:solidFill>
          <a:ln w="12700">
            <a:solidFill>
              <a:srgbClr val="E2E7EE"/>
            </a:solidFill>
          </a:ln>
        </p:spPr>
      </p:sp>
      <p:sp>
        <p:nvSpPr>
          <p:cNvPr id="22" name="Kicker"/>
          <p:cNvSpPr/>
          <p:nvPr/>
        </p:nvSpPr>
        <p:spPr>
          <a:xfrm>
            <a:off x="914400" y="1764792"/>
            <a:ext cx="2148840" cy="228600"/>
          </a:xfrm>
          <a:prstGeom prst="rect">
            <a:avLst/>
          </a:prstGeom>
          <a:noFill/>
          <a:ln>
            <a:noFill/>
          </a:ln>
        </p:spPr>
        <p:txBody>
          <a:bodyPr wrap="square" lIns="0" tIns="0" rIns="0" bIns="0" anchor="ctr"/>
          <a:lstStyle/>
          <a:p>
            <a:pPr algn="l"/>
            <a:r>
              <a:rPr lang="en-US" sz="1000" b="1">
                <a:solidFill>
                  <a:srgbClr val="D06B4F"/>
                </a:solidFill>
                <a:latin typeface="Aptos"/>
              </a:rPr>
              <a:t>MUST</a:t>
            </a:r>
            <a:endParaRPr lang="en-US" sz="1000"/>
          </a:p>
        </p:txBody>
      </p:sp>
      <p:sp>
        <p:nvSpPr>
          <p:cNvPr id="23" name="CardTitle"/>
          <p:cNvSpPr/>
          <p:nvPr/>
        </p:nvSpPr>
        <p:spPr>
          <a:xfrm>
            <a:off x="914400" y="2103120"/>
            <a:ext cx="2148840" cy="347472"/>
          </a:xfrm>
          <a:prstGeom prst="rect">
            <a:avLst/>
          </a:prstGeom>
          <a:noFill/>
          <a:ln>
            <a:noFill/>
          </a:ln>
        </p:spPr>
        <p:txBody>
          <a:bodyPr wrap="square" lIns="0" tIns="0" rIns="0" bIns="0" anchor="ctr"/>
          <a:lstStyle/>
          <a:p>
            <a:pPr algn="l"/>
            <a:r>
              <a:rPr lang="en-US" sz="1800" b="1">
                <a:solidFill>
                  <a:srgbClr val="172033"/>
                </a:solidFill>
                <a:latin typeface="Aptos"/>
              </a:rPr>
              <a:t>Must</a:t>
            </a:r>
            <a:endParaRPr lang="en-US" sz="1800"/>
          </a:p>
        </p:txBody>
      </p:sp>
      <p:sp>
        <p:nvSpPr>
          <p:cNvPr id="24" name="CardBody"/>
          <p:cNvSpPr/>
          <p:nvPr/>
        </p:nvSpPr>
        <p:spPr>
          <a:xfrm>
            <a:off x="914400" y="2532888"/>
            <a:ext cx="2148840" cy="2423160"/>
          </a:xfrm>
          <a:prstGeom prst="rect">
            <a:avLst/>
          </a:prstGeom>
          <a:noFill/>
          <a:ln>
            <a:noFill/>
          </a:ln>
        </p:spPr>
        <p:txBody>
          <a:bodyPr wrap="square" lIns="0" tIns="0" rIns="0" bIns="0" anchor="ctr"/>
          <a:lstStyle/>
          <a:p>
            <a:pPr algn="l"/>
            <a:r>
              <a:rPr lang="en-US" sz="1400">
                <a:solidFill>
                  <a:srgbClr val="536174"/>
                </a:solidFill>
                <a:latin typeface="Aptos"/>
              </a:rPr>
              <a:t>Without this, the publication is meaningless or not legal.</a:t>
            </a:r>
            <a:endParaRPr lang="en-US" sz="1400"/>
          </a:p>
        </p:txBody>
      </p:sp>
      <p:sp>
        <p:nvSpPr>
          <p:cNvPr id="30" name="Box 30"/>
          <p:cNvSpPr/>
          <p:nvPr/>
        </p:nvSpPr>
        <p:spPr>
          <a:xfrm>
            <a:off x="3429000" y="1600200"/>
            <a:ext cx="2560320" cy="3520440"/>
          </a:xfrm>
          <a:prstGeom prst="roundRect">
            <a:avLst/>
          </a:prstGeom>
          <a:solidFill>
            <a:srgbClr val="FFFFFF"/>
          </a:solidFill>
          <a:ln w="12700">
            <a:solidFill>
              <a:srgbClr val="E2E7EE"/>
            </a:solidFill>
          </a:ln>
        </p:spPr>
      </p:sp>
      <p:sp>
        <p:nvSpPr>
          <p:cNvPr id="32" name="Kicker"/>
          <p:cNvSpPr/>
          <p:nvPr/>
        </p:nvSpPr>
        <p:spPr>
          <a:xfrm>
            <a:off x="3657600" y="1764792"/>
            <a:ext cx="2148840" cy="228600"/>
          </a:xfrm>
          <a:prstGeom prst="rect">
            <a:avLst/>
          </a:prstGeom>
          <a:noFill/>
          <a:ln>
            <a:noFill/>
          </a:ln>
        </p:spPr>
        <p:txBody>
          <a:bodyPr wrap="square" lIns="0" tIns="0" rIns="0" bIns="0" anchor="ctr"/>
          <a:lstStyle/>
          <a:p>
            <a:pPr algn="l"/>
            <a:r>
              <a:rPr lang="en-US" sz="1000" b="1">
                <a:solidFill>
                  <a:srgbClr val="F6B44C"/>
                </a:solidFill>
                <a:latin typeface="Aptos"/>
              </a:rPr>
              <a:t>SHOULD</a:t>
            </a:r>
            <a:endParaRPr lang="en-US" sz="1000"/>
          </a:p>
        </p:txBody>
      </p:sp>
      <p:sp>
        <p:nvSpPr>
          <p:cNvPr id="33" name="CardTitle"/>
          <p:cNvSpPr/>
          <p:nvPr/>
        </p:nvSpPr>
        <p:spPr>
          <a:xfrm>
            <a:off x="3657600" y="2103120"/>
            <a:ext cx="2148840" cy="347472"/>
          </a:xfrm>
          <a:prstGeom prst="rect">
            <a:avLst/>
          </a:prstGeom>
          <a:noFill/>
          <a:ln>
            <a:noFill/>
          </a:ln>
        </p:spPr>
        <p:txBody>
          <a:bodyPr wrap="square" lIns="0" tIns="0" rIns="0" bIns="0" anchor="ctr"/>
          <a:lstStyle/>
          <a:p>
            <a:pPr algn="l"/>
            <a:r>
              <a:rPr lang="en-US" sz="1800" b="1">
                <a:solidFill>
                  <a:srgbClr val="172033"/>
                </a:solidFill>
                <a:latin typeface="Aptos"/>
              </a:rPr>
              <a:t>Good to</a:t>
            </a:r>
            <a:endParaRPr lang="en-US" sz="1800"/>
          </a:p>
        </p:txBody>
      </p:sp>
      <p:sp>
        <p:nvSpPr>
          <p:cNvPr id="34" name="CardBody"/>
          <p:cNvSpPr/>
          <p:nvPr/>
        </p:nvSpPr>
        <p:spPr>
          <a:xfrm>
            <a:off x="3657600" y="2532888"/>
            <a:ext cx="2148840" cy="2423160"/>
          </a:xfrm>
          <a:prstGeom prst="rect">
            <a:avLst/>
          </a:prstGeom>
          <a:noFill/>
          <a:ln>
            <a:noFill/>
          </a:ln>
        </p:spPr>
        <p:txBody>
          <a:bodyPr wrap="square" lIns="0" tIns="0" rIns="0" bIns="0" anchor="ctr"/>
          <a:lstStyle/>
          <a:p>
            <a:pPr algn="l"/>
            <a:r>
              <a:rPr lang="en-US" sz="1400">
                <a:solidFill>
                  <a:srgbClr val="536174"/>
                </a:solidFill>
                <a:latin typeface="Aptos"/>
              </a:rPr>
              <a:t>High value, but there is a temporary workaround.</a:t>
            </a:r>
            <a:endParaRPr lang="en-US" sz="1400"/>
          </a:p>
        </p:txBody>
      </p:sp>
      <p:sp>
        <p:nvSpPr>
          <p:cNvPr id="40" name="Box 40"/>
          <p:cNvSpPr/>
          <p:nvPr/>
        </p:nvSpPr>
        <p:spPr>
          <a:xfrm>
            <a:off x="6172200" y="1600200"/>
            <a:ext cx="2560320" cy="3520440"/>
          </a:xfrm>
          <a:prstGeom prst="roundRect">
            <a:avLst/>
          </a:prstGeom>
          <a:solidFill>
            <a:srgbClr val="FFFFFF"/>
          </a:solidFill>
          <a:ln w="12700">
            <a:solidFill>
              <a:srgbClr val="E2E7EE"/>
            </a:solidFill>
          </a:ln>
        </p:spPr>
      </p:sp>
      <p:sp>
        <p:nvSpPr>
          <p:cNvPr id="42" name="Kicker"/>
          <p:cNvSpPr/>
          <p:nvPr/>
        </p:nvSpPr>
        <p:spPr>
          <a:xfrm>
            <a:off x="6400800" y="1764792"/>
            <a:ext cx="2148840" cy="228600"/>
          </a:xfrm>
          <a:prstGeom prst="rect">
            <a:avLst/>
          </a:prstGeom>
          <a:noFill/>
          <a:ln>
            <a:noFill/>
          </a:ln>
        </p:spPr>
        <p:txBody>
          <a:bodyPr wrap="square" lIns="0" tIns="0" rIns="0" bIns="0" anchor="ctr"/>
          <a:lstStyle/>
          <a:p>
            <a:pPr algn="l"/>
            <a:r>
              <a:rPr lang="en-US" sz="1000" b="1">
                <a:solidFill>
                  <a:srgbClr val="25B7A5"/>
                </a:solidFill>
                <a:latin typeface="Aptos"/>
              </a:rPr>
              <a:t>COULD</a:t>
            </a:r>
            <a:endParaRPr lang="en-US" sz="1000"/>
          </a:p>
        </p:txBody>
      </p:sp>
      <p:sp>
        <p:nvSpPr>
          <p:cNvPr id="43" name="CardTitle"/>
          <p:cNvSpPr/>
          <p:nvPr/>
        </p:nvSpPr>
        <p:spPr>
          <a:xfrm>
            <a:off x="6400800" y="2103120"/>
            <a:ext cx="2148840" cy="347472"/>
          </a:xfrm>
          <a:prstGeom prst="rect">
            <a:avLst/>
          </a:prstGeom>
          <a:noFill/>
          <a:ln>
            <a:noFill/>
          </a:ln>
        </p:spPr>
        <p:txBody>
          <a:bodyPr wrap="square" lIns="0" tIns="0" rIns="0" bIns="0" anchor="ctr"/>
          <a:lstStyle/>
          <a:p>
            <a:pPr algn="l"/>
            <a:r>
              <a:rPr lang="en-US" sz="1800" b="1">
                <a:solidFill>
                  <a:srgbClr val="172033"/>
                </a:solidFill>
                <a:latin typeface="Aptos"/>
              </a:rPr>
              <a:t>Could</a:t>
            </a:r>
            <a:endParaRPr lang="en-US" sz="1800"/>
          </a:p>
        </p:txBody>
      </p:sp>
      <p:sp>
        <p:nvSpPr>
          <p:cNvPr id="44" name="CardBody"/>
          <p:cNvSpPr/>
          <p:nvPr/>
        </p:nvSpPr>
        <p:spPr>
          <a:xfrm>
            <a:off x="6400800" y="2532888"/>
            <a:ext cx="2148840" cy="2423160"/>
          </a:xfrm>
          <a:prstGeom prst="rect">
            <a:avLst/>
          </a:prstGeom>
          <a:noFill/>
          <a:ln>
            <a:noFill/>
          </a:ln>
        </p:spPr>
        <p:txBody>
          <a:bodyPr wrap="square" lIns="0" tIns="0" rIns="0" bIns="0" anchor="ctr"/>
          <a:lstStyle/>
          <a:p>
            <a:pPr algn="l"/>
            <a:r>
              <a:rPr lang="en-US" sz="1400">
                <a:solidFill>
                  <a:srgbClr val="536174"/>
                </a:solidFill>
                <a:latin typeface="Aptos"/>
              </a:rPr>
              <a:t>Useful, if there is time and capacity.</a:t>
            </a:r>
            <a:endParaRPr lang="en-US" sz="1400"/>
          </a:p>
        </p:txBody>
      </p:sp>
      <p:sp>
        <p:nvSpPr>
          <p:cNvPr id="50" name="Box 50"/>
          <p:cNvSpPr/>
          <p:nvPr/>
        </p:nvSpPr>
        <p:spPr>
          <a:xfrm>
            <a:off x="8915400" y="1600200"/>
            <a:ext cx="2560320" cy="3520440"/>
          </a:xfrm>
          <a:prstGeom prst="roundRect">
            <a:avLst/>
          </a:prstGeom>
          <a:solidFill>
            <a:srgbClr val="FFFFFF"/>
          </a:solidFill>
          <a:ln w="12700">
            <a:solidFill>
              <a:srgbClr val="E2E7EE"/>
            </a:solidFill>
          </a:ln>
        </p:spPr>
      </p:sp>
      <p:sp>
        <p:nvSpPr>
          <p:cNvPr id="52" name="Kicker"/>
          <p:cNvSpPr/>
          <p:nvPr/>
        </p:nvSpPr>
        <p:spPr>
          <a:xfrm>
            <a:off x="9144000" y="1764792"/>
            <a:ext cx="2148840" cy="228600"/>
          </a:xfrm>
          <a:prstGeom prst="rect">
            <a:avLst/>
          </a:prstGeom>
          <a:noFill/>
          <a:ln>
            <a:noFill/>
          </a:ln>
        </p:spPr>
        <p:txBody>
          <a:bodyPr wrap="square" lIns="0" tIns="0" rIns="0" bIns="0" anchor="ctr"/>
          <a:lstStyle/>
          <a:p>
            <a:pPr algn="l"/>
            <a:r>
              <a:rPr lang="en-US" sz="1000" b="1">
                <a:solidFill>
                  <a:srgbClr val="5B7CFA"/>
                </a:solidFill>
                <a:latin typeface="Aptos"/>
              </a:rPr>
              <a:t>WONT — NOW</a:t>
            </a:r>
            <a:endParaRPr lang="en-US" sz="1000"/>
          </a:p>
        </p:txBody>
      </p:sp>
      <p:sp>
        <p:nvSpPr>
          <p:cNvPr id="53" name="CardTitle"/>
          <p:cNvSpPr/>
          <p:nvPr/>
        </p:nvSpPr>
        <p:spPr>
          <a:xfrm>
            <a:off x="9144000" y="2103120"/>
            <a:ext cx="2148840" cy="347472"/>
          </a:xfrm>
          <a:prstGeom prst="rect">
            <a:avLst/>
          </a:prstGeom>
          <a:noFill/>
          <a:ln>
            <a:noFill/>
          </a:ln>
        </p:spPr>
        <p:txBody>
          <a:bodyPr wrap="square" lIns="0" tIns="0" rIns="0" bIns="0" anchor="ctr"/>
          <a:lstStyle/>
          <a:p>
            <a:pPr algn="l"/>
            <a:r>
              <a:rPr lang="en-US" sz="1800" b="1">
                <a:solidFill>
                  <a:srgbClr val="172033"/>
                </a:solidFill>
                <a:latin typeface="Aptos"/>
              </a:rPr>
              <a:t>Not now</a:t>
            </a:r>
            <a:endParaRPr lang="en-US" sz="1800"/>
          </a:p>
        </p:txBody>
      </p:sp>
      <p:sp>
        <p:nvSpPr>
          <p:cNvPr id="54" name="CardBody"/>
          <p:cNvSpPr/>
          <p:nvPr/>
        </p:nvSpPr>
        <p:spPr>
          <a:xfrm>
            <a:off x="9144000" y="2532888"/>
            <a:ext cx="2148840" cy="2423160"/>
          </a:xfrm>
          <a:prstGeom prst="rect">
            <a:avLst/>
          </a:prstGeom>
          <a:noFill/>
          <a:ln>
            <a:noFill/>
          </a:ln>
        </p:spPr>
        <p:txBody>
          <a:bodyPr wrap="square" lIns="0" tIns="0" rIns="0" bIns="0" anchor="ctr"/>
          <a:lstStyle/>
          <a:p>
            <a:pPr algn="l"/>
            <a:r>
              <a:rPr lang="en-US" sz="1400">
                <a:solidFill>
                  <a:srgbClr val="536174"/>
                </a:solidFill>
                <a:latin typeface="Aptos"/>
              </a:rPr>
              <a:t>Conscious release from the current scope.</a:t>
            </a:r>
            <a:endParaRPr lang="en-US" sz="1400"/>
          </a:p>
        </p:txBody>
      </p:sp>
      <p:sp>
        <p:nvSpPr>
          <p:cNvPr id="60" name="Rule"/>
          <p:cNvSpPr/>
          <p:nvPr/>
        </p:nvSpPr>
        <p:spPr>
          <a:xfrm>
            <a:off x="1143000" y="5532120"/>
            <a:ext cx="9875520" cy="320040"/>
          </a:xfrm>
          <a:prstGeom prst="rect">
            <a:avLst/>
          </a:prstGeom>
          <a:noFill/>
          <a:ln>
            <a:noFill/>
          </a:ln>
        </p:spPr>
        <p:txBody>
          <a:bodyPr wrap="square" lIns="0" tIns="0" rIns="0" bIns="0" anchor="ctr"/>
          <a:lstStyle/>
          <a:p>
            <a:pPr algn="l"/>
            <a:r>
              <a:rPr lang="en-US" sz="1500" b="1">
                <a:solidFill>
                  <a:srgbClr val="536174"/>
                </a:solidFill>
                <a:latin typeface="Aptos"/>
              </a:rPr>
              <a:t>Priority ≠ who shouts the loudest. Value, risk, cost and dependencies.</a:t>
            </a:r>
            <a:endParaRPr lang="en-US" sz="15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16</a:t>
            </a:r>
            <a:endParaRPr lang="en-US" sz="9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Traceability</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502920" y="2057400"/>
            <a:ext cx="2240280" cy="1828800"/>
          </a:xfrm>
          <a:prstGeom prst="roundRect">
            <a:avLst/>
          </a:prstGeom>
          <a:solidFill>
            <a:srgbClr val="FFFFFF"/>
          </a:solidFill>
          <a:ln w="12700">
            <a:solidFill>
              <a:srgbClr val="E2E7EE"/>
            </a:solidFill>
          </a:ln>
        </p:spPr>
      </p:sp>
      <p:sp>
        <p:nvSpPr>
          <p:cNvPr id="22" name="Kicker"/>
          <p:cNvSpPr/>
          <p:nvPr/>
        </p:nvSpPr>
        <p:spPr>
          <a:xfrm>
            <a:off x="731520" y="2221992"/>
            <a:ext cx="1828800" cy="228600"/>
          </a:xfrm>
          <a:prstGeom prst="rect">
            <a:avLst/>
          </a:prstGeom>
          <a:noFill/>
          <a:ln>
            <a:noFill/>
          </a:ln>
        </p:spPr>
        <p:txBody>
          <a:bodyPr wrap="square" lIns="0" tIns="0" rIns="0" bIns="0" anchor="ctr"/>
          <a:lstStyle/>
          <a:p>
            <a:pPr algn="l"/>
            <a:r>
              <a:rPr lang="en-US" sz="1000" b="1">
                <a:solidFill>
                  <a:srgbClr val="5B7CFA"/>
                </a:solidFill>
                <a:latin typeface="Aptos"/>
              </a:rPr>
              <a:t>WHY</a:t>
            </a:r>
            <a:endParaRPr lang="en-US" sz="1000"/>
          </a:p>
        </p:txBody>
      </p:sp>
      <p:sp>
        <p:nvSpPr>
          <p:cNvPr id="23" name="CardTitle"/>
          <p:cNvSpPr/>
          <p:nvPr/>
        </p:nvSpPr>
        <p:spPr>
          <a:xfrm>
            <a:off x="731520" y="2560320"/>
            <a:ext cx="1828800" cy="347472"/>
          </a:xfrm>
          <a:prstGeom prst="rect">
            <a:avLst/>
          </a:prstGeom>
          <a:noFill/>
          <a:ln>
            <a:noFill/>
          </a:ln>
        </p:spPr>
        <p:txBody>
          <a:bodyPr wrap="square" lIns="0" tIns="0" rIns="0" bIns="0" anchor="ctr"/>
          <a:lstStyle/>
          <a:p>
            <a:pPr algn="l"/>
            <a:r>
              <a:rPr lang="en-US" sz="1800" b="1">
                <a:solidFill>
                  <a:srgbClr val="172033"/>
                </a:solidFill>
                <a:latin typeface="Aptos"/>
              </a:rPr>
              <a:t>Business goal</a:t>
            </a:r>
            <a:endParaRPr lang="en-US" sz="1800"/>
          </a:p>
        </p:txBody>
      </p:sp>
      <p:sp>
        <p:nvSpPr>
          <p:cNvPr id="24" name="CardBody"/>
          <p:cNvSpPr/>
          <p:nvPr/>
        </p:nvSpPr>
        <p:spPr>
          <a:xfrm>
            <a:off x="731520" y="2990088"/>
            <a:ext cx="1828800" cy="731520"/>
          </a:xfrm>
          <a:prstGeom prst="rect">
            <a:avLst/>
          </a:prstGeom>
          <a:noFill/>
          <a:ln>
            <a:noFill/>
          </a:ln>
        </p:spPr>
        <p:txBody>
          <a:bodyPr wrap="square" lIns="0" tIns="0" rIns="0" bIns="0" anchor="ctr"/>
          <a:lstStyle/>
          <a:p>
            <a:pPr algn="l"/>
            <a:r>
              <a:rPr lang="en-US" sz="1400">
                <a:solidFill>
                  <a:srgbClr val="536174"/>
                </a:solidFill>
                <a:latin typeface="Aptos"/>
              </a:rPr>
              <a:t>Abandonment reduction</a:t>
            </a:r>
            <a:endParaRPr lang="en-US" sz="1400"/>
          </a:p>
        </p:txBody>
      </p:sp>
      <p:cxnSp>
        <p:nvCxnSpPr>
          <p:cNvPr id="30" name="Line 30"/>
          <p:cNvCxnSpPr/>
          <p:nvPr/>
        </p:nvCxnSpPr>
        <p:spPr>
          <a:xfrm>
            <a:off x="2788920" y="2971800"/>
            <a:ext cx="594360" cy="0"/>
          </a:xfrm>
          <a:prstGeom prst="line">
            <a:avLst/>
          </a:prstGeom>
          <a:ln w="38100">
            <a:solidFill>
              <a:srgbClr val="AAB4C3"/>
            </a:solidFill>
            <a:tailEnd type="triangle"/>
          </a:ln>
        </p:spPr>
      </p:cxnSp>
      <p:sp>
        <p:nvSpPr>
          <p:cNvPr id="40" name="Box 40"/>
          <p:cNvSpPr/>
          <p:nvPr/>
        </p:nvSpPr>
        <p:spPr>
          <a:xfrm>
            <a:off x="3429000" y="2057400"/>
            <a:ext cx="2240280" cy="1828800"/>
          </a:xfrm>
          <a:prstGeom prst="roundRect">
            <a:avLst/>
          </a:prstGeom>
          <a:solidFill>
            <a:srgbClr val="FFFFFF"/>
          </a:solidFill>
          <a:ln w="12700">
            <a:solidFill>
              <a:srgbClr val="E2E7EE"/>
            </a:solidFill>
          </a:ln>
        </p:spPr>
      </p:sp>
      <p:sp>
        <p:nvSpPr>
          <p:cNvPr id="42" name="Kicker"/>
          <p:cNvSpPr/>
          <p:nvPr/>
        </p:nvSpPr>
        <p:spPr>
          <a:xfrm>
            <a:off x="3657600" y="2221992"/>
            <a:ext cx="1828800" cy="228600"/>
          </a:xfrm>
          <a:prstGeom prst="rect">
            <a:avLst/>
          </a:prstGeom>
          <a:noFill/>
          <a:ln>
            <a:noFill/>
          </a:ln>
        </p:spPr>
        <p:txBody>
          <a:bodyPr wrap="square" lIns="0" tIns="0" rIns="0" bIns="0" anchor="ctr"/>
          <a:lstStyle/>
          <a:p>
            <a:pPr algn="l"/>
            <a:r>
              <a:rPr lang="en-US" sz="1000" b="1">
                <a:solidFill>
                  <a:srgbClr val="25B7A5"/>
                </a:solidFill>
                <a:latin typeface="Aptos"/>
              </a:rPr>
              <a:t>WHAT</a:t>
            </a:r>
            <a:endParaRPr lang="en-US" sz="1000"/>
          </a:p>
        </p:txBody>
      </p:sp>
      <p:sp>
        <p:nvSpPr>
          <p:cNvPr id="43" name="CardTitle"/>
          <p:cNvSpPr/>
          <p:nvPr/>
        </p:nvSpPr>
        <p:spPr>
          <a:xfrm>
            <a:off x="3657600" y="2560320"/>
            <a:ext cx="1828800" cy="347472"/>
          </a:xfrm>
          <a:prstGeom prst="rect">
            <a:avLst/>
          </a:prstGeom>
          <a:noFill/>
          <a:ln>
            <a:noFill/>
          </a:ln>
        </p:spPr>
        <p:txBody>
          <a:bodyPr wrap="square" lIns="0" tIns="0" rIns="0" bIns="0" anchor="ctr"/>
          <a:lstStyle/>
          <a:p>
            <a:pPr algn="l"/>
            <a:r>
              <a:rPr lang="en-US" sz="1800" b="1">
                <a:solidFill>
                  <a:srgbClr val="172033"/>
                </a:solidFill>
                <a:latin typeface="Aptos"/>
              </a:rPr>
              <a:t>REQ-17</a:t>
            </a:r>
            <a:endParaRPr lang="en-US" sz="1800"/>
          </a:p>
        </p:txBody>
      </p:sp>
      <p:sp>
        <p:nvSpPr>
          <p:cNvPr id="44" name="CardBody"/>
          <p:cNvSpPr/>
          <p:nvPr/>
        </p:nvSpPr>
        <p:spPr>
          <a:xfrm>
            <a:off x="3657600" y="2990088"/>
            <a:ext cx="1828800" cy="731520"/>
          </a:xfrm>
          <a:prstGeom prst="rect">
            <a:avLst/>
          </a:prstGeom>
          <a:noFill/>
          <a:ln>
            <a:noFill/>
          </a:ln>
        </p:spPr>
        <p:txBody>
          <a:bodyPr wrap="square" lIns="0" tIns="0" rIns="0" bIns="0" anchor="ctr"/>
          <a:lstStyle/>
          <a:p>
            <a:pPr algn="l"/>
            <a:r>
              <a:rPr lang="en-US" sz="1400">
                <a:solidFill>
                  <a:srgbClr val="536174"/>
                </a:solidFill>
                <a:latin typeface="Aptos"/>
              </a:rPr>
              <a:t>Checkout as a guest</a:t>
            </a:r>
            <a:endParaRPr lang="en-US" sz="1400"/>
          </a:p>
        </p:txBody>
      </p:sp>
      <p:cxnSp>
        <p:nvCxnSpPr>
          <p:cNvPr id="50" name="Line 50"/>
          <p:cNvCxnSpPr/>
          <p:nvPr/>
        </p:nvCxnSpPr>
        <p:spPr>
          <a:xfrm>
            <a:off x="5715000" y="2971800"/>
            <a:ext cx="594360" cy="0"/>
          </a:xfrm>
          <a:prstGeom prst="line">
            <a:avLst/>
          </a:prstGeom>
          <a:ln w="38100">
            <a:solidFill>
              <a:srgbClr val="AAB4C3"/>
            </a:solidFill>
            <a:tailEnd type="triangle"/>
          </a:ln>
        </p:spPr>
      </p:cxnSp>
      <p:sp>
        <p:nvSpPr>
          <p:cNvPr id="60" name="Box 60"/>
          <p:cNvSpPr/>
          <p:nvPr/>
        </p:nvSpPr>
        <p:spPr>
          <a:xfrm>
            <a:off x="6355080" y="2057400"/>
            <a:ext cx="2240280" cy="1828800"/>
          </a:xfrm>
          <a:prstGeom prst="roundRect">
            <a:avLst/>
          </a:prstGeom>
          <a:solidFill>
            <a:srgbClr val="FFFFFF"/>
          </a:solidFill>
          <a:ln w="12700">
            <a:solidFill>
              <a:srgbClr val="E2E7EE"/>
            </a:solidFill>
          </a:ln>
        </p:spPr>
      </p:sp>
      <p:sp>
        <p:nvSpPr>
          <p:cNvPr id="62" name="Kicker"/>
          <p:cNvSpPr/>
          <p:nvPr/>
        </p:nvSpPr>
        <p:spPr>
          <a:xfrm>
            <a:off x="6583680" y="2221992"/>
            <a:ext cx="1828800" cy="228600"/>
          </a:xfrm>
          <a:prstGeom prst="rect">
            <a:avLst/>
          </a:prstGeom>
          <a:noFill/>
          <a:ln>
            <a:noFill/>
          </a:ln>
        </p:spPr>
        <p:txBody>
          <a:bodyPr wrap="square" lIns="0" tIns="0" rIns="0" bIns="0" anchor="ctr"/>
          <a:lstStyle/>
          <a:p>
            <a:pPr algn="l"/>
            <a:r>
              <a:rPr lang="en-US" sz="1000" b="1">
                <a:solidFill>
                  <a:srgbClr val="F6B44C"/>
                </a:solidFill>
                <a:latin typeface="Aptos"/>
              </a:rPr>
              <a:t>BUILD</a:t>
            </a:r>
            <a:endParaRPr lang="en-US" sz="1000"/>
          </a:p>
        </p:txBody>
      </p:sp>
      <p:sp>
        <p:nvSpPr>
          <p:cNvPr id="63" name="CardTitle"/>
          <p:cNvSpPr/>
          <p:nvPr/>
        </p:nvSpPr>
        <p:spPr>
          <a:xfrm>
            <a:off x="6583680" y="2560320"/>
            <a:ext cx="1828800" cy="347472"/>
          </a:xfrm>
          <a:prstGeom prst="rect">
            <a:avLst/>
          </a:prstGeom>
          <a:noFill/>
          <a:ln>
            <a:noFill/>
          </a:ln>
        </p:spPr>
        <p:txBody>
          <a:bodyPr wrap="square" lIns="0" tIns="0" rIns="0" bIns="0" anchor="ctr"/>
          <a:lstStyle/>
          <a:p>
            <a:pPr algn="l"/>
            <a:r>
              <a:rPr lang="en-US" sz="1800" b="1">
                <a:solidFill>
                  <a:srgbClr val="172033"/>
                </a:solidFill>
                <a:latin typeface="Aptos"/>
              </a:rPr>
              <a:t>Story / code</a:t>
            </a:r>
            <a:endParaRPr lang="en-US" sz="1800"/>
          </a:p>
        </p:txBody>
      </p:sp>
      <p:sp>
        <p:nvSpPr>
          <p:cNvPr id="64" name="CardBody"/>
          <p:cNvSpPr/>
          <p:nvPr/>
        </p:nvSpPr>
        <p:spPr>
          <a:xfrm>
            <a:off x="6583680" y="2990088"/>
            <a:ext cx="1828800" cy="731520"/>
          </a:xfrm>
          <a:prstGeom prst="rect">
            <a:avLst/>
          </a:prstGeom>
          <a:noFill/>
          <a:ln>
            <a:noFill/>
          </a:ln>
        </p:spPr>
        <p:txBody>
          <a:bodyPr wrap="square" lIns="0" tIns="0" rIns="0" bIns="0" anchor="ctr"/>
          <a:lstStyle/>
          <a:p>
            <a:pPr algn="l"/>
            <a:r>
              <a:rPr lang="en-US" sz="1400">
                <a:solidFill>
                  <a:srgbClr val="536174"/>
                </a:solidFill>
                <a:latin typeface="Aptos"/>
              </a:rPr>
              <a:t>Guest checkout flow</a:t>
            </a:r>
            <a:endParaRPr lang="en-US" sz="1400"/>
          </a:p>
        </p:txBody>
      </p:sp>
      <p:cxnSp>
        <p:nvCxnSpPr>
          <p:cNvPr id="70" name="Line 70"/>
          <p:cNvCxnSpPr/>
          <p:nvPr/>
        </p:nvCxnSpPr>
        <p:spPr>
          <a:xfrm>
            <a:off x="8641080" y="2971800"/>
            <a:ext cx="594360" cy="0"/>
          </a:xfrm>
          <a:prstGeom prst="line">
            <a:avLst/>
          </a:prstGeom>
          <a:ln w="38100">
            <a:solidFill>
              <a:srgbClr val="AAB4C3"/>
            </a:solidFill>
            <a:tailEnd type="triangle"/>
          </a:ln>
        </p:spPr>
      </p:cxnSp>
      <p:sp>
        <p:nvSpPr>
          <p:cNvPr id="80" name="Box 80"/>
          <p:cNvSpPr/>
          <p:nvPr/>
        </p:nvSpPr>
        <p:spPr>
          <a:xfrm>
            <a:off x="9281160" y="2057400"/>
            <a:ext cx="2240280" cy="1828800"/>
          </a:xfrm>
          <a:prstGeom prst="roundRect">
            <a:avLst/>
          </a:prstGeom>
          <a:solidFill>
            <a:srgbClr val="FFFFFF"/>
          </a:solidFill>
          <a:ln w="12700">
            <a:solidFill>
              <a:srgbClr val="E2E7EE"/>
            </a:solidFill>
          </a:ln>
        </p:spPr>
      </p:sp>
      <p:sp>
        <p:nvSpPr>
          <p:cNvPr id="82" name="Kicker"/>
          <p:cNvSpPr/>
          <p:nvPr/>
        </p:nvSpPr>
        <p:spPr>
          <a:xfrm>
            <a:off x="9509760" y="2221992"/>
            <a:ext cx="1828800" cy="228600"/>
          </a:xfrm>
          <a:prstGeom prst="rect">
            <a:avLst/>
          </a:prstGeom>
          <a:noFill/>
          <a:ln>
            <a:noFill/>
          </a:ln>
        </p:spPr>
        <p:txBody>
          <a:bodyPr wrap="square" lIns="0" tIns="0" rIns="0" bIns="0" anchor="ctr"/>
          <a:lstStyle/>
          <a:p>
            <a:pPr algn="l"/>
            <a:r>
              <a:rPr lang="en-US" sz="1000" b="1">
                <a:solidFill>
                  <a:srgbClr val="D06B4F"/>
                </a:solidFill>
                <a:latin typeface="Aptos"/>
              </a:rPr>
              <a:t>VERIFY</a:t>
            </a:r>
            <a:endParaRPr lang="en-US" sz="1000"/>
          </a:p>
        </p:txBody>
      </p:sp>
      <p:sp>
        <p:nvSpPr>
          <p:cNvPr id="83" name="CardTitle"/>
          <p:cNvSpPr/>
          <p:nvPr/>
        </p:nvSpPr>
        <p:spPr>
          <a:xfrm>
            <a:off x="9509760" y="2560320"/>
            <a:ext cx="1828800" cy="347472"/>
          </a:xfrm>
          <a:prstGeom prst="rect">
            <a:avLst/>
          </a:prstGeom>
          <a:noFill/>
          <a:ln>
            <a:noFill/>
          </a:ln>
        </p:spPr>
        <p:txBody>
          <a:bodyPr wrap="square" lIns="0" tIns="0" rIns="0" bIns="0" anchor="ctr"/>
          <a:lstStyle/>
          <a:p>
            <a:pPr algn="l"/>
            <a:r>
              <a:rPr lang="en-US" sz="1800" b="1">
                <a:solidFill>
                  <a:srgbClr val="172033"/>
                </a:solidFill>
                <a:latin typeface="Aptos"/>
              </a:rPr>
              <a:t>TC-42</a:t>
            </a:r>
            <a:endParaRPr lang="en-US" sz="1800"/>
          </a:p>
        </p:txBody>
      </p:sp>
      <p:sp>
        <p:nvSpPr>
          <p:cNvPr id="84" name="CardBody"/>
          <p:cNvSpPr/>
          <p:nvPr/>
        </p:nvSpPr>
        <p:spPr>
          <a:xfrm>
            <a:off x="9509760" y="2990088"/>
            <a:ext cx="1828800" cy="731520"/>
          </a:xfrm>
          <a:prstGeom prst="rect">
            <a:avLst/>
          </a:prstGeom>
          <a:noFill/>
          <a:ln>
            <a:noFill/>
          </a:ln>
        </p:spPr>
        <p:txBody>
          <a:bodyPr wrap="square" lIns="0" tIns="0" rIns="0" bIns="0" anchor="ctr"/>
          <a:lstStyle/>
          <a:p>
            <a:pPr algn="l"/>
            <a:r>
              <a:rPr lang="en-US" sz="1400">
                <a:solidFill>
                  <a:srgbClr val="536174"/>
                </a:solidFill>
                <a:latin typeface="Aptos"/>
              </a:rPr>
              <a:t>Completion without login</a:t>
            </a:r>
            <a:endParaRPr lang="en-US" sz="1400"/>
          </a:p>
        </p:txBody>
      </p:sp>
      <p:sp>
        <p:nvSpPr>
          <p:cNvPr id="90" name="Box 90"/>
          <p:cNvSpPr/>
          <p:nvPr/>
        </p:nvSpPr>
        <p:spPr>
          <a:xfrm>
            <a:off x="1097280" y="4617720"/>
            <a:ext cx="10012680" cy="777240"/>
          </a:xfrm>
          <a:prstGeom prst="roundRect">
            <a:avLst/>
          </a:prstGeom>
          <a:solidFill>
            <a:srgbClr val="EAF7F5"/>
          </a:solidFill>
          <a:ln w="12700">
            <a:solidFill>
              <a:srgbClr val="BFEAE4"/>
            </a:solidFill>
          </a:ln>
        </p:spPr>
      </p:sp>
      <p:sp>
        <p:nvSpPr>
          <p:cNvPr id="91" name="Impact"/>
          <p:cNvSpPr/>
          <p:nvPr/>
        </p:nvSpPr>
        <p:spPr>
          <a:xfrm>
            <a:off x="1417320" y="4846320"/>
            <a:ext cx="9372600" cy="292608"/>
          </a:xfrm>
          <a:prstGeom prst="rect">
            <a:avLst/>
          </a:prstGeom>
          <a:noFill/>
          <a:ln>
            <a:noFill/>
          </a:ln>
        </p:spPr>
        <p:txBody>
          <a:bodyPr wrap="square" lIns="0" tIns="0" rIns="0" bIns="0" anchor="ctr"/>
          <a:lstStyle/>
          <a:p>
            <a:pPr algn="l"/>
            <a:r>
              <a:rPr lang="en-US" sz="1500" b="1">
                <a:solidFill>
                  <a:srgbClr val="176F65"/>
                </a:solidFill>
                <a:latin typeface="Aptos"/>
              </a:rPr>
              <a:t>When a requirement changes, we know which stories, tests, and releases are affected.</a:t>
            </a:r>
            <a:endParaRPr lang="en-US" sz="15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17</a:t>
            </a:r>
            <a:endParaRPr lang="en-US" sz="9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a:solidFill>
                  <a:srgbClr val="172033"/>
                </a:solidFill>
                <a:latin typeface="Aptos"/>
              </a:rPr>
              <a:t>Validation: we build the right system</a:t>
            </a:r>
            <a:endParaRPr lang="en-US" sz="2900"/>
          </a:p>
        </p:txBody>
      </p:sp>
      <p:cxnSp>
        <p:nvCxnSpPr>
          <p:cNvPr id="6" name="Line 6"/>
          <p:cNvCxnSpPr/>
          <p:nvPr/>
        </p:nvCxnSpPr>
        <p:spPr>
          <a:xfrm>
            <a:off x="502920" y="1261872"/>
            <a:ext cx="11064240" cy="0"/>
          </a:xfrm>
          <a:prstGeom prst="line">
            <a:avLst/>
          </a:prstGeom>
          <a:ln w="12700">
            <a:solidFill>
              <a:srgbClr val="DDE3EA"/>
            </a:solidFill>
          </a:ln>
        </p:spPr>
      </p:cxnSp>
      <p:sp>
        <p:nvSpPr>
          <p:cNvPr id="20" name="Box 20"/>
          <p:cNvSpPr/>
          <p:nvPr/>
        </p:nvSpPr>
        <p:spPr>
          <a:xfrm>
            <a:off x="685800" y="1600200"/>
            <a:ext cx="3401568" cy="1417320"/>
          </a:xfrm>
          <a:prstGeom prst="roundRect">
            <a:avLst/>
          </a:prstGeom>
          <a:solidFill>
            <a:srgbClr val="FFFFFF"/>
          </a:solidFill>
          <a:ln w="12700">
            <a:solidFill>
              <a:srgbClr val="E2E7EE"/>
            </a:solidFill>
          </a:ln>
        </p:spPr>
      </p:sp>
      <p:sp>
        <p:nvSpPr>
          <p:cNvPr id="22" name="Kicker"/>
          <p:cNvSpPr/>
          <p:nvPr/>
        </p:nvSpPr>
        <p:spPr>
          <a:xfrm>
            <a:off x="914400" y="1764792"/>
            <a:ext cx="2990088" cy="228600"/>
          </a:xfrm>
          <a:prstGeom prst="rect">
            <a:avLst/>
          </a:prstGeom>
          <a:noFill/>
          <a:ln>
            <a:noFill/>
          </a:ln>
        </p:spPr>
        <p:txBody>
          <a:bodyPr wrap="square" lIns="0" tIns="0" rIns="0" bIns="0" anchor="ctr"/>
          <a:lstStyle/>
          <a:p>
            <a:pPr algn="l"/>
            <a:r>
              <a:rPr lang="en-US" sz="1000" b="1">
                <a:solidFill>
                  <a:srgbClr val="25B7A5"/>
                </a:solidFill>
                <a:latin typeface="Aptos"/>
              </a:rPr>
              <a:t>VALID</a:t>
            </a:r>
            <a:endParaRPr lang="en-US" sz="1000"/>
          </a:p>
        </p:txBody>
      </p:sp>
      <p:sp>
        <p:nvSpPr>
          <p:cNvPr id="23" name="CardTitle"/>
          <p:cNvSpPr/>
          <p:nvPr/>
        </p:nvSpPr>
        <p:spPr>
          <a:xfrm>
            <a:off x="914400" y="2103120"/>
            <a:ext cx="2990088" cy="347472"/>
          </a:xfrm>
          <a:prstGeom prst="rect">
            <a:avLst/>
          </a:prstGeom>
          <a:noFill/>
          <a:ln>
            <a:noFill/>
          </a:ln>
        </p:spPr>
        <p:txBody>
          <a:bodyPr wrap="square" lIns="0" tIns="0" rIns="0" bIns="0" anchor="ctr"/>
          <a:lstStyle/>
          <a:p>
            <a:pPr algn="l"/>
            <a:r>
              <a:rPr lang="en-US" sz="1800" b="1">
                <a:solidFill>
                  <a:srgbClr val="172033"/>
                </a:solidFill>
                <a:latin typeface="Aptos"/>
              </a:rPr>
              <a:t>Validity</a:t>
            </a:r>
            <a:endParaRPr lang="en-US" sz="1800"/>
          </a:p>
        </p:txBody>
      </p:sp>
      <p:sp>
        <p:nvSpPr>
          <p:cNvPr id="24" name="CardBody"/>
          <p:cNvSpPr/>
          <p:nvPr/>
        </p:nvSpPr>
        <p:spPr>
          <a:xfrm>
            <a:off x="914400" y="2532888"/>
            <a:ext cx="2990088" cy="320040"/>
          </a:xfrm>
          <a:prstGeom prst="rect">
            <a:avLst/>
          </a:prstGeom>
          <a:noFill/>
          <a:ln>
            <a:noFill/>
          </a:ln>
        </p:spPr>
        <p:txBody>
          <a:bodyPr wrap="square" lIns="0" tIns="0" rIns="0" bIns="0" anchor="ctr"/>
          <a:lstStyle/>
          <a:p>
            <a:pPr algn="l"/>
            <a:r>
              <a:rPr lang="en-US" sz="1400">
                <a:solidFill>
                  <a:srgbClr val="536174"/>
                </a:solidFill>
                <a:latin typeface="Aptos"/>
              </a:rPr>
              <a:t>Solves a real need</a:t>
            </a:r>
            <a:endParaRPr lang="en-US" sz="1400"/>
          </a:p>
        </p:txBody>
      </p:sp>
      <p:sp>
        <p:nvSpPr>
          <p:cNvPr id="30" name="Box 30"/>
          <p:cNvSpPr/>
          <p:nvPr/>
        </p:nvSpPr>
        <p:spPr>
          <a:xfrm>
            <a:off x="4389120" y="1600200"/>
            <a:ext cx="3401568" cy="1417320"/>
          </a:xfrm>
          <a:prstGeom prst="roundRect">
            <a:avLst/>
          </a:prstGeom>
          <a:solidFill>
            <a:srgbClr val="FFFFFF"/>
          </a:solidFill>
          <a:ln w="12700">
            <a:solidFill>
              <a:srgbClr val="E2E7EE"/>
            </a:solidFill>
          </a:ln>
        </p:spPr>
      </p:sp>
      <p:sp>
        <p:nvSpPr>
          <p:cNvPr id="32" name="Kicker"/>
          <p:cNvSpPr/>
          <p:nvPr/>
        </p:nvSpPr>
        <p:spPr>
          <a:xfrm>
            <a:off x="4617720" y="1764792"/>
            <a:ext cx="2990088" cy="228600"/>
          </a:xfrm>
          <a:prstGeom prst="rect">
            <a:avLst/>
          </a:prstGeom>
          <a:noFill/>
          <a:ln>
            <a:noFill/>
          </a:ln>
        </p:spPr>
        <p:txBody>
          <a:bodyPr wrap="square" lIns="0" tIns="0" rIns="0" bIns="0" anchor="ctr"/>
          <a:lstStyle/>
          <a:p>
            <a:pPr algn="l"/>
            <a:r>
              <a:rPr lang="en-US" sz="1000" b="1">
                <a:solidFill>
                  <a:srgbClr val="5B7CFA"/>
                </a:solidFill>
                <a:latin typeface="Aptos"/>
              </a:rPr>
              <a:t>CONSISTENT</a:t>
            </a:r>
            <a:endParaRPr lang="en-US" sz="1000"/>
          </a:p>
        </p:txBody>
      </p:sp>
      <p:sp>
        <p:nvSpPr>
          <p:cNvPr id="33" name="CardTitle"/>
          <p:cNvSpPr/>
          <p:nvPr/>
        </p:nvSpPr>
        <p:spPr>
          <a:xfrm>
            <a:off x="4617720" y="2103120"/>
            <a:ext cx="2990088" cy="347472"/>
          </a:xfrm>
          <a:prstGeom prst="rect">
            <a:avLst/>
          </a:prstGeom>
          <a:noFill/>
          <a:ln>
            <a:noFill/>
          </a:ln>
        </p:spPr>
        <p:txBody>
          <a:bodyPr wrap="square" lIns="0" tIns="0" rIns="0" bIns="0" anchor="ctr"/>
          <a:lstStyle/>
          <a:p>
            <a:pPr algn="l"/>
            <a:r>
              <a:rPr lang="en-US" sz="1800" b="1">
                <a:solidFill>
                  <a:srgbClr val="172033"/>
                </a:solidFill>
                <a:latin typeface="Aptos"/>
              </a:rPr>
              <a:t>Consistency</a:t>
            </a:r>
            <a:endParaRPr lang="en-US" sz="1800"/>
          </a:p>
        </p:txBody>
      </p:sp>
      <p:sp>
        <p:nvSpPr>
          <p:cNvPr id="34" name="CardBody"/>
          <p:cNvSpPr/>
          <p:nvPr/>
        </p:nvSpPr>
        <p:spPr>
          <a:xfrm>
            <a:off x="4617720" y="2532888"/>
            <a:ext cx="2990088" cy="320040"/>
          </a:xfrm>
          <a:prstGeom prst="rect">
            <a:avLst/>
          </a:prstGeom>
          <a:noFill/>
          <a:ln>
            <a:noFill/>
          </a:ln>
        </p:spPr>
        <p:txBody>
          <a:bodyPr wrap="square" lIns="0" tIns="0" rIns="0" bIns="0" anchor="ctr"/>
          <a:lstStyle/>
          <a:p>
            <a:pPr algn="l"/>
            <a:r>
              <a:rPr lang="en-US" sz="1400">
                <a:solidFill>
                  <a:srgbClr val="536174"/>
                </a:solidFill>
                <a:latin typeface="Aptos"/>
              </a:rPr>
              <a:t>Conflicts with another requirement</a:t>
            </a:r>
            <a:endParaRPr lang="en-US" sz="1400"/>
          </a:p>
        </p:txBody>
      </p:sp>
      <p:sp>
        <p:nvSpPr>
          <p:cNvPr id="40" name="Box 40"/>
          <p:cNvSpPr/>
          <p:nvPr/>
        </p:nvSpPr>
        <p:spPr>
          <a:xfrm>
            <a:off x="8092440" y="1600200"/>
            <a:ext cx="3401568" cy="1417320"/>
          </a:xfrm>
          <a:prstGeom prst="roundRect">
            <a:avLst/>
          </a:prstGeom>
          <a:solidFill>
            <a:srgbClr val="FFFFFF"/>
          </a:solidFill>
          <a:ln w="12700">
            <a:solidFill>
              <a:srgbClr val="E2E7EE"/>
            </a:solidFill>
          </a:ln>
        </p:spPr>
      </p:sp>
      <p:sp>
        <p:nvSpPr>
          <p:cNvPr id="42" name="Kicker"/>
          <p:cNvSpPr/>
          <p:nvPr/>
        </p:nvSpPr>
        <p:spPr>
          <a:xfrm>
            <a:off x="8321040" y="1764792"/>
            <a:ext cx="2990088" cy="228600"/>
          </a:xfrm>
          <a:prstGeom prst="rect">
            <a:avLst/>
          </a:prstGeom>
          <a:noFill/>
          <a:ln>
            <a:noFill/>
          </a:ln>
        </p:spPr>
        <p:txBody>
          <a:bodyPr wrap="square" lIns="0" tIns="0" rIns="0" bIns="0" anchor="ctr"/>
          <a:lstStyle/>
          <a:p>
            <a:pPr algn="l"/>
            <a:r>
              <a:rPr lang="en-US" sz="1000" b="1">
                <a:solidFill>
                  <a:srgbClr val="F6B44C"/>
                </a:solidFill>
                <a:latin typeface="Aptos"/>
              </a:rPr>
              <a:t>COMPLETE</a:t>
            </a:r>
            <a:endParaRPr lang="en-US" sz="1000"/>
          </a:p>
        </p:txBody>
      </p:sp>
      <p:sp>
        <p:nvSpPr>
          <p:cNvPr id="43" name="CardTitle"/>
          <p:cNvSpPr/>
          <p:nvPr/>
        </p:nvSpPr>
        <p:spPr>
          <a:xfrm>
            <a:off x="8321040" y="2103120"/>
            <a:ext cx="2990088" cy="347472"/>
          </a:xfrm>
          <a:prstGeom prst="rect">
            <a:avLst/>
          </a:prstGeom>
          <a:noFill/>
          <a:ln>
            <a:noFill/>
          </a:ln>
        </p:spPr>
        <p:txBody>
          <a:bodyPr wrap="square" lIns="0" tIns="0" rIns="0" bIns="0" anchor="ctr"/>
          <a:lstStyle/>
          <a:p>
            <a:pPr algn="l"/>
            <a:r>
              <a:rPr lang="en-US" sz="1800" b="1">
                <a:solidFill>
                  <a:srgbClr val="172033"/>
                </a:solidFill>
                <a:latin typeface="Aptos"/>
              </a:rPr>
              <a:t>Completeness</a:t>
            </a:r>
            <a:endParaRPr lang="en-US" sz="1800"/>
          </a:p>
        </p:txBody>
      </p:sp>
      <p:sp>
        <p:nvSpPr>
          <p:cNvPr id="44" name="CardBody"/>
          <p:cNvSpPr/>
          <p:nvPr/>
        </p:nvSpPr>
        <p:spPr>
          <a:xfrm>
            <a:off x="8321040" y="2532888"/>
            <a:ext cx="2990088" cy="320040"/>
          </a:xfrm>
          <a:prstGeom prst="rect">
            <a:avLst/>
          </a:prstGeom>
          <a:noFill/>
          <a:ln>
            <a:noFill/>
          </a:ln>
        </p:spPr>
        <p:txBody>
          <a:bodyPr wrap="square" lIns="0" tIns="0" rIns="0" bIns="0" anchor="ctr"/>
          <a:lstStyle/>
          <a:p>
            <a:pPr algn="l"/>
            <a:r>
              <a:rPr lang="en-US" sz="1400">
                <a:solidFill>
                  <a:srgbClr val="536174"/>
                </a:solidFill>
                <a:latin typeface="Aptos"/>
              </a:rPr>
              <a:t>Missing flows or exceptions</a:t>
            </a:r>
            <a:endParaRPr lang="en-US" sz="1400"/>
          </a:p>
        </p:txBody>
      </p:sp>
      <p:sp>
        <p:nvSpPr>
          <p:cNvPr id="50" name="Box 50"/>
          <p:cNvSpPr/>
          <p:nvPr/>
        </p:nvSpPr>
        <p:spPr>
          <a:xfrm>
            <a:off x="685800" y="3401568"/>
            <a:ext cx="3401568" cy="1417320"/>
          </a:xfrm>
          <a:prstGeom prst="roundRect">
            <a:avLst/>
          </a:prstGeom>
          <a:solidFill>
            <a:srgbClr val="FFFFFF"/>
          </a:solidFill>
          <a:ln w="12700">
            <a:solidFill>
              <a:srgbClr val="E2E7EE"/>
            </a:solidFill>
          </a:ln>
        </p:spPr>
      </p:sp>
      <p:sp>
        <p:nvSpPr>
          <p:cNvPr id="52" name="Kicker"/>
          <p:cNvSpPr/>
          <p:nvPr/>
        </p:nvSpPr>
        <p:spPr>
          <a:xfrm>
            <a:off x="914400" y="3566160"/>
            <a:ext cx="2990088" cy="228600"/>
          </a:xfrm>
          <a:prstGeom prst="rect">
            <a:avLst/>
          </a:prstGeom>
          <a:noFill/>
          <a:ln>
            <a:noFill/>
          </a:ln>
        </p:spPr>
        <p:txBody>
          <a:bodyPr wrap="square" lIns="0" tIns="0" rIns="0" bIns="0" anchor="ctr"/>
          <a:lstStyle/>
          <a:p>
            <a:pPr algn="l"/>
            <a:r>
              <a:rPr lang="en-US" sz="1000" b="1">
                <a:solidFill>
                  <a:srgbClr val="D06B4F"/>
                </a:solidFill>
                <a:latin typeface="Aptos"/>
              </a:rPr>
              <a:t>REALISTIC</a:t>
            </a:r>
            <a:endParaRPr lang="en-US" sz="1000"/>
          </a:p>
        </p:txBody>
      </p:sp>
      <p:sp>
        <p:nvSpPr>
          <p:cNvPr id="53" name="CardTitle"/>
          <p:cNvSpPr/>
          <p:nvPr/>
        </p:nvSpPr>
        <p:spPr>
          <a:xfrm>
            <a:off x="914400" y="3904488"/>
            <a:ext cx="2990088" cy="347472"/>
          </a:xfrm>
          <a:prstGeom prst="rect">
            <a:avLst/>
          </a:prstGeom>
          <a:noFill/>
          <a:ln>
            <a:noFill/>
          </a:ln>
        </p:spPr>
        <p:txBody>
          <a:bodyPr wrap="square" lIns="0" tIns="0" rIns="0" bIns="0" anchor="ctr"/>
          <a:lstStyle/>
          <a:p>
            <a:pPr algn="l"/>
            <a:r>
              <a:rPr lang="en-US" sz="1800" b="1">
                <a:solidFill>
                  <a:srgbClr val="172033"/>
                </a:solidFill>
                <a:latin typeface="Aptos"/>
              </a:rPr>
              <a:t>Realism</a:t>
            </a:r>
            <a:endParaRPr lang="en-US" sz="1800"/>
          </a:p>
        </p:txBody>
      </p:sp>
      <p:sp>
        <p:nvSpPr>
          <p:cNvPr id="54" name="CardBody"/>
          <p:cNvSpPr/>
          <p:nvPr/>
        </p:nvSpPr>
        <p:spPr>
          <a:xfrm>
            <a:off x="914400" y="4334256"/>
            <a:ext cx="2990088" cy="320040"/>
          </a:xfrm>
          <a:prstGeom prst="rect">
            <a:avLst/>
          </a:prstGeom>
          <a:noFill/>
          <a:ln>
            <a:noFill/>
          </a:ln>
        </p:spPr>
        <p:txBody>
          <a:bodyPr wrap="square" lIns="0" tIns="0" rIns="0" bIns="0" anchor="ctr"/>
          <a:lstStyle/>
          <a:p>
            <a:pPr algn="l"/>
            <a:r>
              <a:rPr lang="en-US" sz="1400">
                <a:solidFill>
                  <a:srgbClr val="536174"/>
                </a:solidFill>
                <a:latin typeface="Aptos"/>
              </a:rPr>
              <a:t>Countries in time, budget, technology</a:t>
            </a:r>
            <a:endParaRPr lang="en-US" sz="1400"/>
          </a:p>
        </p:txBody>
      </p:sp>
      <p:sp>
        <p:nvSpPr>
          <p:cNvPr id="60" name="Box 60"/>
          <p:cNvSpPr/>
          <p:nvPr/>
        </p:nvSpPr>
        <p:spPr>
          <a:xfrm>
            <a:off x="4389120" y="3401568"/>
            <a:ext cx="3401568" cy="1417320"/>
          </a:xfrm>
          <a:prstGeom prst="roundRect">
            <a:avLst/>
          </a:prstGeom>
          <a:solidFill>
            <a:srgbClr val="FFFFFF"/>
          </a:solidFill>
          <a:ln w="12700">
            <a:solidFill>
              <a:srgbClr val="E2E7EE"/>
            </a:solidFill>
          </a:ln>
        </p:spPr>
      </p:sp>
      <p:sp>
        <p:nvSpPr>
          <p:cNvPr id="62" name="Kicker"/>
          <p:cNvSpPr/>
          <p:nvPr/>
        </p:nvSpPr>
        <p:spPr>
          <a:xfrm>
            <a:off x="4617720" y="3566160"/>
            <a:ext cx="2990088" cy="228600"/>
          </a:xfrm>
          <a:prstGeom prst="rect">
            <a:avLst/>
          </a:prstGeom>
          <a:noFill/>
          <a:ln>
            <a:noFill/>
          </a:ln>
        </p:spPr>
        <p:txBody>
          <a:bodyPr wrap="square" lIns="0" tIns="0" rIns="0" bIns="0" anchor="ctr"/>
          <a:lstStyle/>
          <a:p>
            <a:pPr algn="l"/>
            <a:r>
              <a:rPr lang="en-US" sz="1000" b="1">
                <a:solidFill>
                  <a:srgbClr val="8764D8"/>
                </a:solidFill>
                <a:latin typeface="Aptos"/>
              </a:rPr>
              <a:t>VERIFIABLE</a:t>
            </a:r>
            <a:endParaRPr lang="en-US" sz="1000"/>
          </a:p>
        </p:txBody>
      </p:sp>
      <p:sp>
        <p:nvSpPr>
          <p:cNvPr id="63" name="CardTitle"/>
          <p:cNvSpPr/>
          <p:nvPr/>
        </p:nvSpPr>
        <p:spPr>
          <a:xfrm>
            <a:off x="4617720" y="3904488"/>
            <a:ext cx="2990088" cy="347472"/>
          </a:xfrm>
          <a:prstGeom prst="rect">
            <a:avLst/>
          </a:prstGeom>
          <a:noFill/>
          <a:ln>
            <a:noFill/>
          </a:ln>
        </p:spPr>
        <p:txBody>
          <a:bodyPr wrap="square" lIns="0" tIns="0" rIns="0" bIns="0" anchor="ctr"/>
          <a:lstStyle/>
          <a:p>
            <a:pPr algn="l"/>
            <a:r>
              <a:rPr lang="en-US" sz="1800" b="1">
                <a:solidFill>
                  <a:srgbClr val="172033"/>
                </a:solidFill>
                <a:latin typeface="Aptos"/>
              </a:rPr>
              <a:t>Controllability</a:t>
            </a:r>
            <a:endParaRPr lang="en-US" sz="1800"/>
          </a:p>
        </p:txBody>
      </p:sp>
      <p:sp>
        <p:nvSpPr>
          <p:cNvPr id="64" name="CardBody"/>
          <p:cNvSpPr/>
          <p:nvPr/>
        </p:nvSpPr>
        <p:spPr>
          <a:xfrm>
            <a:off x="4617720" y="4334256"/>
            <a:ext cx="2990088" cy="320040"/>
          </a:xfrm>
          <a:prstGeom prst="rect">
            <a:avLst/>
          </a:prstGeom>
          <a:noFill/>
          <a:ln>
            <a:noFill/>
          </a:ln>
        </p:spPr>
        <p:txBody>
          <a:bodyPr wrap="square" lIns="0" tIns="0" rIns="0" bIns="0" anchor="ctr"/>
          <a:lstStyle/>
          <a:p>
            <a:pPr algn="l"/>
            <a:r>
              <a:rPr lang="en-US" sz="1400">
                <a:solidFill>
                  <a:srgbClr val="536174"/>
                </a:solidFill>
                <a:latin typeface="Aptos"/>
              </a:rPr>
              <a:t>We can prove satisfaction</a:t>
            </a:r>
            <a:endParaRPr lang="en-US" sz="1400"/>
          </a:p>
        </p:txBody>
      </p:sp>
      <p:sp>
        <p:nvSpPr>
          <p:cNvPr id="70" name="Box 70"/>
          <p:cNvSpPr/>
          <p:nvPr/>
        </p:nvSpPr>
        <p:spPr>
          <a:xfrm>
            <a:off x="8092440" y="3401568"/>
            <a:ext cx="3401568" cy="1417320"/>
          </a:xfrm>
          <a:prstGeom prst="roundRect">
            <a:avLst/>
          </a:prstGeom>
          <a:solidFill>
            <a:srgbClr val="FFFFFF"/>
          </a:solidFill>
          <a:ln w="12700">
            <a:solidFill>
              <a:srgbClr val="E2E7EE"/>
            </a:solidFill>
          </a:ln>
        </p:spPr>
      </p:sp>
      <p:sp>
        <p:nvSpPr>
          <p:cNvPr id="72" name="Kicker"/>
          <p:cNvSpPr/>
          <p:nvPr/>
        </p:nvSpPr>
        <p:spPr>
          <a:xfrm>
            <a:off x="8321040" y="3566160"/>
            <a:ext cx="2990088" cy="228600"/>
          </a:xfrm>
          <a:prstGeom prst="rect">
            <a:avLst/>
          </a:prstGeom>
          <a:noFill/>
          <a:ln>
            <a:noFill/>
          </a:ln>
        </p:spPr>
        <p:txBody>
          <a:bodyPr wrap="square" lIns="0" tIns="0" rIns="0" bIns="0" anchor="ctr"/>
          <a:lstStyle/>
          <a:p>
            <a:pPr algn="l"/>
            <a:r>
              <a:rPr lang="en-US" sz="1000" b="1">
                <a:solidFill>
                  <a:srgbClr val="4D9A73"/>
                </a:solidFill>
                <a:latin typeface="Aptos"/>
              </a:rPr>
              <a:t>AGREED</a:t>
            </a:r>
            <a:endParaRPr lang="en-US" sz="1000"/>
          </a:p>
        </p:txBody>
      </p:sp>
      <p:sp>
        <p:nvSpPr>
          <p:cNvPr id="73" name="CardTitle"/>
          <p:cNvSpPr/>
          <p:nvPr/>
        </p:nvSpPr>
        <p:spPr>
          <a:xfrm>
            <a:off x="8321040" y="3904488"/>
            <a:ext cx="2990088" cy="347472"/>
          </a:xfrm>
          <a:prstGeom prst="rect">
            <a:avLst/>
          </a:prstGeom>
          <a:noFill/>
          <a:ln>
            <a:noFill/>
          </a:ln>
        </p:spPr>
        <p:txBody>
          <a:bodyPr wrap="square" lIns="0" tIns="0" rIns="0" bIns="0" anchor="ctr"/>
          <a:lstStyle/>
          <a:p>
            <a:pPr algn="l"/>
            <a:r>
              <a:rPr lang="en-US" sz="1800" b="1">
                <a:solidFill>
                  <a:srgbClr val="172033"/>
                </a:solidFill>
                <a:latin typeface="Aptos"/>
              </a:rPr>
              <a:t>Agreement</a:t>
            </a:r>
            <a:endParaRPr lang="en-US" sz="1800"/>
          </a:p>
        </p:txBody>
      </p:sp>
      <p:sp>
        <p:nvSpPr>
          <p:cNvPr id="74" name="CardBody"/>
          <p:cNvSpPr/>
          <p:nvPr/>
        </p:nvSpPr>
        <p:spPr>
          <a:xfrm>
            <a:off x="8321040" y="4334256"/>
            <a:ext cx="2990088" cy="320040"/>
          </a:xfrm>
          <a:prstGeom prst="rect">
            <a:avLst/>
          </a:prstGeom>
          <a:noFill/>
          <a:ln>
            <a:noFill/>
          </a:ln>
        </p:spPr>
        <p:txBody>
          <a:bodyPr wrap="square" lIns="0" tIns="0" rIns="0" bIns="0" anchor="ctr"/>
          <a:lstStyle/>
          <a:p>
            <a:pPr algn="l"/>
            <a:r>
              <a:rPr lang="en-US" sz="1400">
                <a:solidFill>
                  <a:srgbClr val="536174"/>
                </a:solidFill>
                <a:latin typeface="Aptos"/>
              </a:rPr>
              <a:t>The relevant stakeholders are committed</a:t>
            </a:r>
            <a:endParaRPr lang="en-US" sz="1400"/>
          </a:p>
        </p:txBody>
      </p:sp>
      <p:sp>
        <p:nvSpPr>
          <p:cNvPr id="80" name="Methods"/>
          <p:cNvSpPr/>
          <p:nvPr/>
        </p:nvSpPr>
        <p:spPr>
          <a:xfrm>
            <a:off x="914400" y="5349240"/>
            <a:ext cx="10332720" cy="320040"/>
          </a:xfrm>
          <a:prstGeom prst="rect">
            <a:avLst/>
          </a:prstGeom>
          <a:noFill/>
          <a:ln>
            <a:noFill/>
          </a:ln>
        </p:spPr>
        <p:txBody>
          <a:bodyPr wrap="square" lIns="0" tIns="0" rIns="0" bIns="0" anchor="ctr"/>
          <a:lstStyle/>
          <a:p>
            <a:pPr algn="l"/>
            <a:r>
              <a:rPr lang="en-US" sz="1400" b="1">
                <a:solidFill>
                  <a:srgbClr val="536174"/>
                </a:solidFill>
                <a:latin typeface="Aptos"/>
              </a:rPr>
              <a:t>Reviews • prototypes • test-case derivation • walkthroughs • stakeholder sign-off</a:t>
            </a:r>
            <a:endParaRPr lang="en-US" sz="14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18</a:t>
            </a:r>
            <a:endParaRPr lang="en-US" sz="9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dirty="0">
                <a:solidFill>
                  <a:srgbClr val="172033"/>
                </a:solidFill>
                <a:latin typeface="Aptos"/>
              </a:rPr>
              <a:t>Requirements change</a:t>
            </a:r>
            <a:endParaRPr lang="en-US" sz="2900" dirty="0"/>
          </a:p>
        </p:txBody>
      </p:sp>
      <p:cxnSp>
        <p:nvCxnSpPr>
          <p:cNvPr id="6" name="Line 6"/>
          <p:cNvCxnSpPr/>
          <p:nvPr/>
        </p:nvCxnSpPr>
        <p:spPr>
          <a:xfrm>
            <a:off x="502920" y="1261872"/>
            <a:ext cx="11064240" cy="0"/>
          </a:xfrm>
          <a:prstGeom prst="line">
            <a:avLst/>
          </a:prstGeom>
          <a:ln w="12700">
            <a:solidFill>
              <a:srgbClr val="DDE3EA"/>
            </a:solidFill>
          </a:ln>
        </p:spPr>
      </p:cxnSp>
      <p:sp>
        <p:nvSpPr>
          <p:cNvPr id="20" name="Why"/>
          <p:cNvSpPr/>
          <p:nvPr/>
        </p:nvSpPr>
        <p:spPr>
          <a:xfrm>
            <a:off x="685800" y="1554480"/>
            <a:ext cx="10972800" cy="411480"/>
          </a:xfrm>
          <a:prstGeom prst="rect">
            <a:avLst/>
          </a:prstGeom>
          <a:noFill/>
          <a:ln>
            <a:noFill/>
          </a:ln>
        </p:spPr>
        <p:txBody>
          <a:bodyPr wrap="square" lIns="0" tIns="0" rIns="0" bIns="0" anchor="ctr"/>
          <a:lstStyle/>
          <a:p>
            <a:pPr algn="l"/>
            <a:r>
              <a:rPr lang="en-US" sz="1800">
                <a:solidFill>
                  <a:srgbClr val="536174"/>
                </a:solidFill>
                <a:latin typeface="Aptos"/>
              </a:rPr>
              <a:t>Market change, feedback, technology, law, new knowledge — change is not failure.</a:t>
            </a:r>
            <a:endParaRPr lang="en-US" sz="1800"/>
          </a:p>
        </p:txBody>
      </p:sp>
      <p:sp>
        <p:nvSpPr>
          <p:cNvPr id="30" name="Box 30"/>
          <p:cNvSpPr/>
          <p:nvPr/>
        </p:nvSpPr>
        <p:spPr>
          <a:xfrm>
            <a:off x="685800" y="2331720"/>
            <a:ext cx="2240280" cy="1097280"/>
          </a:xfrm>
          <a:prstGeom prst="roundRect">
            <a:avLst/>
          </a:prstGeom>
          <a:solidFill>
            <a:srgbClr val="EAF7F5"/>
          </a:solidFill>
          <a:ln w="12700">
            <a:solidFill>
              <a:srgbClr val="BFEAE4"/>
            </a:solidFill>
          </a:ln>
        </p:spPr>
      </p:sp>
      <p:sp>
        <p:nvSpPr>
          <p:cNvPr id="31" name="A"/>
          <p:cNvSpPr/>
          <p:nvPr/>
        </p:nvSpPr>
        <p:spPr>
          <a:xfrm>
            <a:off x="914400" y="2615184"/>
            <a:ext cx="1783080" cy="320040"/>
          </a:xfrm>
          <a:prstGeom prst="rect">
            <a:avLst/>
          </a:prstGeom>
          <a:noFill/>
          <a:ln>
            <a:noFill/>
          </a:ln>
        </p:spPr>
        <p:txBody>
          <a:bodyPr wrap="square" lIns="0" tIns="0" rIns="0" bIns="0" anchor="ctr"/>
          <a:lstStyle/>
          <a:p>
            <a:pPr algn="l"/>
            <a:r>
              <a:rPr lang="en-US" sz="1800" b="1">
                <a:solidFill>
                  <a:srgbClr val="176F65"/>
                </a:solidFill>
                <a:latin typeface="Aptos"/>
              </a:rPr>
              <a:t>1 Request</a:t>
            </a:r>
            <a:endParaRPr lang="en-US" sz="1800"/>
          </a:p>
        </p:txBody>
      </p:sp>
      <p:cxnSp>
        <p:nvCxnSpPr>
          <p:cNvPr id="32" name="Line 32"/>
          <p:cNvCxnSpPr/>
          <p:nvPr/>
        </p:nvCxnSpPr>
        <p:spPr>
          <a:xfrm>
            <a:off x="2971800" y="2880360"/>
            <a:ext cx="502920" cy="0"/>
          </a:xfrm>
          <a:prstGeom prst="line">
            <a:avLst/>
          </a:prstGeom>
          <a:ln w="38100">
            <a:solidFill>
              <a:srgbClr val="AAB4C3"/>
            </a:solidFill>
            <a:tailEnd type="triangle"/>
          </a:ln>
        </p:spPr>
      </p:cxnSp>
      <p:sp>
        <p:nvSpPr>
          <p:cNvPr id="40" name="Box 40"/>
          <p:cNvSpPr/>
          <p:nvPr/>
        </p:nvSpPr>
        <p:spPr>
          <a:xfrm>
            <a:off x="3520440" y="2331720"/>
            <a:ext cx="2240280" cy="1097280"/>
          </a:xfrm>
          <a:prstGeom prst="roundRect">
            <a:avLst/>
          </a:prstGeom>
          <a:solidFill>
            <a:srgbClr val="EEF1FF"/>
          </a:solidFill>
          <a:ln w="12700">
            <a:solidFill>
              <a:srgbClr val="CCD5FF"/>
            </a:solidFill>
          </a:ln>
        </p:spPr>
      </p:sp>
      <p:sp>
        <p:nvSpPr>
          <p:cNvPr id="41" name="B"/>
          <p:cNvSpPr/>
          <p:nvPr/>
        </p:nvSpPr>
        <p:spPr>
          <a:xfrm>
            <a:off x="3749040" y="2615184"/>
            <a:ext cx="1783080" cy="320040"/>
          </a:xfrm>
          <a:prstGeom prst="rect">
            <a:avLst/>
          </a:prstGeom>
          <a:noFill/>
          <a:ln>
            <a:noFill/>
          </a:ln>
        </p:spPr>
        <p:txBody>
          <a:bodyPr wrap="square" lIns="0" tIns="0" rIns="0" bIns="0" anchor="ctr"/>
          <a:lstStyle/>
          <a:p>
            <a:pPr algn="l"/>
            <a:r>
              <a:rPr lang="en-US" sz="1800" b="1">
                <a:solidFill>
                  <a:srgbClr val="3D58C8"/>
                </a:solidFill>
                <a:latin typeface="Aptos"/>
              </a:rPr>
              <a:t>2 Analysis</a:t>
            </a:r>
            <a:endParaRPr lang="en-US" sz="1800"/>
          </a:p>
        </p:txBody>
      </p:sp>
      <p:cxnSp>
        <p:nvCxnSpPr>
          <p:cNvPr id="42" name="Line 42"/>
          <p:cNvCxnSpPr/>
          <p:nvPr/>
        </p:nvCxnSpPr>
        <p:spPr>
          <a:xfrm>
            <a:off x="5806440" y="2880360"/>
            <a:ext cx="502920" cy="0"/>
          </a:xfrm>
          <a:prstGeom prst="line">
            <a:avLst/>
          </a:prstGeom>
          <a:ln w="38100">
            <a:solidFill>
              <a:srgbClr val="AAB4C3"/>
            </a:solidFill>
            <a:tailEnd type="triangle"/>
          </a:ln>
        </p:spPr>
      </p:cxnSp>
      <p:sp>
        <p:nvSpPr>
          <p:cNvPr id="50" name="Box 50"/>
          <p:cNvSpPr/>
          <p:nvPr/>
        </p:nvSpPr>
        <p:spPr>
          <a:xfrm>
            <a:off x="6355080" y="2331720"/>
            <a:ext cx="2240280" cy="1097280"/>
          </a:xfrm>
          <a:prstGeom prst="roundRect">
            <a:avLst/>
          </a:prstGeom>
          <a:solidFill>
            <a:srgbClr val="FFF5E5"/>
          </a:solidFill>
          <a:ln w="12700">
            <a:solidFill>
              <a:srgbClr val="F8D99D"/>
            </a:solidFill>
          </a:ln>
        </p:spPr>
      </p:sp>
      <p:sp>
        <p:nvSpPr>
          <p:cNvPr id="51" name="C"/>
          <p:cNvSpPr/>
          <p:nvPr/>
        </p:nvSpPr>
        <p:spPr>
          <a:xfrm>
            <a:off x="6583680" y="2615184"/>
            <a:ext cx="1783080" cy="320040"/>
          </a:xfrm>
          <a:prstGeom prst="rect">
            <a:avLst/>
          </a:prstGeom>
          <a:noFill/>
          <a:ln>
            <a:noFill/>
          </a:ln>
        </p:spPr>
        <p:txBody>
          <a:bodyPr wrap="square" lIns="0" tIns="0" rIns="0" bIns="0" anchor="ctr"/>
          <a:lstStyle/>
          <a:p>
            <a:pPr algn="l"/>
            <a:r>
              <a:rPr lang="en-US" sz="1800" b="1">
                <a:solidFill>
                  <a:srgbClr val="8A5A12"/>
                </a:solidFill>
                <a:latin typeface="Aptos"/>
              </a:rPr>
              <a:t>3 Decision</a:t>
            </a:r>
            <a:endParaRPr lang="en-US" sz="1800"/>
          </a:p>
        </p:txBody>
      </p:sp>
      <p:cxnSp>
        <p:nvCxnSpPr>
          <p:cNvPr id="52" name="Line 52"/>
          <p:cNvCxnSpPr/>
          <p:nvPr/>
        </p:nvCxnSpPr>
        <p:spPr>
          <a:xfrm>
            <a:off x="8641080" y="2880360"/>
            <a:ext cx="502920" cy="0"/>
          </a:xfrm>
          <a:prstGeom prst="line">
            <a:avLst/>
          </a:prstGeom>
          <a:ln w="38100">
            <a:solidFill>
              <a:srgbClr val="AAB4C3"/>
            </a:solidFill>
            <a:tailEnd type="triangle"/>
          </a:ln>
        </p:spPr>
      </p:cxnSp>
      <p:sp>
        <p:nvSpPr>
          <p:cNvPr id="60" name="Box 60"/>
          <p:cNvSpPr/>
          <p:nvPr/>
        </p:nvSpPr>
        <p:spPr>
          <a:xfrm>
            <a:off x="9189720" y="2331720"/>
            <a:ext cx="2240280" cy="1097280"/>
          </a:xfrm>
          <a:prstGeom prst="roundRect">
            <a:avLst/>
          </a:prstGeom>
          <a:solidFill>
            <a:srgbClr val="FFF0ED"/>
          </a:solidFill>
          <a:ln w="12700">
            <a:solidFill>
              <a:srgbClr val="F0BEB2"/>
            </a:solidFill>
          </a:ln>
        </p:spPr>
      </p:sp>
      <p:sp>
        <p:nvSpPr>
          <p:cNvPr id="61" name="D"/>
          <p:cNvSpPr/>
          <p:nvPr/>
        </p:nvSpPr>
        <p:spPr>
          <a:xfrm>
            <a:off x="9418320" y="2615184"/>
            <a:ext cx="1783080" cy="320040"/>
          </a:xfrm>
          <a:prstGeom prst="rect">
            <a:avLst/>
          </a:prstGeom>
          <a:noFill/>
          <a:ln>
            <a:noFill/>
          </a:ln>
        </p:spPr>
        <p:txBody>
          <a:bodyPr wrap="square" lIns="0" tIns="0" rIns="0" bIns="0" anchor="ctr"/>
          <a:lstStyle/>
          <a:p>
            <a:pPr algn="l"/>
            <a:r>
              <a:rPr lang="en-US" sz="1800" b="1">
                <a:solidFill>
                  <a:srgbClr val="9A3E2A"/>
                </a:solidFill>
                <a:latin typeface="Aptos"/>
              </a:rPr>
              <a:t>4 Update</a:t>
            </a:r>
            <a:endParaRPr lang="en-US" sz="1800"/>
          </a:p>
        </p:txBody>
      </p:sp>
      <p:sp>
        <p:nvSpPr>
          <p:cNvPr id="70" name="Box 70"/>
          <p:cNvSpPr/>
          <p:nvPr/>
        </p:nvSpPr>
        <p:spPr>
          <a:xfrm>
            <a:off x="1143000" y="3931920"/>
            <a:ext cx="4434840" cy="1508760"/>
          </a:xfrm>
          <a:prstGeom prst="roundRect">
            <a:avLst/>
          </a:prstGeom>
          <a:solidFill>
            <a:srgbClr val="FFFFFF"/>
          </a:solidFill>
          <a:ln w="12700">
            <a:solidFill>
              <a:srgbClr val="E2E7EE"/>
            </a:solidFill>
          </a:ln>
        </p:spPr>
      </p:sp>
      <p:sp>
        <p:nvSpPr>
          <p:cNvPr id="72" name="Kicker"/>
          <p:cNvSpPr/>
          <p:nvPr/>
        </p:nvSpPr>
        <p:spPr>
          <a:xfrm>
            <a:off x="1371600" y="4096512"/>
            <a:ext cx="4023360" cy="228600"/>
          </a:xfrm>
          <a:prstGeom prst="rect">
            <a:avLst/>
          </a:prstGeom>
          <a:noFill/>
          <a:ln>
            <a:noFill/>
          </a:ln>
        </p:spPr>
        <p:txBody>
          <a:bodyPr wrap="square" lIns="0" tIns="0" rIns="0" bIns="0" anchor="ctr"/>
          <a:lstStyle/>
          <a:p>
            <a:pPr algn="l"/>
            <a:r>
              <a:rPr lang="en-US" sz="1000" b="1">
                <a:solidFill>
                  <a:srgbClr val="5B7CFA"/>
                </a:solidFill>
                <a:latin typeface="Aptos"/>
              </a:rPr>
              <a:t>IMPACT ANALYSIS</a:t>
            </a:r>
            <a:endParaRPr lang="en-US" sz="1000"/>
          </a:p>
        </p:txBody>
      </p:sp>
      <p:sp>
        <p:nvSpPr>
          <p:cNvPr id="73" name="CardTitle"/>
          <p:cNvSpPr/>
          <p:nvPr/>
        </p:nvSpPr>
        <p:spPr>
          <a:xfrm>
            <a:off x="1371600" y="4434840"/>
            <a:ext cx="4023360" cy="347472"/>
          </a:xfrm>
          <a:prstGeom prst="rect">
            <a:avLst/>
          </a:prstGeom>
          <a:noFill/>
          <a:ln>
            <a:noFill/>
          </a:ln>
        </p:spPr>
        <p:txBody>
          <a:bodyPr wrap="square" lIns="0" tIns="0" rIns="0" bIns="0" anchor="ctr"/>
          <a:lstStyle/>
          <a:p>
            <a:pPr algn="l"/>
            <a:r>
              <a:rPr lang="en-US" sz="1800" b="1">
                <a:solidFill>
                  <a:srgbClr val="172033"/>
                </a:solidFill>
                <a:latin typeface="Aptos"/>
              </a:rPr>
              <a:t>What is affected?</a:t>
            </a:r>
            <a:endParaRPr lang="en-US" sz="1800"/>
          </a:p>
        </p:txBody>
      </p:sp>
      <p:sp>
        <p:nvSpPr>
          <p:cNvPr id="74" name="CardBody"/>
          <p:cNvSpPr/>
          <p:nvPr/>
        </p:nvSpPr>
        <p:spPr>
          <a:xfrm>
            <a:off x="1371600" y="4864608"/>
            <a:ext cx="4023360" cy="411480"/>
          </a:xfrm>
          <a:prstGeom prst="rect">
            <a:avLst/>
          </a:prstGeom>
          <a:noFill/>
          <a:ln>
            <a:noFill/>
          </a:ln>
        </p:spPr>
        <p:txBody>
          <a:bodyPr wrap="square" lIns="0" tIns="0" rIns="0" bIns="0" anchor="ctr"/>
          <a:lstStyle/>
          <a:p>
            <a:pPr algn="l"/>
            <a:r>
              <a:rPr lang="en-US" sz="1400">
                <a:solidFill>
                  <a:srgbClr val="536174"/>
                </a:solidFill>
                <a:latin typeface="Aptos"/>
              </a:rPr>
              <a:t>Scope, architecture, data, tests, cost, schedule.</a:t>
            </a:r>
            <a:endParaRPr lang="en-US" sz="1400"/>
          </a:p>
        </p:txBody>
      </p:sp>
      <p:sp>
        <p:nvSpPr>
          <p:cNvPr id="80" name="Box 80"/>
          <p:cNvSpPr/>
          <p:nvPr/>
        </p:nvSpPr>
        <p:spPr>
          <a:xfrm>
            <a:off x="6583680" y="3931920"/>
            <a:ext cx="4434840" cy="1508760"/>
          </a:xfrm>
          <a:prstGeom prst="roundRect">
            <a:avLst/>
          </a:prstGeom>
          <a:solidFill>
            <a:srgbClr val="FFFFFF"/>
          </a:solidFill>
          <a:ln w="12700">
            <a:solidFill>
              <a:srgbClr val="E2E7EE"/>
            </a:solidFill>
          </a:ln>
        </p:spPr>
      </p:sp>
      <p:sp>
        <p:nvSpPr>
          <p:cNvPr id="82" name="Kicker"/>
          <p:cNvSpPr/>
          <p:nvPr/>
        </p:nvSpPr>
        <p:spPr>
          <a:xfrm>
            <a:off x="6812280" y="4096512"/>
            <a:ext cx="4023360" cy="228600"/>
          </a:xfrm>
          <a:prstGeom prst="rect">
            <a:avLst/>
          </a:prstGeom>
          <a:noFill/>
          <a:ln>
            <a:noFill/>
          </a:ln>
        </p:spPr>
        <p:txBody>
          <a:bodyPr wrap="square" lIns="0" tIns="0" rIns="0" bIns="0" anchor="ctr"/>
          <a:lstStyle/>
          <a:p>
            <a:pPr algn="l"/>
            <a:r>
              <a:rPr lang="en-US" sz="1000" b="1">
                <a:solidFill>
                  <a:srgbClr val="25B7A5"/>
                </a:solidFill>
                <a:latin typeface="Aptos"/>
              </a:rPr>
              <a:t>BASELINE</a:t>
            </a:r>
            <a:endParaRPr lang="en-US" sz="1000"/>
          </a:p>
        </p:txBody>
      </p:sp>
      <p:sp>
        <p:nvSpPr>
          <p:cNvPr id="83" name="CardTitle"/>
          <p:cNvSpPr/>
          <p:nvPr/>
        </p:nvSpPr>
        <p:spPr>
          <a:xfrm>
            <a:off x="6812280" y="4434840"/>
            <a:ext cx="4023360" cy="347472"/>
          </a:xfrm>
          <a:prstGeom prst="rect">
            <a:avLst/>
          </a:prstGeom>
          <a:noFill/>
          <a:ln>
            <a:noFill/>
          </a:ln>
        </p:spPr>
        <p:txBody>
          <a:bodyPr wrap="square" lIns="0" tIns="0" rIns="0" bIns="0" anchor="ctr"/>
          <a:lstStyle/>
          <a:p>
            <a:pPr algn="l"/>
            <a:r>
              <a:rPr lang="en-US" sz="1800" b="1">
                <a:solidFill>
                  <a:srgbClr val="172033"/>
                </a:solidFill>
                <a:latin typeface="Aptos"/>
              </a:rPr>
              <a:t>Which version?</a:t>
            </a:r>
            <a:endParaRPr lang="en-US" sz="1800"/>
          </a:p>
        </p:txBody>
      </p:sp>
      <p:sp>
        <p:nvSpPr>
          <p:cNvPr id="84" name="CardBody"/>
          <p:cNvSpPr/>
          <p:nvPr/>
        </p:nvSpPr>
        <p:spPr>
          <a:xfrm>
            <a:off x="6812280" y="4864608"/>
            <a:ext cx="4023360" cy="411480"/>
          </a:xfrm>
          <a:prstGeom prst="rect">
            <a:avLst/>
          </a:prstGeom>
          <a:noFill/>
          <a:ln>
            <a:noFill/>
          </a:ln>
        </p:spPr>
        <p:txBody>
          <a:bodyPr wrap="square" lIns="0" tIns="0" rIns="0" bIns="0" anchor="ctr"/>
          <a:lstStyle/>
          <a:p>
            <a:pPr algn="l"/>
            <a:r>
              <a:rPr lang="en-US" sz="1400">
                <a:solidFill>
                  <a:srgbClr val="536174"/>
                </a:solidFill>
                <a:latin typeface="Aptos"/>
              </a:rPr>
              <a:t>Recording version, owner, status and rationale.</a:t>
            </a:r>
            <a:endParaRPr lang="en-US" sz="14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19</a:t>
            </a:r>
            <a:endParaRPr lang="en-US" sz="9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D2EDD-DFD5-565B-3FA4-758EF4DB492B}"/>
            </a:ext>
          </a:extLst>
        </p:cNvPr>
        <p:cNvGrpSpPr/>
        <p:nvPr/>
      </p:nvGrpSpPr>
      <p:grpSpPr>
        <a:xfrm>
          <a:off x="0" y="0"/>
          <a:ext cx="0" cy="0"/>
          <a:chOff x="0" y="0"/>
          <a:chExt cx="0" cy="0"/>
        </a:xfrm>
      </p:grpSpPr>
      <p:sp>
        <p:nvSpPr>
          <p:cNvPr id="2" name="Box 2">
            <a:extLst>
              <a:ext uri="{FF2B5EF4-FFF2-40B4-BE49-F238E27FC236}">
                <a16:creationId xmlns:a16="http://schemas.microsoft.com/office/drawing/2014/main" id="{C31BABD8-679A-F263-6F49-05E1DF64F9CA}"/>
              </a:ext>
            </a:extLst>
          </p:cNvPr>
          <p:cNvSpPr/>
          <p:nvPr/>
        </p:nvSpPr>
        <p:spPr>
          <a:xfrm>
            <a:off x="0" y="0"/>
            <a:ext cx="12191695" cy="6858000"/>
          </a:xfrm>
          <a:prstGeom prst="rect">
            <a:avLst/>
          </a:prstGeom>
          <a:solidFill>
            <a:srgbClr val="F6F8FB"/>
          </a:solidFill>
          <a:ln w="12700">
            <a:solidFill>
              <a:srgbClr val="F6F8FB"/>
            </a:solidFill>
          </a:ln>
        </p:spPr>
      </p:sp>
      <p:sp>
        <p:nvSpPr>
          <p:cNvPr id="3" name="Box 3">
            <a:extLst>
              <a:ext uri="{FF2B5EF4-FFF2-40B4-BE49-F238E27FC236}">
                <a16:creationId xmlns:a16="http://schemas.microsoft.com/office/drawing/2014/main" id="{B887A481-D345-FC9A-71EE-12D39FECBB7D}"/>
              </a:ext>
            </a:extLst>
          </p:cNvPr>
          <p:cNvSpPr/>
          <p:nvPr/>
        </p:nvSpPr>
        <p:spPr>
          <a:xfrm>
            <a:off x="0" y="0"/>
            <a:ext cx="146304" cy="6858000"/>
          </a:xfrm>
          <a:prstGeom prst="rect">
            <a:avLst/>
          </a:prstGeom>
          <a:solidFill>
            <a:srgbClr val="25B7A5"/>
          </a:solidFill>
          <a:ln w="12700">
            <a:solidFill>
              <a:srgbClr val="25B7A5"/>
            </a:solidFill>
          </a:ln>
        </p:spPr>
      </p:sp>
      <p:sp>
        <p:nvSpPr>
          <p:cNvPr id="5" name="Title">
            <a:extLst>
              <a:ext uri="{FF2B5EF4-FFF2-40B4-BE49-F238E27FC236}">
                <a16:creationId xmlns:a16="http://schemas.microsoft.com/office/drawing/2014/main" id="{E57CD8BE-8C8C-427B-226C-BF49C95AB360}"/>
              </a:ext>
            </a:extLst>
          </p:cNvPr>
          <p:cNvSpPr/>
          <p:nvPr/>
        </p:nvSpPr>
        <p:spPr>
          <a:xfrm>
            <a:off x="502920" y="612648"/>
            <a:ext cx="11064240" cy="594360"/>
          </a:xfrm>
          <a:prstGeom prst="rect">
            <a:avLst/>
          </a:prstGeom>
          <a:noFill/>
          <a:ln>
            <a:noFill/>
          </a:ln>
        </p:spPr>
        <p:txBody>
          <a:bodyPr wrap="square" lIns="0" tIns="0" rIns="0" bIns="0" anchor="ctr"/>
          <a:lstStyle/>
          <a:p>
            <a:r>
              <a:rPr lang="en-US" sz="2900" b="1" dirty="0">
                <a:solidFill>
                  <a:srgbClr val="172033"/>
                </a:solidFill>
                <a:latin typeface="Aptos"/>
              </a:rPr>
              <a:t>Requirements Document – ​​Predefined Form</a:t>
            </a:r>
            <a:endParaRPr lang="en-US" sz="2900" dirty="0"/>
          </a:p>
        </p:txBody>
      </p:sp>
      <p:cxnSp>
        <p:nvCxnSpPr>
          <p:cNvPr id="6" name="Line 6">
            <a:extLst>
              <a:ext uri="{FF2B5EF4-FFF2-40B4-BE49-F238E27FC236}">
                <a16:creationId xmlns:a16="http://schemas.microsoft.com/office/drawing/2014/main" id="{BBAE4EA4-893F-0783-B346-BBCED9F09CF7}"/>
              </a:ext>
            </a:extLst>
          </p:cNvPr>
          <p:cNvCxnSpPr/>
          <p:nvPr/>
        </p:nvCxnSpPr>
        <p:spPr>
          <a:xfrm>
            <a:off x="502920" y="1261872"/>
            <a:ext cx="11064240" cy="0"/>
          </a:xfrm>
          <a:prstGeom prst="line">
            <a:avLst/>
          </a:prstGeom>
          <a:ln w="12700">
            <a:solidFill>
              <a:srgbClr val="DDE3EA"/>
            </a:solidFill>
          </a:ln>
        </p:spPr>
      </p:cxnSp>
      <p:sp>
        <p:nvSpPr>
          <p:cNvPr id="900" name="Footer">
            <a:extLst>
              <a:ext uri="{FF2B5EF4-FFF2-40B4-BE49-F238E27FC236}">
                <a16:creationId xmlns:a16="http://schemas.microsoft.com/office/drawing/2014/main" id="{F82040BF-AD6C-37E2-DA50-60245F7056A0}"/>
              </a:ext>
            </a:extLst>
          </p:cNvP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a:extLst>
              <a:ext uri="{FF2B5EF4-FFF2-40B4-BE49-F238E27FC236}">
                <a16:creationId xmlns:a16="http://schemas.microsoft.com/office/drawing/2014/main" id="{458EEB9F-4C69-7D77-E342-0FBC67BE03E7}"/>
              </a:ext>
            </a:extLst>
          </p:cNvPr>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19</a:t>
            </a:r>
            <a:endParaRPr lang="en-US" sz="900"/>
          </a:p>
        </p:txBody>
      </p:sp>
      <p:pic>
        <p:nvPicPr>
          <p:cNvPr id="8" name="Εικόνα 7">
            <a:extLst>
              <a:ext uri="{FF2B5EF4-FFF2-40B4-BE49-F238E27FC236}">
                <a16:creationId xmlns:a16="http://schemas.microsoft.com/office/drawing/2014/main" id="{423D7796-6996-5ADB-2EA9-DC41F995570E}"/>
              </a:ext>
            </a:extLst>
          </p:cNvPr>
          <p:cNvPicPr>
            <a:picLocks noChangeAspect="1"/>
          </p:cNvPicPr>
          <p:nvPr/>
        </p:nvPicPr>
        <p:blipFill>
          <a:blip r:embed="rId2"/>
          <a:srcRect b="7447"/>
          <a:stretch>
            <a:fillRect/>
          </a:stretch>
        </p:blipFill>
        <p:spPr>
          <a:xfrm>
            <a:off x="2080206" y="1387493"/>
            <a:ext cx="7584712" cy="4924260"/>
          </a:xfrm>
          <a:prstGeom prst="rect">
            <a:avLst/>
          </a:prstGeom>
        </p:spPr>
      </p:pic>
    </p:spTree>
    <p:extLst>
      <p:ext uri="{BB962C8B-B14F-4D97-AF65-F5344CB8AC3E}">
        <p14:creationId xmlns:p14="http://schemas.microsoft.com/office/powerpoint/2010/main" val="1004773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FFC4B-D236-B6AB-586E-9814AFE0ACA8}"/>
            </a:ext>
          </a:extLst>
        </p:cNvPr>
        <p:cNvGrpSpPr/>
        <p:nvPr/>
      </p:nvGrpSpPr>
      <p:grpSpPr>
        <a:xfrm>
          <a:off x="0" y="0"/>
          <a:ext cx="0" cy="0"/>
          <a:chOff x="0" y="0"/>
          <a:chExt cx="0" cy="0"/>
        </a:xfrm>
      </p:grpSpPr>
      <p:sp>
        <p:nvSpPr>
          <p:cNvPr id="2" name="Box 2">
            <a:extLst>
              <a:ext uri="{FF2B5EF4-FFF2-40B4-BE49-F238E27FC236}">
                <a16:creationId xmlns:a16="http://schemas.microsoft.com/office/drawing/2014/main" id="{9257B945-414C-57BD-BDE1-FD61405276CC}"/>
              </a:ext>
            </a:extLst>
          </p:cNvPr>
          <p:cNvSpPr/>
          <p:nvPr/>
        </p:nvSpPr>
        <p:spPr>
          <a:xfrm>
            <a:off x="0" y="0"/>
            <a:ext cx="12191695" cy="6858000"/>
          </a:xfrm>
          <a:prstGeom prst="rect">
            <a:avLst/>
          </a:prstGeom>
          <a:solidFill>
            <a:srgbClr val="F6F8FB"/>
          </a:solidFill>
          <a:ln w="12700">
            <a:solidFill>
              <a:srgbClr val="F6F8FB"/>
            </a:solidFill>
          </a:ln>
        </p:spPr>
      </p:sp>
      <p:sp>
        <p:nvSpPr>
          <p:cNvPr id="3" name="Box 3">
            <a:extLst>
              <a:ext uri="{FF2B5EF4-FFF2-40B4-BE49-F238E27FC236}">
                <a16:creationId xmlns:a16="http://schemas.microsoft.com/office/drawing/2014/main" id="{9564AB20-276B-0A50-2C7B-645D9F16E978}"/>
              </a:ext>
            </a:extLst>
          </p:cNvPr>
          <p:cNvSpPr/>
          <p:nvPr/>
        </p:nvSpPr>
        <p:spPr>
          <a:xfrm>
            <a:off x="0" y="0"/>
            <a:ext cx="146304" cy="6858000"/>
          </a:xfrm>
          <a:prstGeom prst="rect">
            <a:avLst/>
          </a:prstGeom>
          <a:solidFill>
            <a:srgbClr val="25B7A5"/>
          </a:solidFill>
          <a:ln w="12700">
            <a:solidFill>
              <a:srgbClr val="25B7A5"/>
            </a:solidFill>
          </a:ln>
        </p:spPr>
      </p:sp>
      <p:sp>
        <p:nvSpPr>
          <p:cNvPr id="5" name="Title">
            <a:extLst>
              <a:ext uri="{FF2B5EF4-FFF2-40B4-BE49-F238E27FC236}">
                <a16:creationId xmlns:a16="http://schemas.microsoft.com/office/drawing/2014/main" id="{AFA502EA-9BF6-BD39-4B59-A9F4AACE6D39}"/>
              </a:ext>
            </a:extLst>
          </p:cNvPr>
          <p:cNvSpPr/>
          <p:nvPr/>
        </p:nvSpPr>
        <p:spPr>
          <a:xfrm>
            <a:off x="502920" y="612648"/>
            <a:ext cx="11064240" cy="594360"/>
          </a:xfrm>
          <a:prstGeom prst="rect">
            <a:avLst/>
          </a:prstGeom>
          <a:noFill/>
          <a:ln>
            <a:noFill/>
          </a:ln>
        </p:spPr>
        <p:txBody>
          <a:bodyPr wrap="square" lIns="0" tIns="0" rIns="0" bIns="0" anchor="ctr"/>
          <a:lstStyle/>
          <a:p>
            <a:r>
              <a:rPr lang="en-US" sz="2900" b="1" dirty="0">
                <a:solidFill>
                  <a:srgbClr val="172033"/>
                </a:solidFill>
                <a:latin typeface="Aptos"/>
              </a:rPr>
              <a:t>Requirements Document - Diagram</a:t>
            </a:r>
            <a:endParaRPr lang="en-US" sz="2900" dirty="0"/>
          </a:p>
        </p:txBody>
      </p:sp>
      <p:cxnSp>
        <p:nvCxnSpPr>
          <p:cNvPr id="6" name="Line 6">
            <a:extLst>
              <a:ext uri="{FF2B5EF4-FFF2-40B4-BE49-F238E27FC236}">
                <a16:creationId xmlns:a16="http://schemas.microsoft.com/office/drawing/2014/main" id="{EF420A43-AD6D-252C-9B8A-0C03C8826CC6}"/>
              </a:ext>
            </a:extLst>
          </p:cNvPr>
          <p:cNvCxnSpPr/>
          <p:nvPr/>
        </p:nvCxnSpPr>
        <p:spPr>
          <a:xfrm>
            <a:off x="502920" y="1261872"/>
            <a:ext cx="11064240" cy="0"/>
          </a:xfrm>
          <a:prstGeom prst="line">
            <a:avLst/>
          </a:prstGeom>
          <a:ln w="12700">
            <a:solidFill>
              <a:srgbClr val="DDE3EA"/>
            </a:solidFill>
          </a:ln>
        </p:spPr>
      </p:cxnSp>
      <p:sp>
        <p:nvSpPr>
          <p:cNvPr id="900" name="Footer">
            <a:extLst>
              <a:ext uri="{FF2B5EF4-FFF2-40B4-BE49-F238E27FC236}">
                <a16:creationId xmlns:a16="http://schemas.microsoft.com/office/drawing/2014/main" id="{35DACAD1-F935-79FE-426E-9E8F2A8F3112}"/>
              </a:ext>
            </a:extLst>
          </p:cNvP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a:extLst>
              <a:ext uri="{FF2B5EF4-FFF2-40B4-BE49-F238E27FC236}">
                <a16:creationId xmlns:a16="http://schemas.microsoft.com/office/drawing/2014/main" id="{285488E2-C58D-BAC8-C8F9-1EB20A72FFDD}"/>
              </a:ext>
            </a:extLst>
          </p:cNvPr>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19</a:t>
            </a:r>
            <a:endParaRPr lang="en-US" sz="900"/>
          </a:p>
        </p:txBody>
      </p:sp>
      <p:pic>
        <p:nvPicPr>
          <p:cNvPr id="4" name="Εικόνα 3" descr="ATM Sequence Diagram Example">
            <a:extLst>
              <a:ext uri="{FF2B5EF4-FFF2-40B4-BE49-F238E27FC236}">
                <a16:creationId xmlns:a16="http://schemas.microsoft.com/office/drawing/2014/main" id="{6EF2B985-999D-4EC2-15AD-D1E7D4C5A398}"/>
              </a:ext>
            </a:extLst>
          </p:cNvPr>
          <p:cNvPicPr>
            <a:picLocks noChangeAspect="1"/>
          </p:cNvPicPr>
          <p:nvPr/>
        </p:nvPicPr>
        <p:blipFill>
          <a:blip r:embed="rId2"/>
          <a:stretch>
            <a:fillRect/>
          </a:stretch>
        </p:blipFill>
        <p:spPr>
          <a:xfrm>
            <a:off x="2334032" y="1618593"/>
            <a:ext cx="5590032" cy="4267200"/>
          </a:xfrm>
          <a:prstGeom prst="rect">
            <a:avLst/>
          </a:prstGeom>
        </p:spPr>
      </p:pic>
      <p:sp>
        <p:nvSpPr>
          <p:cNvPr id="8" name="TextBox 7">
            <a:extLst>
              <a:ext uri="{FF2B5EF4-FFF2-40B4-BE49-F238E27FC236}">
                <a16:creationId xmlns:a16="http://schemas.microsoft.com/office/drawing/2014/main" id="{60CC5141-3332-8C9A-F8F2-B373D44E2F7C}"/>
              </a:ext>
            </a:extLst>
          </p:cNvPr>
          <p:cNvSpPr txBox="1"/>
          <p:nvPr/>
        </p:nvSpPr>
        <p:spPr>
          <a:xfrm>
            <a:off x="6758152" y="6053959"/>
            <a:ext cx="5959366" cy="369332"/>
          </a:xfrm>
          <a:prstGeom prst="rect">
            <a:avLst/>
          </a:prstGeom>
          <a:noFill/>
        </p:spPr>
        <p:txBody>
          <a:bodyPr wrap="square" rtlCol="0">
            <a:spAutoFit/>
          </a:bodyPr>
          <a:lstStyle/>
          <a:p>
            <a:r>
              <a:rPr lang="en-US" dirty="0"/>
              <a:t>*More on UML diagrams in next lectures!</a:t>
            </a:r>
            <a:endParaRPr lang="el-GR" dirty="0"/>
          </a:p>
        </p:txBody>
      </p:sp>
    </p:spTree>
    <p:extLst>
      <p:ext uri="{BB962C8B-B14F-4D97-AF65-F5344CB8AC3E}">
        <p14:creationId xmlns:p14="http://schemas.microsoft.com/office/powerpoint/2010/main" val="1284826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ox 2"/>
          <p:cNvSpPr/>
          <p:nvPr/>
        </p:nvSpPr>
        <p:spPr>
          <a:xfrm>
            <a:off x="0" y="0"/>
            <a:ext cx="12191695" cy="6858000"/>
          </a:xfrm>
          <a:prstGeom prst="rect">
            <a:avLst/>
          </a:prstGeom>
          <a:solidFill>
            <a:srgbClr val="F6F8FB"/>
          </a:solidFill>
          <a:ln w="12700">
            <a:solidFill>
              <a:srgbClr val="F6F8FB"/>
            </a:solidFill>
          </a:ln>
        </p:spPr>
      </p:sp>
      <p:sp>
        <p:nvSpPr>
          <p:cNvPr id="3" name="Box 3"/>
          <p:cNvSpPr/>
          <p:nvPr/>
        </p:nvSpPr>
        <p:spPr>
          <a:xfrm>
            <a:off x="0" y="0"/>
            <a:ext cx="146304" cy="6858000"/>
          </a:xfrm>
          <a:prstGeom prst="rect">
            <a:avLst/>
          </a:prstGeom>
          <a:solidFill>
            <a:srgbClr val="25B7A5"/>
          </a:solidFill>
          <a:ln w="12700">
            <a:solidFill>
              <a:srgbClr val="25B7A5"/>
            </a:solidFill>
          </a:ln>
        </p:spPr>
      </p:sp>
      <p:sp>
        <p:nvSpPr>
          <p:cNvPr id="5" name="Title"/>
          <p:cNvSpPr/>
          <p:nvPr/>
        </p:nvSpPr>
        <p:spPr>
          <a:xfrm>
            <a:off x="502920" y="612648"/>
            <a:ext cx="11064240" cy="594360"/>
          </a:xfrm>
          <a:prstGeom prst="rect">
            <a:avLst/>
          </a:prstGeom>
          <a:noFill/>
          <a:ln>
            <a:noFill/>
          </a:ln>
        </p:spPr>
        <p:txBody>
          <a:bodyPr wrap="square" lIns="0" tIns="0" rIns="0" bIns="0" anchor="ctr"/>
          <a:lstStyle/>
          <a:p>
            <a:pPr algn="l"/>
            <a:r>
              <a:rPr lang="en-US" sz="2900" b="1" dirty="0">
                <a:solidFill>
                  <a:srgbClr val="172033"/>
                </a:solidFill>
                <a:latin typeface="Aptos"/>
              </a:rPr>
              <a:t>Exercise: Student</a:t>
            </a:r>
            <a:r>
              <a:rPr lang="en-US" sz="2900" b="1" dirty="0" err="1">
                <a:solidFill>
                  <a:srgbClr val="172033"/>
                </a:solidFill>
                <a:latin typeface="Aptos"/>
              </a:rPr>
              <a:t>Food</a:t>
            </a:r>
            <a:endParaRPr lang="en-US" sz="2900" dirty="0"/>
          </a:p>
        </p:txBody>
      </p:sp>
      <p:cxnSp>
        <p:nvCxnSpPr>
          <p:cNvPr id="6" name="Line 6"/>
          <p:cNvCxnSpPr/>
          <p:nvPr/>
        </p:nvCxnSpPr>
        <p:spPr>
          <a:xfrm>
            <a:off x="502920" y="1261872"/>
            <a:ext cx="11064240" cy="0"/>
          </a:xfrm>
          <a:prstGeom prst="line">
            <a:avLst/>
          </a:prstGeom>
          <a:ln w="12700">
            <a:solidFill>
              <a:srgbClr val="DDE3EA"/>
            </a:solidFill>
          </a:ln>
        </p:spPr>
      </p:cxnSp>
      <p:sp>
        <p:nvSpPr>
          <p:cNvPr id="20" name="Scenario"/>
          <p:cNvSpPr/>
          <p:nvPr/>
        </p:nvSpPr>
        <p:spPr>
          <a:xfrm>
            <a:off x="731520" y="1572768"/>
            <a:ext cx="10789920" cy="502920"/>
          </a:xfrm>
          <a:prstGeom prst="rect">
            <a:avLst/>
          </a:prstGeom>
          <a:noFill/>
          <a:ln>
            <a:noFill/>
          </a:ln>
        </p:spPr>
        <p:txBody>
          <a:bodyPr wrap="square" lIns="0" tIns="0" rIns="0" bIns="0" anchor="ctr"/>
          <a:lstStyle/>
          <a:p>
            <a:pPr algn="l"/>
            <a:r>
              <a:rPr lang="en-US" sz="2000" b="1" dirty="0">
                <a:solidFill>
                  <a:srgbClr val="536174"/>
                </a:solidFill>
                <a:latin typeface="Aptos"/>
              </a:rPr>
              <a:t>You are designing a food ordering app for students.</a:t>
            </a:r>
            <a:endParaRPr lang="en-US" sz="2000" dirty="0"/>
          </a:p>
        </p:txBody>
      </p:sp>
      <p:sp>
        <p:nvSpPr>
          <p:cNvPr id="30" name="Box 30"/>
          <p:cNvSpPr/>
          <p:nvPr/>
        </p:nvSpPr>
        <p:spPr>
          <a:xfrm>
            <a:off x="731520" y="2331720"/>
            <a:ext cx="3337560" cy="2423160"/>
          </a:xfrm>
          <a:prstGeom prst="roundRect">
            <a:avLst/>
          </a:prstGeom>
          <a:solidFill>
            <a:srgbClr val="FFFFFF"/>
          </a:solidFill>
          <a:ln w="12700">
            <a:solidFill>
              <a:srgbClr val="E2E7EE"/>
            </a:solidFill>
          </a:ln>
        </p:spPr>
      </p:sp>
      <p:sp>
        <p:nvSpPr>
          <p:cNvPr id="33" name="CardTitle"/>
          <p:cNvSpPr/>
          <p:nvPr/>
        </p:nvSpPr>
        <p:spPr>
          <a:xfrm>
            <a:off x="960120" y="2834640"/>
            <a:ext cx="2926080" cy="347472"/>
          </a:xfrm>
          <a:prstGeom prst="rect">
            <a:avLst/>
          </a:prstGeom>
          <a:noFill/>
          <a:ln>
            <a:noFill/>
          </a:ln>
        </p:spPr>
        <p:txBody>
          <a:bodyPr wrap="square" lIns="0" tIns="0" rIns="0" bIns="0" anchor="ctr"/>
          <a:lstStyle/>
          <a:p>
            <a:pPr algn="l"/>
            <a:r>
              <a:rPr lang="en-US" sz="1800" b="1">
                <a:solidFill>
                  <a:srgbClr val="172033"/>
                </a:solidFill>
                <a:latin typeface="Aptos"/>
              </a:rPr>
              <a:t>Requirements</a:t>
            </a:r>
            <a:endParaRPr lang="en-US" sz="1800"/>
          </a:p>
        </p:txBody>
      </p:sp>
      <p:sp>
        <p:nvSpPr>
          <p:cNvPr id="34" name="CardBody"/>
          <p:cNvSpPr/>
          <p:nvPr/>
        </p:nvSpPr>
        <p:spPr>
          <a:xfrm>
            <a:off x="960120" y="3264408"/>
            <a:ext cx="2926080" cy="1325880"/>
          </a:xfrm>
          <a:prstGeom prst="rect">
            <a:avLst/>
          </a:prstGeom>
          <a:noFill/>
          <a:ln>
            <a:noFill/>
          </a:ln>
        </p:spPr>
        <p:txBody>
          <a:bodyPr wrap="square" lIns="0" tIns="0" rIns="0" bIns="0" anchor="ctr"/>
          <a:lstStyle/>
          <a:p>
            <a:pPr algn="l"/>
            <a:r>
              <a:rPr lang="en-US" sz="1400">
                <a:solidFill>
                  <a:srgbClr val="536174"/>
                </a:solidFill>
                <a:latin typeface="Aptos"/>
              </a:rPr>
              <a:t>Write 3 functional + 2 non-functional requirements.</a:t>
            </a:r>
            <a:endParaRPr lang="en-US" sz="1400"/>
          </a:p>
        </p:txBody>
      </p:sp>
      <p:sp>
        <p:nvSpPr>
          <p:cNvPr id="40" name="Box 40"/>
          <p:cNvSpPr/>
          <p:nvPr/>
        </p:nvSpPr>
        <p:spPr>
          <a:xfrm>
            <a:off x="4434840" y="2331720"/>
            <a:ext cx="3337560" cy="2423160"/>
          </a:xfrm>
          <a:prstGeom prst="roundRect">
            <a:avLst/>
          </a:prstGeom>
          <a:solidFill>
            <a:srgbClr val="FFFFFF"/>
          </a:solidFill>
          <a:ln w="12700">
            <a:solidFill>
              <a:srgbClr val="E2E7EE"/>
            </a:solidFill>
          </a:ln>
        </p:spPr>
      </p:sp>
      <p:sp>
        <p:nvSpPr>
          <p:cNvPr id="43" name="CardTitle"/>
          <p:cNvSpPr/>
          <p:nvPr/>
        </p:nvSpPr>
        <p:spPr>
          <a:xfrm>
            <a:off x="4663440" y="2834640"/>
            <a:ext cx="2926080" cy="347472"/>
          </a:xfrm>
          <a:prstGeom prst="rect">
            <a:avLst/>
          </a:prstGeom>
          <a:noFill/>
          <a:ln>
            <a:noFill/>
          </a:ln>
        </p:spPr>
        <p:txBody>
          <a:bodyPr wrap="square" lIns="0" tIns="0" rIns="0" bIns="0" anchor="ctr"/>
          <a:lstStyle/>
          <a:p>
            <a:pPr algn="l"/>
            <a:r>
              <a:rPr lang="en-US" sz="1800" b="1">
                <a:solidFill>
                  <a:srgbClr val="172033"/>
                </a:solidFill>
                <a:latin typeface="Aptos"/>
              </a:rPr>
              <a:t>Acceptance criteria</a:t>
            </a:r>
            <a:endParaRPr lang="en-US" sz="1800"/>
          </a:p>
        </p:txBody>
      </p:sp>
      <p:sp>
        <p:nvSpPr>
          <p:cNvPr id="44" name="CardBody"/>
          <p:cNvSpPr/>
          <p:nvPr/>
        </p:nvSpPr>
        <p:spPr>
          <a:xfrm>
            <a:off x="4663440" y="3264408"/>
            <a:ext cx="2926080" cy="1325880"/>
          </a:xfrm>
          <a:prstGeom prst="rect">
            <a:avLst/>
          </a:prstGeom>
          <a:noFill/>
          <a:ln>
            <a:noFill/>
          </a:ln>
        </p:spPr>
        <p:txBody>
          <a:bodyPr wrap="square" lIns="0" tIns="0" rIns="0" bIns="0" anchor="ctr"/>
          <a:lstStyle/>
          <a:p>
            <a:pPr algn="l"/>
            <a:r>
              <a:rPr lang="en-US" sz="1400">
                <a:solidFill>
                  <a:srgbClr val="536174"/>
                </a:solidFill>
                <a:latin typeface="Aptos"/>
              </a:rPr>
              <a:t>Give Given–When–Then for a functional requirement.</a:t>
            </a:r>
            <a:endParaRPr lang="en-US" sz="1400"/>
          </a:p>
        </p:txBody>
      </p:sp>
      <p:sp>
        <p:nvSpPr>
          <p:cNvPr id="50" name="Box 50"/>
          <p:cNvSpPr/>
          <p:nvPr/>
        </p:nvSpPr>
        <p:spPr>
          <a:xfrm>
            <a:off x="8138160" y="2331720"/>
            <a:ext cx="3337560" cy="2423160"/>
          </a:xfrm>
          <a:prstGeom prst="roundRect">
            <a:avLst/>
          </a:prstGeom>
          <a:solidFill>
            <a:srgbClr val="FFFFFF"/>
          </a:solidFill>
          <a:ln w="12700">
            <a:solidFill>
              <a:srgbClr val="E2E7EE"/>
            </a:solidFill>
          </a:ln>
        </p:spPr>
      </p:sp>
      <p:sp>
        <p:nvSpPr>
          <p:cNvPr id="53" name="CardTitle"/>
          <p:cNvSpPr/>
          <p:nvPr/>
        </p:nvSpPr>
        <p:spPr>
          <a:xfrm>
            <a:off x="8366760" y="2834640"/>
            <a:ext cx="2926080" cy="347472"/>
          </a:xfrm>
          <a:prstGeom prst="rect">
            <a:avLst/>
          </a:prstGeom>
          <a:noFill/>
          <a:ln>
            <a:noFill/>
          </a:ln>
        </p:spPr>
        <p:txBody>
          <a:bodyPr wrap="square" lIns="0" tIns="0" rIns="0" bIns="0" anchor="ctr"/>
          <a:lstStyle/>
          <a:p>
            <a:pPr algn="l"/>
            <a:r>
              <a:rPr lang="en-US" sz="1800" b="1">
                <a:solidFill>
                  <a:srgbClr val="172033"/>
                </a:solidFill>
                <a:latin typeface="Aptos"/>
              </a:rPr>
              <a:t>Review</a:t>
            </a:r>
            <a:endParaRPr lang="en-US" sz="1800"/>
          </a:p>
        </p:txBody>
      </p:sp>
      <p:sp>
        <p:nvSpPr>
          <p:cNvPr id="54" name="CardBody"/>
          <p:cNvSpPr/>
          <p:nvPr/>
        </p:nvSpPr>
        <p:spPr>
          <a:xfrm>
            <a:off x="8366760" y="3264408"/>
            <a:ext cx="2926080" cy="1325880"/>
          </a:xfrm>
          <a:prstGeom prst="rect">
            <a:avLst/>
          </a:prstGeom>
          <a:noFill/>
          <a:ln>
            <a:noFill/>
          </a:ln>
        </p:spPr>
        <p:txBody>
          <a:bodyPr wrap="square" lIns="0" tIns="0" rIns="0" bIns="0" anchor="ctr"/>
          <a:lstStyle/>
          <a:p>
            <a:pPr algn="l"/>
            <a:r>
              <a:rPr lang="en-US" sz="1400">
                <a:solidFill>
                  <a:srgbClr val="536174"/>
                </a:solidFill>
                <a:latin typeface="Aptos"/>
              </a:rPr>
              <a:t>Swap with another group and find an ambiguity.</a:t>
            </a:r>
            <a:endParaRPr lang="en-US" sz="1400"/>
          </a:p>
        </p:txBody>
      </p:sp>
      <p:sp>
        <p:nvSpPr>
          <p:cNvPr id="60" name="Box 60"/>
          <p:cNvSpPr/>
          <p:nvPr/>
        </p:nvSpPr>
        <p:spPr>
          <a:xfrm>
            <a:off x="1188720" y="5212080"/>
            <a:ext cx="9784080" cy="640080"/>
          </a:xfrm>
          <a:prstGeom prst="roundRect">
            <a:avLst/>
          </a:prstGeom>
          <a:solidFill>
            <a:srgbClr val="FFF5E5"/>
          </a:solidFill>
          <a:ln w="12700">
            <a:solidFill>
              <a:srgbClr val="F8D99D"/>
            </a:solidFill>
          </a:ln>
        </p:spPr>
      </p:sp>
      <p:sp>
        <p:nvSpPr>
          <p:cNvPr id="61" name="Constraint"/>
          <p:cNvSpPr/>
          <p:nvPr/>
        </p:nvSpPr>
        <p:spPr>
          <a:xfrm>
            <a:off x="1463040" y="5404104"/>
            <a:ext cx="9235440" cy="256032"/>
          </a:xfrm>
          <a:prstGeom prst="rect">
            <a:avLst/>
          </a:prstGeom>
          <a:noFill/>
          <a:ln>
            <a:noFill/>
          </a:ln>
        </p:spPr>
        <p:txBody>
          <a:bodyPr wrap="square" lIns="0" tIns="0" rIns="0" bIns="0" anchor="ctr"/>
          <a:lstStyle/>
          <a:p>
            <a:pPr algn="l"/>
            <a:r>
              <a:rPr lang="en-US" sz="1500" b="1">
                <a:solidFill>
                  <a:srgbClr val="8A5A12"/>
                </a:solidFill>
                <a:latin typeface="Aptos"/>
              </a:rPr>
              <a:t>Bonus: add a domain requirement and document its source.</a:t>
            </a:r>
            <a:endParaRPr lang="en-US" sz="1500"/>
          </a:p>
        </p:txBody>
      </p:sp>
      <p:sp>
        <p:nvSpPr>
          <p:cNvPr id="900" name="Footer"/>
          <p:cNvSpPr/>
          <p:nvPr/>
        </p:nvSpPr>
        <p:spPr>
          <a:xfrm>
            <a:off x="502920" y="6547104"/>
            <a:ext cx="6858000" cy="164592"/>
          </a:xfrm>
          <a:prstGeom prst="rect">
            <a:avLst/>
          </a:prstGeom>
          <a:noFill/>
          <a:ln>
            <a:noFill/>
          </a:ln>
        </p:spPr>
        <p:txBody>
          <a:bodyPr wrap="square" lIns="0" tIns="0" rIns="0" bIns="0" anchor="ctr"/>
          <a:lstStyle/>
          <a:p>
            <a:pPr algn="l"/>
            <a:r>
              <a:rPr lang="en-US" sz="900">
                <a:solidFill>
                  <a:srgbClr val="7A8699"/>
                </a:solidFill>
                <a:latin typeface="Aptos"/>
              </a:rPr>
              <a:t>Software Technology • Software Engineering</a:t>
            </a:r>
            <a:endParaRPr lang="en-US" sz="900"/>
          </a:p>
        </p:txBody>
      </p:sp>
      <p:sp>
        <p:nvSpPr>
          <p:cNvPr id="901" name="Page"/>
          <p:cNvSpPr/>
          <p:nvPr/>
        </p:nvSpPr>
        <p:spPr>
          <a:xfrm>
            <a:off x="11109960" y="6519672"/>
            <a:ext cx="457200" cy="182880"/>
          </a:xfrm>
          <a:prstGeom prst="rect">
            <a:avLst/>
          </a:prstGeom>
          <a:noFill/>
          <a:ln>
            <a:noFill/>
          </a:ln>
        </p:spPr>
        <p:txBody>
          <a:bodyPr wrap="square" lIns="0" tIns="0" rIns="0" bIns="0" anchor="ctr"/>
          <a:lstStyle/>
          <a:p>
            <a:pPr algn="r"/>
            <a:r>
              <a:rPr lang="en-US" sz="900" b="1">
                <a:solidFill>
                  <a:srgbClr val="7A8699"/>
                </a:solidFill>
                <a:latin typeface="Aptos"/>
              </a:rPr>
              <a:t>21</a:t>
            </a:r>
            <a:endParaRPr lang="en-US" sz="90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font script="Geor" typeface="Sylfaen"/>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2754</TotalTime>
  <Words>1480</Words>
  <Application>Microsoft Office PowerPoint</Application>
  <PresentationFormat>Ευρεία οθόνη</PresentationFormat>
  <Paragraphs>325</Paragraphs>
  <Slides>27</Slides>
  <Notes>1</Notes>
  <HiddenSlides>0</HiddenSlides>
  <MMClips>0</MMClips>
  <ScaleCrop>false</ScaleCrop>
  <HeadingPairs>
    <vt:vector size="6" baseType="variant">
      <vt:variant>
        <vt:lpstr>Γραμματοσειρές που χρησιμοποιούνται</vt:lpstr>
      </vt:variant>
      <vt:variant>
        <vt:i4>6</vt:i4>
      </vt:variant>
      <vt:variant>
        <vt:lpstr>Θέμα</vt:lpstr>
      </vt:variant>
      <vt:variant>
        <vt:i4>1</vt:i4>
      </vt:variant>
      <vt:variant>
        <vt:lpstr>Τίτλοι διαφανειών</vt:lpstr>
      </vt:variant>
      <vt:variant>
        <vt:i4>27</vt:i4>
      </vt:variant>
    </vt:vector>
  </HeadingPairs>
  <TitlesOfParts>
    <vt:vector size="34" baseType="lpstr">
      <vt:lpstr>Aptos</vt:lpstr>
      <vt:lpstr>Calibri</vt:lpstr>
      <vt:lpstr>Lucida Sans Unicode</vt:lpstr>
      <vt:lpstr>Verdana</vt:lpstr>
      <vt:lpstr>Wingdings 2</vt:lpstr>
      <vt:lpstr>Wingdings 3</vt:lpstr>
      <vt:lpstr>Concourse</vt:lpstr>
      <vt:lpstr>SOFTWARE ENGINEERING   Software Requirements</vt:lpstr>
      <vt:lpstr>Παρουσίαση του PowerPoint</vt:lpstr>
      <vt:lpstr>Παρουσίαση του PowerPoint</vt:lpstr>
      <vt:lpstr>What is a requirement?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lpstr>Παρουσίαση του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AI_01_Εισαγωγή</dc:title>
  <dc:creator>Georgios Dimitrakopoulos</dc:creator>
  <cp:lastModifiedBy>GEORGIOS DIMITRAKOPOULOS</cp:lastModifiedBy>
  <cp:revision>275</cp:revision>
  <dcterms:created xsi:type="dcterms:W3CDTF">2019-05-13T10:41:40Z</dcterms:created>
  <dcterms:modified xsi:type="dcterms:W3CDTF">2026-10-14T15:52:56Z</dcterms:modified>
</cp:coreProperties>
</file>