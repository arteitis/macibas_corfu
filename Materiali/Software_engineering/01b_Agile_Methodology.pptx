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9"/>
  </p:notesMasterIdLst>
  <p:sldIdLst>
    <p:sldId id="256" r:id="rId2"/>
    <p:sldId id="287" r:id="rId3"/>
    <p:sldId id="259" r:id="rId4"/>
    <p:sldId id="260" r:id="rId5"/>
    <p:sldId id="288" r:id="rId6"/>
    <p:sldId id="289" r:id="rId7"/>
    <p:sldId id="325" r:id="rId8"/>
    <p:sldId id="291" r:id="rId9"/>
    <p:sldId id="292" r:id="rId10"/>
    <p:sldId id="327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285" r:id="rId31"/>
    <p:sldId id="312" r:id="rId32"/>
    <p:sldId id="314" r:id="rId33"/>
    <p:sldId id="331" r:id="rId34"/>
    <p:sldId id="315" r:id="rId35"/>
    <p:sldId id="316" r:id="rId36"/>
    <p:sldId id="317" r:id="rId37"/>
    <p:sldId id="318" r:id="rId38"/>
    <p:sldId id="313" r:id="rId39"/>
    <p:sldId id="319" r:id="rId40"/>
    <p:sldId id="332" r:id="rId41"/>
    <p:sldId id="320" r:id="rId42"/>
    <p:sldId id="321" r:id="rId43"/>
    <p:sldId id="344" r:id="rId44"/>
    <p:sldId id="346" r:id="rId45"/>
    <p:sldId id="323" r:id="rId46"/>
    <p:sldId id="324" r:id="rId47"/>
    <p:sldId id="343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Φωτεινό στυλ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Χωρίς στυλ, πλέγμα πίνακα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Φωτεινό στυλ 3 - Έμφαση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7" autoAdjust="0"/>
    <p:restoredTop sz="85451" autoAdjust="0"/>
  </p:normalViewPr>
  <p:slideViewPr>
    <p:cSldViewPr snapToGrid="0">
      <p:cViewPr varScale="1">
        <p:scale>
          <a:sx n="91" d="100"/>
          <a:sy n="91" d="100"/>
        </p:scale>
        <p:origin x="127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IOS DIMITRAKOPOULOS" userId="0614bc40-ecc2-4674-8a86-e5df437c2e7b" providerId="ADAL" clId="{241D36BE-FE1E-4FC3-99E3-E69D34DF589D}"/>
    <pc:docChg chg="undo custSel addSld delSld modSld sldOrd">
      <pc:chgData name="GEORGIOS DIMITRAKOPOULOS" userId="0614bc40-ecc2-4674-8a86-e5df437c2e7b" providerId="ADAL" clId="{241D36BE-FE1E-4FC3-99E3-E69D34DF589D}" dt="2026-10-14T15:03:23.449" v="207" actId="20577"/>
      <pc:docMkLst>
        <pc:docMk/>
      </pc:docMkLst>
      <pc:sldChg chg="modSp mod">
        <pc:chgData name="GEORGIOS DIMITRAKOPOULOS" userId="0614bc40-ecc2-4674-8a86-e5df437c2e7b" providerId="ADAL" clId="{241D36BE-FE1E-4FC3-99E3-E69D34DF589D}" dt="2026-10-14T14:56:39.961" v="133"/>
        <pc:sldMkLst>
          <pc:docMk/>
          <pc:sldMk cId="101925054" sldId="256"/>
        </pc:sldMkLst>
        <pc:spChg chg="mod">
          <ac:chgData name="GEORGIOS DIMITRAKOPOULOS" userId="0614bc40-ecc2-4674-8a86-e5df437c2e7b" providerId="ADAL" clId="{241D36BE-FE1E-4FC3-99E3-E69D34DF589D}" dt="2026-10-14T14:56:39.961" v="133"/>
          <ac:spMkLst>
            <pc:docMk/>
            <pc:sldMk cId="101925054" sldId="256"/>
            <ac:spMk id="2" creationId="{5E6ACBEA-250E-4AE9-BE07-99C260CCE79D}"/>
          </ac:spMkLst>
        </pc:spChg>
      </pc:sldChg>
      <pc:sldChg chg="ord">
        <pc:chgData name="GEORGIOS DIMITRAKOPOULOS" userId="0614bc40-ecc2-4674-8a86-e5df437c2e7b" providerId="ADAL" clId="{241D36BE-FE1E-4FC3-99E3-E69D34DF589D}" dt="2026-10-14T12:20:18.722" v="1"/>
        <pc:sldMkLst>
          <pc:docMk/>
          <pc:sldMk cId="1420465200" sldId="257"/>
        </pc:sldMkLst>
      </pc:sldChg>
      <pc:sldChg chg="modSp add mod ord">
        <pc:chgData name="GEORGIOS DIMITRAKOPOULOS" userId="0614bc40-ecc2-4674-8a86-e5df437c2e7b" providerId="ADAL" clId="{241D36BE-FE1E-4FC3-99E3-E69D34DF589D}" dt="2026-10-14T14:56:46.835" v="136" actId="6549"/>
        <pc:sldMkLst>
          <pc:docMk/>
          <pc:sldMk cId="0" sldId="259"/>
        </pc:sldMkLst>
        <pc:spChg chg="mod">
          <ac:chgData name="GEORGIOS DIMITRAKOPOULOS" userId="0614bc40-ecc2-4674-8a86-e5df437c2e7b" providerId="ADAL" clId="{241D36BE-FE1E-4FC3-99E3-E69D34DF589D}" dt="2026-10-14T14:56:46.835" v="136" actId="6549"/>
          <ac:spMkLst>
            <pc:docMk/>
            <pc:sldMk cId="0" sldId="259"/>
            <ac:spMk id="5" creationId="{00000000-0000-0000-0000-000000000000}"/>
          </ac:spMkLst>
        </pc:spChg>
        <pc:spChg chg="mod">
          <ac:chgData name="GEORGIOS DIMITRAKOPOULOS" userId="0614bc40-ecc2-4674-8a86-e5df437c2e7b" providerId="ADAL" clId="{241D36BE-FE1E-4FC3-99E3-E69D34DF589D}" dt="2026-10-14T12:21:52.426" v="2"/>
          <ac:spMkLst>
            <pc:docMk/>
            <pc:sldMk cId="0" sldId="259"/>
            <ac:spMk id="34" creationId="{00000000-0000-0000-0000-000000000000}"/>
          </ac:spMkLst>
        </pc:spChg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60"/>
        </pc:sldMkLst>
      </pc:sldChg>
      <pc:sldChg chg="ord">
        <pc:chgData name="GEORGIOS DIMITRAKOPOULOS" userId="0614bc40-ecc2-4674-8a86-e5df437c2e7b" providerId="ADAL" clId="{241D36BE-FE1E-4FC3-99E3-E69D34DF589D}" dt="2026-10-14T12:20:18.722" v="1"/>
        <pc:sldMkLst>
          <pc:docMk/>
          <pc:sldMk cId="1206904133" sldId="262"/>
        </pc:sldMkLst>
      </pc:sldChg>
      <pc:sldChg chg="ord">
        <pc:chgData name="GEORGIOS DIMITRAKOPOULOS" userId="0614bc40-ecc2-4674-8a86-e5df437c2e7b" providerId="ADAL" clId="{241D36BE-FE1E-4FC3-99E3-E69D34DF589D}" dt="2026-10-14T12:31:20.070" v="19"/>
        <pc:sldMkLst>
          <pc:docMk/>
          <pc:sldMk cId="183527178" sldId="271"/>
        </pc:sldMkLst>
      </pc:sldChg>
      <pc:sldChg chg="ord">
        <pc:chgData name="GEORGIOS DIMITRAKOPOULOS" userId="0614bc40-ecc2-4674-8a86-e5df437c2e7b" providerId="ADAL" clId="{241D36BE-FE1E-4FC3-99E3-E69D34DF589D}" dt="2026-10-14T12:32:12.362" v="23"/>
        <pc:sldMkLst>
          <pc:docMk/>
          <pc:sldMk cId="3921543343" sldId="273"/>
        </pc:sldMkLst>
      </pc:sldChg>
      <pc:sldChg chg="ord">
        <pc:chgData name="GEORGIOS DIMITRAKOPOULOS" userId="0614bc40-ecc2-4674-8a86-e5df437c2e7b" providerId="ADAL" clId="{241D36BE-FE1E-4FC3-99E3-E69D34DF589D}" dt="2026-10-14T12:36:50.972" v="39"/>
        <pc:sldMkLst>
          <pc:docMk/>
          <pc:sldMk cId="4109221411" sldId="274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85"/>
        </pc:sldMkLst>
      </pc:sldChg>
      <pc:sldChg chg="modSp ord">
        <pc:chgData name="GEORGIOS DIMITRAKOPOULOS" userId="0614bc40-ecc2-4674-8a86-e5df437c2e7b" providerId="ADAL" clId="{241D36BE-FE1E-4FC3-99E3-E69D34DF589D}" dt="2026-10-14T12:33:45.939" v="33"/>
        <pc:sldMkLst>
          <pc:docMk/>
          <pc:sldMk cId="827184629" sldId="286"/>
        </pc:sldMkLst>
        <pc:spChg chg="mod">
          <ac:chgData name="GEORGIOS DIMITRAKOPOULOS" userId="0614bc40-ecc2-4674-8a86-e5df437c2e7b" providerId="ADAL" clId="{241D36BE-FE1E-4FC3-99E3-E69D34DF589D}" dt="2026-10-14T12:33:08.279" v="27"/>
          <ac:spMkLst>
            <pc:docMk/>
            <pc:sldMk cId="827184629" sldId="286"/>
            <ac:spMk id="2" creationId="{03BDBAB7-12E3-F728-D8D5-975FA1F96913}"/>
          </ac:spMkLst>
        </pc:spChg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87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88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89"/>
        </pc:sldMkLst>
      </pc:sldChg>
      <pc:sldChg chg="add del">
        <pc:chgData name="GEORGIOS DIMITRAKOPOULOS" userId="0614bc40-ecc2-4674-8a86-e5df437c2e7b" providerId="ADAL" clId="{241D36BE-FE1E-4FC3-99E3-E69D34DF589D}" dt="2026-10-14T14:57:09.238" v="139" actId="47"/>
        <pc:sldMkLst>
          <pc:docMk/>
          <pc:sldMk cId="0" sldId="290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91"/>
        </pc:sldMkLst>
      </pc:sldChg>
      <pc:sldChg chg="modSp add mod">
        <pc:chgData name="GEORGIOS DIMITRAKOPOULOS" userId="0614bc40-ecc2-4674-8a86-e5df437c2e7b" providerId="ADAL" clId="{241D36BE-FE1E-4FC3-99E3-E69D34DF589D}" dt="2026-10-14T14:57:19.807" v="142" actId="20577"/>
        <pc:sldMkLst>
          <pc:docMk/>
          <pc:sldMk cId="0" sldId="292"/>
        </pc:sldMkLst>
        <pc:spChg chg="mod">
          <ac:chgData name="GEORGIOS DIMITRAKOPOULOS" userId="0614bc40-ecc2-4674-8a86-e5df437c2e7b" providerId="ADAL" clId="{241D36BE-FE1E-4FC3-99E3-E69D34DF589D}" dt="2026-10-14T14:57:19.807" v="142" actId="20577"/>
          <ac:spMkLst>
            <pc:docMk/>
            <pc:sldMk cId="0" sldId="292"/>
            <ac:spMk id="5" creationId="{00000000-0000-0000-0000-000000000000}"/>
          </ac:spMkLst>
        </pc:spChg>
        <pc:spChg chg="mod">
          <ac:chgData name="GEORGIOS DIMITRAKOPOULOS" userId="0614bc40-ecc2-4674-8a86-e5df437c2e7b" providerId="ADAL" clId="{241D36BE-FE1E-4FC3-99E3-E69D34DF589D}" dt="2026-10-14T12:25:35.586" v="5"/>
          <ac:spMkLst>
            <pc:docMk/>
            <pc:sldMk cId="0" sldId="292"/>
            <ac:spMk id="41" creationId="{00000000-0000-0000-0000-000000000000}"/>
          </ac:spMkLst>
        </pc:spChg>
      </pc:sldChg>
      <pc:sldChg chg="add ord">
        <pc:chgData name="GEORGIOS DIMITRAKOPOULOS" userId="0614bc40-ecc2-4674-8a86-e5df437c2e7b" providerId="ADAL" clId="{241D36BE-FE1E-4FC3-99E3-E69D34DF589D}" dt="2026-10-14T12:29:57.874" v="17"/>
        <pc:sldMkLst>
          <pc:docMk/>
          <pc:sldMk cId="0" sldId="293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94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95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96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97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98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299"/>
        </pc:sldMkLst>
      </pc:sldChg>
      <pc:sldChg chg="delSp add mod">
        <pc:chgData name="GEORGIOS DIMITRAKOPOULOS" userId="0614bc40-ecc2-4674-8a86-e5df437c2e7b" providerId="ADAL" clId="{241D36BE-FE1E-4FC3-99E3-E69D34DF589D}" dt="2026-10-14T15:00:18.114" v="176" actId="478"/>
        <pc:sldMkLst>
          <pc:docMk/>
          <pc:sldMk cId="0" sldId="300"/>
        </pc:sldMkLst>
        <pc:spChg chg="del">
          <ac:chgData name="GEORGIOS DIMITRAKOPOULOS" userId="0614bc40-ecc2-4674-8a86-e5df437c2e7b" providerId="ADAL" clId="{241D36BE-FE1E-4FC3-99E3-E69D34DF589D}" dt="2026-10-14T15:00:14.787" v="174" actId="478"/>
          <ac:spMkLst>
            <pc:docMk/>
            <pc:sldMk cId="0" sldId="300"/>
            <ac:spMk id="32" creationId="{00000000-0000-0000-0000-000000000000}"/>
          </ac:spMkLst>
        </pc:spChg>
        <pc:spChg chg="del">
          <ac:chgData name="GEORGIOS DIMITRAKOPOULOS" userId="0614bc40-ecc2-4674-8a86-e5df437c2e7b" providerId="ADAL" clId="{241D36BE-FE1E-4FC3-99E3-E69D34DF589D}" dt="2026-10-14T15:00:16.107" v="175" actId="478"/>
          <ac:spMkLst>
            <pc:docMk/>
            <pc:sldMk cId="0" sldId="300"/>
            <ac:spMk id="42" creationId="{00000000-0000-0000-0000-000000000000}"/>
          </ac:spMkLst>
        </pc:spChg>
        <pc:spChg chg="del">
          <ac:chgData name="GEORGIOS DIMITRAKOPOULOS" userId="0614bc40-ecc2-4674-8a86-e5df437c2e7b" providerId="ADAL" clId="{241D36BE-FE1E-4FC3-99E3-E69D34DF589D}" dt="2026-10-14T15:00:18.114" v="176" actId="478"/>
          <ac:spMkLst>
            <pc:docMk/>
            <pc:sldMk cId="0" sldId="300"/>
            <ac:spMk id="52" creationId="{00000000-0000-0000-0000-000000000000}"/>
          </ac:spMkLst>
        </pc:spChg>
      </pc:sldChg>
      <pc:sldChg chg="modSp add mod">
        <pc:chgData name="GEORGIOS DIMITRAKOPOULOS" userId="0614bc40-ecc2-4674-8a86-e5df437c2e7b" providerId="ADAL" clId="{241D36BE-FE1E-4FC3-99E3-E69D34DF589D}" dt="2026-10-14T15:00:28.636" v="182" actId="20577"/>
        <pc:sldMkLst>
          <pc:docMk/>
          <pc:sldMk cId="0" sldId="301"/>
        </pc:sldMkLst>
        <pc:spChg chg="mod">
          <ac:chgData name="GEORGIOS DIMITRAKOPOULOS" userId="0614bc40-ecc2-4674-8a86-e5df437c2e7b" providerId="ADAL" clId="{241D36BE-FE1E-4FC3-99E3-E69D34DF589D}" dt="2026-10-14T15:00:28.636" v="182" actId="20577"/>
          <ac:spMkLst>
            <pc:docMk/>
            <pc:sldMk cId="0" sldId="301"/>
            <ac:spMk id="5" creationId="{00000000-0000-0000-0000-000000000000}"/>
          </ac:spMkLst>
        </pc:spChg>
      </pc:sldChg>
      <pc:sldChg chg="modSp add mod">
        <pc:chgData name="GEORGIOS DIMITRAKOPOULOS" userId="0614bc40-ecc2-4674-8a86-e5df437c2e7b" providerId="ADAL" clId="{241D36BE-FE1E-4FC3-99E3-E69D34DF589D}" dt="2026-10-14T15:00:38.281" v="183" actId="20577"/>
        <pc:sldMkLst>
          <pc:docMk/>
          <pc:sldMk cId="0" sldId="302"/>
        </pc:sldMkLst>
        <pc:spChg chg="mod">
          <ac:chgData name="GEORGIOS DIMITRAKOPOULOS" userId="0614bc40-ecc2-4674-8a86-e5df437c2e7b" providerId="ADAL" clId="{241D36BE-FE1E-4FC3-99E3-E69D34DF589D}" dt="2026-10-14T15:00:38.281" v="183" actId="20577"/>
          <ac:spMkLst>
            <pc:docMk/>
            <pc:sldMk cId="0" sldId="302"/>
            <ac:spMk id="43" creationId="{00000000-0000-0000-0000-000000000000}"/>
          </ac:spMkLst>
        </pc:spChg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03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04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05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06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07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08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09"/>
        </pc:sldMkLst>
      </pc:sldChg>
      <pc:sldChg chg="delSp add mod">
        <pc:chgData name="GEORGIOS DIMITRAKOPOULOS" userId="0614bc40-ecc2-4674-8a86-e5df437c2e7b" providerId="ADAL" clId="{241D36BE-FE1E-4FC3-99E3-E69D34DF589D}" dt="2026-10-14T15:01:06.289" v="186" actId="478"/>
        <pc:sldMkLst>
          <pc:docMk/>
          <pc:sldMk cId="0" sldId="310"/>
        </pc:sldMkLst>
        <pc:spChg chg="del">
          <ac:chgData name="GEORGIOS DIMITRAKOPOULOS" userId="0614bc40-ecc2-4674-8a86-e5df437c2e7b" providerId="ADAL" clId="{241D36BE-FE1E-4FC3-99E3-E69D34DF589D}" dt="2026-10-14T15:01:00.624" v="184" actId="478"/>
          <ac:spMkLst>
            <pc:docMk/>
            <pc:sldMk cId="0" sldId="310"/>
            <ac:spMk id="32" creationId="{00000000-0000-0000-0000-000000000000}"/>
          </ac:spMkLst>
        </pc:spChg>
        <pc:spChg chg="del">
          <ac:chgData name="GEORGIOS DIMITRAKOPOULOS" userId="0614bc40-ecc2-4674-8a86-e5df437c2e7b" providerId="ADAL" clId="{241D36BE-FE1E-4FC3-99E3-E69D34DF589D}" dt="2026-10-14T15:01:03.548" v="185" actId="478"/>
          <ac:spMkLst>
            <pc:docMk/>
            <pc:sldMk cId="0" sldId="310"/>
            <ac:spMk id="42" creationId="{00000000-0000-0000-0000-000000000000}"/>
          </ac:spMkLst>
        </pc:spChg>
        <pc:spChg chg="del">
          <ac:chgData name="GEORGIOS DIMITRAKOPOULOS" userId="0614bc40-ecc2-4674-8a86-e5df437c2e7b" providerId="ADAL" clId="{241D36BE-FE1E-4FC3-99E3-E69D34DF589D}" dt="2026-10-14T15:01:06.289" v="186" actId="478"/>
          <ac:spMkLst>
            <pc:docMk/>
            <pc:sldMk cId="0" sldId="310"/>
            <ac:spMk id="52" creationId="{00000000-0000-0000-0000-000000000000}"/>
          </ac:spMkLst>
        </pc:spChg>
      </pc:sldChg>
      <pc:sldChg chg="delSp add mod">
        <pc:chgData name="GEORGIOS DIMITRAKOPOULOS" userId="0614bc40-ecc2-4674-8a86-e5df437c2e7b" providerId="ADAL" clId="{241D36BE-FE1E-4FC3-99E3-E69D34DF589D}" dt="2026-10-14T15:01:23.240" v="190" actId="478"/>
        <pc:sldMkLst>
          <pc:docMk/>
          <pc:sldMk cId="0" sldId="311"/>
        </pc:sldMkLst>
        <pc:spChg chg="del">
          <ac:chgData name="GEORGIOS DIMITRAKOPOULOS" userId="0614bc40-ecc2-4674-8a86-e5df437c2e7b" providerId="ADAL" clId="{241D36BE-FE1E-4FC3-99E3-E69D34DF589D}" dt="2026-10-14T15:01:15.053" v="187" actId="478"/>
          <ac:spMkLst>
            <pc:docMk/>
            <pc:sldMk cId="0" sldId="311"/>
            <ac:spMk id="22" creationId="{00000000-0000-0000-0000-000000000000}"/>
          </ac:spMkLst>
        </pc:spChg>
        <pc:spChg chg="del">
          <ac:chgData name="GEORGIOS DIMITRAKOPOULOS" userId="0614bc40-ecc2-4674-8a86-e5df437c2e7b" providerId="ADAL" clId="{241D36BE-FE1E-4FC3-99E3-E69D34DF589D}" dt="2026-10-14T15:01:17.682" v="188" actId="478"/>
          <ac:spMkLst>
            <pc:docMk/>
            <pc:sldMk cId="0" sldId="311"/>
            <ac:spMk id="32" creationId="{00000000-0000-0000-0000-000000000000}"/>
          </ac:spMkLst>
        </pc:spChg>
        <pc:spChg chg="del">
          <ac:chgData name="GEORGIOS DIMITRAKOPOULOS" userId="0614bc40-ecc2-4674-8a86-e5df437c2e7b" providerId="ADAL" clId="{241D36BE-FE1E-4FC3-99E3-E69D34DF589D}" dt="2026-10-14T15:01:20.253" v="189" actId="478"/>
          <ac:spMkLst>
            <pc:docMk/>
            <pc:sldMk cId="0" sldId="311"/>
            <ac:spMk id="42" creationId="{00000000-0000-0000-0000-000000000000}"/>
          </ac:spMkLst>
        </pc:spChg>
        <pc:spChg chg="del">
          <ac:chgData name="GEORGIOS DIMITRAKOPOULOS" userId="0614bc40-ecc2-4674-8a86-e5df437c2e7b" providerId="ADAL" clId="{241D36BE-FE1E-4FC3-99E3-E69D34DF589D}" dt="2026-10-14T15:01:23.240" v="190" actId="478"/>
          <ac:spMkLst>
            <pc:docMk/>
            <pc:sldMk cId="0" sldId="311"/>
            <ac:spMk id="52" creationId="{00000000-0000-0000-0000-000000000000}"/>
          </ac:spMkLst>
        </pc:spChg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12"/>
        </pc:sldMkLst>
      </pc:sldChg>
      <pc:sldChg chg="add ord">
        <pc:chgData name="GEORGIOS DIMITRAKOPOULOS" userId="0614bc40-ecc2-4674-8a86-e5df437c2e7b" providerId="ADAL" clId="{241D36BE-FE1E-4FC3-99E3-E69D34DF589D}" dt="2026-10-14T12:26:50.333" v="7"/>
        <pc:sldMkLst>
          <pc:docMk/>
          <pc:sldMk cId="0" sldId="313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14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15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16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17"/>
        </pc:sldMkLst>
      </pc:sldChg>
      <pc:sldChg chg="add ord">
        <pc:chgData name="GEORGIOS DIMITRAKOPOULOS" userId="0614bc40-ecc2-4674-8a86-e5df437c2e7b" providerId="ADAL" clId="{241D36BE-FE1E-4FC3-99E3-E69D34DF589D}" dt="2026-10-14T12:26:54.906" v="8"/>
        <pc:sldMkLst>
          <pc:docMk/>
          <pc:sldMk cId="0" sldId="318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19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20"/>
        </pc:sldMkLst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21"/>
        </pc:sldMkLst>
      </pc:sldChg>
      <pc:sldChg chg="modSp add del mod">
        <pc:chgData name="GEORGIOS DIMITRAKOPOULOS" userId="0614bc40-ecc2-4674-8a86-e5df437c2e7b" providerId="ADAL" clId="{241D36BE-FE1E-4FC3-99E3-E69D34DF589D}" dt="2026-10-14T13:25:57.839" v="130" actId="47"/>
        <pc:sldMkLst>
          <pc:docMk/>
          <pc:sldMk cId="0" sldId="322"/>
        </pc:sldMkLst>
        <pc:spChg chg="mod">
          <ac:chgData name="GEORGIOS DIMITRAKOPOULOS" userId="0614bc40-ecc2-4674-8a86-e5df437c2e7b" providerId="ADAL" clId="{241D36BE-FE1E-4FC3-99E3-E69D34DF589D}" dt="2026-10-14T13:22:04.304" v="63" actId="20577"/>
          <ac:spMkLst>
            <pc:docMk/>
            <pc:sldMk cId="0" sldId="322"/>
            <ac:spMk id="5" creationId="{00000000-0000-0000-0000-000000000000}"/>
          </ac:spMkLst>
        </pc:spChg>
      </pc:sldChg>
      <pc:sldChg chg="modSp add mod">
        <pc:chgData name="GEORGIOS DIMITRAKOPOULOS" userId="0614bc40-ecc2-4674-8a86-e5df437c2e7b" providerId="ADAL" clId="{241D36BE-FE1E-4FC3-99E3-E69D34DF589D}" dt="2026-10-14T15:03:23.449" v="207" actId="20577"/>
        <pc:sldMkLst>
          <pc:docMk/>
          <pc:sldMk cId="0" sldId="323"/>
        </pc:sldMkLst>
        <pc:spChg chg="mod">
          <ac:chgData name="GEORGIOS DIMITRAKOPOULOS" userId="0614bc40-ecc2-4674-8a86-e5df437c2e7b" providerId="ADAL" clId="{241D36BE-FE1E-4FC3-99E3-E69D34DF589D}" dt="2026-10-14T15:03:23.449" v="207" actId="20577"/>
          <ac:spMkLst>
            <pc:docMk/>
            <pc:sldMk cId="0" sldId="323"/>
            <ac:spMk id="5" creationId="{00000000-0000-0000-0000-000000000000}"/>
          </ac:spMkLst>
        </pc:spChg>
      </pc:sldChg>
      <pc:sldChg chg="add">
        <pc:chgData name="GEORGIOS DIMITRAKOPOULOS" userId="0614bc40-ecc2-4674-8a86-e5df437c2e7b" providerId="ADAL" clId="{241D36BE-FE1E-4FC3-99E3-E69D34DF589D}" dt="2026-10-14T12:19:34.418" v="0"/>
        <pc:sldMkLst>
          <pc:docMk/>
          <pc:sldMk cId="0" sldId="324"/>
        </pc:sldMkLst>
      </pc:sldChg>
      <pc:sldChg chg="addSp modSp add">
        <pc:chgData name="GEORGIOS DIMITRAKOPOULOS" userId="0614bc40-ecc2-4674-8a86-e5df437c2e7b" providerId="ADAL" clId="{241D36BE-FE1E-4FC3-99E3-E69D34DF589D}" dt="2026-10-14T12:32:01.546" v="22"/>
        <pc:sldMkLst>
          <pc:docMk/>
          <pc:sldMk cId="4022226285" sldId="325"/>
        </pc:sldMkLst>
        <pc:spChg chg="add mod">
          <ac:chgData name="GEORGIOS DIMITRAKOPOULOS" userId="0614bc40-ecc2-4674-8a86-e5df437c2e7b" providerId="ADAL" clId="{241D36BE-FE1E-4FC3-99E3-E69D34DF589D}" dt="2026-10-14T12:31:41.299" v="21"/>
          <ac:spMkLst>
            <pc:docMk/>
            <pc:sldMk cId="4022226285" sldId="325"/>
            <ac:spMk id="4" creationId="{7E571D5C-898B-463A-7576-CF5D739F7569}"/>
          </ac:spMkLst>
        </pc:spChg>
        <pc:spChg chg="mod">
          <ac:chgData name="GEORGIOS DIMITRAKOPOULOS" userId="0614bc40-ecc2-4674-8a86-e5df437c2e7b" providerId="ADAL" clId="{241D36BE-FE1E-4FC3-99E3-E69D34DF589D}" dt="2026-10-14T12:32:01.546" v="22"/>
          <ac:spMkLst>
            <pc:docMk/>
            <pc:sldMk cId="4022226285" sldId="325"/>
            <ac:spMk id="5" creationId="{4514360A-55B7-A7E2-FFCD-81F57B899F7B}"/>
          </ac:spMkLst>
        </pc:spChg>
      </pc:sldChg>
      <pc:sldChg chg="modSp add del mod">
        <pc:chgData name="GEORGIOS DIMITRAKOPOULOS" userId="0614bc40-ecc2-4674-8a86-e5df437c2e7b" providerId="ADAL" clId="{241D36BE-FE1E-4FC3-99E3-E69D34DF589D}" dt="2026-10-14T14:59:39.984" v="173" actId="47"/>
        <pc:sldMkLst>
          <pc:docMk/>
          <pc:sldMk cId="1070180198" sldId="326"/>
        </pc:sldMkLst>
        <pc:spChg chg="mod">
          <ac:chgData name="GEORGIOS DIMITRAKOPOULOS" userId="0614bc40-ecc2-4674-8a86-e5df437c2e7b" providerId="ADAL" clId="{241D36BE-FE1E-4FC3-99E3-E69D34DF589D}" dt="2026-10-14T14:57:31.651" v="150"/>
          <ac:spMkLst>
            <pc:docMk/>
            <pc:sldMk cId="1070180198" sldId="326"/>
            <ac:spMk id="5" creationId="{2A13B773-0773-82D0-48AD-D96891AC6859}"/>
          </ac:spMkLst>
        </pc:spChg>
      </pc:sldChg>
      <pc:sldChg chg="addSp delSp modSp add mod">
        <pc:chgData name="GEORGIOS DIMITRAKOPOULOS" userId="0614bc40-ecc2-4674-8a86-e5df437c2e7b" providerId="ADAL" clId="{241D36BE-FE1E-4FC3-99E3-E69D34DF589D}" dt="2026-10-14T14:58:36.409" v="172" actId="14100"/>
        <pc:sldMkLst>
          <pc:docMk/>
          <pc:sldMk cId="599868390" sldId="327"/>
        </pc:sldMkLst>
        <pc:spChg chg="mod">
          <ac:chgData name="GEORGIOS DIMITRAKOPOULOS" userId="0614bc40-ecc2-4674-8a86-e5df437c2e7b" providerId="ADAL" clId="{241D36BE-FE1E-4FC3-99E3-E69D34DF589D}" dt="2026-10-14T14:57:25.380" v="145" actId="20577"/>
          <ac:spMkLst>
            <pc:docMk/>
            <pc:sldMk cId="599868390" sldId="327"/>
            <ac:spMk id="2" creationId="{4FD7642D-6863-9A21-6A31-38BAFBE1BCD4}"/>
          </ac:spMkLst>
        </pc:spChg>
        <pc:spChg chg="mod">
          <ac:chgData name="GEORGIOS DIMITRAKOPOULOS" userId="0614bc40-ecc2-4674-8a86-e5df437c2e7b" providerId="ADAL" clId="{241D36BE-FE1E-4FC3-99E3-E69D34DF589D}" dt="2026-10-14T14:57:27.166" v="147"/>
          <ac:spMkLst>
            <pc:docMk/>
            <pc:sldMk cId="599868390" sldId="327"/>
            <ac:spMk id="5" creationId="{9D84423C-C44B-00B8-53D0-880208D5B9C0}"/>
          </ac:spMkLst>
        </pc:spChg>
        <pc:spChg chg="add mod">
          <ac:chgData name="GEORGIOS DIMITRAKOPOULOS" userId="0614bc40-ecc2-4674-8a86-e5df437c2e7b" providerId="ADAL" clId="{241D36BE-FE1E-4FC3-99E3-E69D34DF589D}" dt="2026-10-14T14:58:36.409" v="172" actId="14100"/>
          <ac:spMkLst>
            <pc:docMk/>
            <pc:sldMk cId="599868390" sldId="327"/>
            <ac:spMk id="7" creationId="{C61CDF60-732E-2441-F1C2-6C4E7F2B7B98}"/>
          </ac:spMkLst>
        </pc:spChg>
        <pc:picChg chg="add">
          <ac:chgData name="GEORGIOS DIMITRAKOPOULOS" userId="0614bc40-ecc2-4674-8a86-e5df437c2e7b" providerId="ADAL" clId="{241D36BE-FE1E-4FC3-99E3-E69D34DF589D}" dt="2026-10-14T14:58:18.553" v="153"/>
          <ac:picMkLst>
            <pc:docMk/>
            <pc:sldMk cId="599868390" sldId="327"/>
            <ac:picMk id="4" creationId="{56C2CB5B-D880-B5FA-1525-B0813A93A723}"/>
          </ac:picMkLst>
        </pc:picChg>
        <pc:picChg chg="del">
          <ac:chgData name="GEORGIOS DIMITRAKOPOULOS" userId="0614bc40-ecc2-4674-8a86-e5df437c2e7b" providerId="ADAL" clId="{241D36BE-FE1E-4FC3-99E3-E69D34DF589D}" dt="2026-10-14T14:58:17.286" v="151" actId="478"/>
          <ac:picMkLst>
            <pc:docMk/>
            <pc:sldMk cId="599868390" sldId="327"/>
            <ac:picMk id="8" creationId="{23DC414D-6F00-B548-3D23-4CF39A76793B}"/>
          </ac:picMkLst>
        </pc:picChg>
      </pc:sldChg>
      <pc:sldChg chg="add del">
        <pc:chgData name="GEORGIOS DIMITRAKOPOULOS" userId="0614bc40-ecc2-4674-8a86-e5df437c2e7b" providerId="ADAL" clId="{241D36BE-FE1E-4FC3-99E3-E69D34DF589D}" dt="2026-10-14T12:33:33.889" v="30"/>
        <pc:sldMkLst>
          <pc:docMk/>
          <pc:sldMk cId="3897948969" sldId="327"/>
        </pc:sldMkLst>
      </pc:sldChg>
      <pc:sldChg chg="add">
        <pc:chgData name="GEORGIOS DIMITRAKOPOULOS" userId="0614bc40-ecc2-4674-8a86-e5df437c2e7b" providerId="ADAL" clId="{241D36BE-FE1E-4FC3-99E3-E69D34DF589D}" dt="2026-10-14T12:34:21.834" v="34"/>
        <pc:sldMkLst>
          <pc:docMk/>
          <pc:sldMk cId="282894503" sldId="329"/>
        </pc:sldMkLst>
      </pc:sldChg>
      <pc:sldChg chg="modSp add del">
        <pc:chgData name="GEORGIOS DIMITRAKOPOULOS" userId="0614bc40-ecc2-4674-8a86-e5df437c2e7b" providerId="ADAL" clId="{241D36BE-FE1E-4FC3-99E3-E69D34DF589D}" dt="2026-10-14T15:02:19.259" v="191" actId="47"/>
        <pc:sldMkLst>
          <pc:docMk/>
          <pc:sldMk cId="2694276657" sldId="330"/>
        </pc:sldMkLst>
        <pc:spChg chg="mod">
          <ac:chgData name="GEORGIOS DIMITRAKOPOULOS" userId="0614bc40-ecc2-4674-8a86-e5df437c2e7b" providerId="ADAL" clId="{241D36BE-FE1E-4FC3-99E3-E69D34DF589D}" dt="2026-10-14T12:34:50.825" v="36"/>
          <ac:spMkLst>
            <pc:docMk/>
            <pc:sldMk cId="2694276657" sldId="330"/>
            <ac:spMk id="5" creationId="{484E9E1F-B759-E1E6-7BF8-4C58BB40778F}"/>
          </ac:spMkLst>
        </pc:spChg>
      </pc:sldChg>
      <pc:sldChg chg="add">
        <pc:chgData name="GEORGIOS DIMITRAKOPOULOS" userId="0614bc40-ecc2-4674-8a86-e5df437c2e7b" providerId="ADAL" clId="{241D36BE-FE1E-4FC3-99E3-E69D34DF589D}" dt="2026-10-14T12:35:32.809" v="37"/>
        <pc:sldMkLst>
          <pc:docMk/>
          <pc:sldMk cId="1491497730" sldId="331"/>
        </pc:sldMkLst>
      </pc:sldChg>
      <pc:sldChg chg="addSp delSp modSp add mod">
        <pc:chgData name="GEORGIOS DIMITRAKOPOULOS" userId="0614bc40-ecc2-4674-8a86-e5df437c2e7b" providerId="ADAL" clId="{241D36BE-FE1E-4FC3-99E3-E69D34DF589D}" dt="2026-10-14T15:02:52.228" v="195" actId="1076"/>
        <pc:sldMkLst>
          <pc:docMk/>
          <pc:sldMk cId="2191725669" sldId="332"/>
        </pc:sldMkLst>
        <pc:spChg chg="add mod">
          <ac:chgData name="GEORGIOS DIMITRAKOPOULOS" userId="0614bc40-ecc2-4674-8a86-e5df437c2e7b" providerId="ADAL" clId="{241D36BE-FE1E-4FC3-99E3-E69D34DF589D}" dt="2026-10-14T12:37:06.257" v="42"/>
          <ac:spMkLst>
            <pc:docMk/>
            <pc:sldMk cId="2191725669" sldId="332"/>
            <ac:spMk id="4" creationId="{A5AEF6B3-E991-DB46-368B-865493D40F6D}"/>
          </ac:spMkLst>
        </pc:spChg>
        <pc:spChg chg="mod">
          <ac:chgData name="GEORGIOS DIMITRAKOPOULOS" userId="0614bc40-ecc2-4674-8a86-e5df437c2e7b" providerId="ADAL" clId="{241D36BE-FE1E-4FC3-99E3-E69D34DF589D}" dt="2026-10-14T12:37:36.971" v="44"/>
          <ac:spMkLst>
            <pc:docMk/>
            <pc:sldMk cId="2191725669" sldId="332"/>
            <ac:spMk id="5" creationId="{C679848C-2DDC-E930-D413-E6BB1DB1FBF5}"/>
          </ac:spMkLst>
        </pc:spChg>
        <pc:spChg chg="add mod">
          <ac:chgData name="GEORGIOS DIMITRAKOPOULOS" userId="0614bc40-ecc2-4674-8a86-e5df437c2e7b" providerId="ADAL" clId="{241D36BE-FE1E-4FC3-99E3-E69D34DF589D}" dt="2026-10-14T12:37:10.929" v="43"/>
          <ac:spMkLst>
            <pc:docMk/>
            <pc:sldMk cId="2191725669" sldId="332"/>
            <ac:spMk id="8" creationId="{E0DDD7E4-45D5-A682-27C2-7DEB500A2102}"/>
          </ac:spMkLst>
        </pc:spChg>
        <pc:picChg chg="add mod">
          <ac:chgData name="GEORGIOS DIMITRAKOPOULOS" userId="0614bc40-ecc2-4674-8a86-e5df437c2e7b" providerId="ADAL" clId="{241D36BE-FE1E-4FC3-99E3-E69D34DF589D}" dt="2026-10-14T15:02:52.228" v="195" actId="1076"/>
          <ac:picMkLst>
            <pc:docMk/>
            <pc:sldMk cId="2191725669" sldId="332"/>
            <ac:picMk id="4" creationId="{47F17EE9-1F5D-5E64-2A40-8FD8DD40B080}"/>
          </ac:picMkLst>
        </pc:picChg>
        <pc:picChg chg="add del mod">
          <ac:chgData name="GEORGIOS DIMITRAKOPOULOS" userId="0614bc40-ecc2-4674-8a86-e5df437c2e7b" providerId="ADAL" clId="{241D36BE-FE1E-4FC3-99E3-E69D34DF589D}" dt="2026-10-14T15:02:50.665" v="192" actId="478"/>
          <ac:picMkLst>
            <pc:docMk/>
            <pc:sldMk cId="2191725669" sldId="332"/>
            <ac:picMk id="9" creationId="{19F041DA-1B5E-163E-85A0-B8A92122E81D}"/>
          </ac:picMkLst>
        </pc:picChg>
      </pc:sldChg>
      <pc:sldChg chg="add del">
        <pc:chgData name="GEORGIOS DIMITRAKOPOULOS" userId="0614bc40-ecc2-4674-8a86-e5df437c2e7b" providerId="ADAL" clId="{241D36BE-FE1E-4FC3-99E3-E69D34DF589D}" dt="2026-10-14T14:57:10.988" v="140" actId="47"/>
        <pc:sldMkLst>
          <pc:docMk/>
          <pc:sldMk cId="84707068" sldId="333"/>
        </pc:sldMkLst>
      </pc:sldChg>
      <pc:sldChg chg="add del">
        <pc:chgData name="GEORGIOS DIMITRAKOPOULOS" userId="0614bc40-ecc2-4674-8a86-e5df437c2e7b" providerId="ADAL" clId="{241D36BE-FE1E-4FC3-99E3-E69D34DF589D}" dt="2026-10-14T14:56:59.322" v="137" actId="47"/>
        <pc:sldMkLst>
          <pc:docMk/>
          <pc:sldMk cId="3324368909" sldId="334"/>
        </pc:sldMkLst>
      </pc:sldChg>
      <pc:sldChg chg="add del">
        <pc:chgData name="GEORGIOS DIMITRAKOPOULOS" userId="0614bc40-ecc2-4674-8a86-e5df437c2e7b" providerId="ADAL" clId="{241D36BE-FE1E-4FC3-99E3-E69D34DF589D}" dt="2026-10-14T14:57:00.146" v="138" actId="47"/>
        <pc:sldMkLst>
          <pc:docMk/>
          <pc:sldMk cId="3411507921" sldId="335"/>
        </pc:sldMkLst>
      </pc:sldChg>
      <pc:sldChg chg="add del">
        <pc:chgData name="GEORGIOS DIMITRAKOPOULOS" userId="0614bc40-ecc2-4674-8a86-e5df437c2e7b" providerId="ADAL" clId="{241D36BE-FE1E-4FC3-99E3-E69D34DF589D}" dt="2026-10-14T15:03:10.320" v="200" actId="47"/>
        <pc:sldMkLst>
          <pc:docMk/>
          <pc:sldMk cId="676357200" sldId="336"/>
        </pc:sldMkLst>
      </pc:sldChg>
      <pc:sldChg chg="add del">
        <pc:chgData name="GEORGIOS DIMITRAKOPOULOS" userId="0614bc40-ecc2-4674-8a86-e5df437c2e7b" providerId="ADAL" clId="{241D36BE-FE1E-4FC3-99E3-E69D34DF589D}" dt="2026-10-14T15:03:10.883" v="201" actId="47"/>
        <pc:sldMkLst>
          <pc:docMk/>
          <pc:sldMk cId="2210011009" sldId="337"/>
        </pc:sldMkLst>
      </pc:sldChg>
      <pc:sldChg chg="add del">
        <pc:chgData name="GEORGIOS DIMITRAKOPOULOS" userId="0614bc40-ecc2-4674-8a86-e5df437c2e7b" providerId="ADAL" clId="{241D36BE-FE1E-4FC3-99E3-E69D34DF589D}" dt="2026-10-14T15:03:11.425" v="202" actId="47"/>
        <pc:sldMkLst>
          <pc:docMk/>
          <pc:sldMk cId="3082735983" sldId="338"/>
        </pc:sldMkLst>
      </pc:sldChg>
      <pc:sldChg chg="add del">
        <pc:chgData name="GEORGIOS DIMITRAKOPOULOS" userId="0614bc40-ecc2-4674-8a86-e5df437c2e7b" providerId="ADAL" clId="{241D36BE-FE1E-4FC3-99E3-E69D34DF589D}" dt="2026-10-14T15:03:11.926" v="203" actId="47"/>
        <pc:sldMkLst>
          <pc:docMk/>
          <pc:sldMk cId="477777761" sldId="339"/>
        </pc:sldMkLst>
      </pc:sldChg>
      <pc:sldChg chg="add del">
        <pc:chgData name="GEORGIOS DIMITRAKOPOULOS" userId="0614bc40-ecc2-4674-8a86-e5df437c2e7b" providerId="ADAL" clId="{241D36BE-FE1E-4FC3-99E3-E69D34DF589D}" dt="2026-10-14T15:03:12.473" v="204" actId="47"/>
        <pc:sldMkLst>
          <pc:docMk/>
          <pc:sldMk cId="4156779168" sldId="340"/>
        </pc:sldMkLst>
      </pc:sldChg>
      <pc:sldChg chg="add del">
        <pc:chgData name="GEORGIOS DIMITRAKOPOULOS" userId="0614bc40-ecc2-4674-8a86-e5df437c2e7b" providerId="ADAL" clId="{241D36BE-FE1E-4FC3-99E3-E69D34DF589D}" dt="2026-10-14T15:03:13.034" v="205" actId="47"/>
        <pc:sldMkLst>
          <pc:docMk/>
          <pc:sldMk cId="3960368775" sldId="341"/>
        </pc:sldMkLst>
      </pc:sldChg>
      <pc:sldChg chg="add">
        <pc:chgData name="GEORGIOS DIMITRAKOPOULOS" userId="0614bc40-ecc2-4674-8a86-e5df437c2e7b" providerId="ADAL" clId="{241D36BE-FE1E-4FC3-99E3-E69D34DF589D}" dt="2026-10-14T12:52:23.657" v="54"/>
        <pc:sldMkLst>
          <pc:docMk/>
          <pc:sldMk cId="1601747585" sldId="342"/>
        </pc:sldMkLst>
      </pc:sldChg>
      <pc:sldChg chg="add">
        <pc:chgData name="GEORGIOS DIMITRAKOPOULOS" userId="0614bc40-ecc2-4674-8a86-e5df437c2e7b" providerId="ADAL" clId="{241D36BE-FE1E-4FC3-99E3-E69D34DF589D}" dt="2026-10-14T12:52:24.087" v="55"/>
        <pc:sldMkLst>
          <pc:docMk/>
          <pc:sldMk cId="896339453" sldId="343"/>
        </pc:sldMkLst>
      </pc:sldChg>
      <pc:sldChg chg="addSp add">
        <pc:chgData name="GEORGIOS DIMITRAKOPOULOS" userId="0614bc40-ecc2-4674-8a86-e5df437c2e7b" providerId="ADAL" clId="{241D36BE-FE1E-4FC3-99E3-E69D34DF589D}" dt="2026-10-14T12:56:05.993" v="59"/>
        <pc:sldMkLst>
          <pc:docMk/>
          <pc:sldMk cId="2555845052" sldId="343"/>
        </pc:sldMkLst>
        <pc:picChg chg="add">
          <ac:chgData name="GEORGIOS DIMITRAKOPOULOS" userId="0614bc40-ecc2-4674-8a86-e5df437c2e7b" providerId="ADAL" clId="{241D36BE-FE1E-4FC3-99E3-E69D34DF589D}" dt="2026-10-14T12:56:05.993" v="59"/>
          <ac:picMkLst>
            <pc:docMk/>
            <pc:sldMk cId="2555845052" sldId="343"/>
            <ac:picMk id="8" creationId="{D3282E6D-89C1-ADBD-8637-F067E0CD5134}"/>
          </ac:picMkLst>
        </pc:picChg>
      </pc:sldChg>
      <pc:sldChg chg="add del">
        <pc:chgData name="GEORGIOS DIMITRAKOPOULOS" userId="0614bc40-ecc2-4674-8a86-e5df437c2e7b" providerId="ADAL" clId="{241D36BE-FE1E-4FC3-99E3-E69D34DF589D}" dt="2026-10-14T12:55:56.581" v="58"/>
        <pc:sldMkLst>
          <pc:docMk/>
          <pc:sldMk cId="1678337938" sldId="344"/>
        </pc:sldMkLst>
      </pc:sldChg>
      <pc:sldChg chg="addSp delSp modSp add mod ord">
        <pc:chgData name="GEORGIOS DIMITRAKOPOULOS" userId="0614bc40-ecc2-4674-8a86-e5df437c2e7b" providerId="ADAL" clId="{241D36BE-FE1E-4FC3-99E3-E69D34DF589D}" dt="2026-10-14T15:03:02.497" v="197" actId="20577"/>
        <pc:sldMkLst>
          <pc:docMk/>
          <pc:sldMk cId="3529040056" sldId="344"/>
        </pc:sldMkLst>
        <pc:spChg chg="mod">
          <ac:chgData name="GEORGIOS DIMITRAKOPOULOS" userId="0614bc40-ecc2-4674-8a86-e5df437c2e7b" providerId="ADAL" clId="{241D36BE-FE1E-4FC3-99E3-E69D34DF589D}" dt="2026-10-14T15:03:02.497" v="197" actId="20577"/>
          <ac:spMkLst>
            <pc:docMk/>
            <pc:sldMk cId="3529040056" sldId="344"/>
            <ac:spMk id="5" creationId="{F63E08E9-46E4-E503-0EE6-50A8519F054D}"/>
          </ac:spMkLst>
        </pc:spChg>
        <pc:graphicFrameChg chg="add mod modGraphic">
          <ac:chgData name="GEORGIOS DIMITRAKOPOULOS" userId="0614bc40-ecc2-4674-8a86-e5df437c2e7b" providerId="ADAL" clId="{241D36BE-FE1E-4FC3-99E3-E69D34DF589D}" dt="2026-10-14T13:25:09.773" v="125" actId="21"/>
          <ac:graphicFrameMkLst>
            <pc:docMk/>
            <pc:sldMk cId="3529040056" sldId="344"/>
            <ac:graphicFrameMk id="4" creationId="{B56DCD19-B203-4813-B030-0DED49C29983}"/>
          </ac:graphicFrameMkLst>
        </pc:graphicFrameChg>
        <pc:picChg chg="del">
          <ac:chgData name="GEORGIOS DIMITRAKOPOULOS" userId="0614bc40-ecc2-4674-8a86-e5df437c2e7b" providerId="ADAL" clId="{241D36BE-FE1E-4FC3-99E3-E69D34DF589D}" dt="2026-10-14T13:22:22.182" v="67" actId="478"/>
          <ac:picMkLst>
            <pc:docMk/>
            <pc:sldMk cId="3529040056" sldId="344"/>
            <ac:picMk id="7" creationId="{C3C03F94-524D-E1E8-3306-CDCC918D3218}"/>
          </ac:picMkLst>
        </pc:picChg>
      </pc:sldChg>
      <pc:sldChg chg="new del">
        <pc:chgData name="GEORGIOS DIMITRAKOPOULOS" userId="0614bc40-ecc2-4674-8a86-e5df437c2e7b" providerId="ADAL" clId="{241D36BE-FE1E-4FC3-99E3-E69D34DF589D}" dt="2026-10-14T13:22:51.755" v="74" actId="47"/>
        <pc:sldMkLst>
          <pc:docMk/>
          <pc:sldMk cId="1318367573" sldId="345"/>
        </pc:sldMkLst>
      </pc:sldChg>
      <pc:sldChg chg="addSp delSp modSp add mod ord">
        <pc:chgData name="GEORGIOS DIMITRAKOPOULOS" userId="0614bc40-ecc2-4674-8a86-e5df437c2e7b" providerId="ADAL" clId="{241D36BE-FE1E-4FC3-99E3-E69D34DF589D}" dt="2026-10-14T15:03:05.328" v="199" actId="20577"/>
        <pc:sldMkLst>
          <pc:docMk/>
          <pc:sldMk cId="844909367" sldId="346"/>
        </pc:sldMkLst>
        <pc:spChg chg="mod">
          <ac:chgData name="GEORGIOS DIMITRAKOPOULOS" userId="0614bc40-ecc2-4674-8a86-e5df437c2e7b" providerId="ADAL" clId="{241D36BE-FE1E-4FC3-99E3-E69D34DF589D}" dt="2026-10-14T15:03:05.328" v="199" actId="20577"/>
          <ac:spMkLst>
            <pc:docMk/>
            <pc:sldMk cId="844909367" sldId="346"/>
            <ac:spMk id="5" creationId="{495DC781-52D7-0E11-FF76-12A725DA22E7}"/>
          </ac:spMkLst>
        </pc:spChg>
        <pc:graphicFrameChg chg="del">
          <ac:chgData name="GEORGIOS DIMITRAKOPOULOS" userId="0614bc40-ecc2-4674-8a86-e5df437c2e7b" providerId="ADAL" clId="{241D36BE-FE1E-4FC3-99E3-E69D34DF589D}" dt="2026-10-14T13:22:55.236" v="75" actId="478"/>
          <ac:graphicFrameMkLst>
            <pc:docMk/>
            <pc:sldMk cId="844909367" sldId="346"/>
            <ac:graphicFrameMk id="4" creationId="{0E185673-AA4E-7643-08BA-31C1863C1E78}"/>
          </ac:graphicFrameMkLst>
        </pc:graphicFrameChg>
        <pc:graphicFrameChg chg="add mod modGraphic">
          <ac:chgData name="GEORGIOS DIMITRAKOPOULOS" userId="0614bc40-ecc2-4674-8a86-e5df437c2e7b" providerId="ADAL" clId="{241D36BE-FE1E-4FC3-99E3-E69D34DF589D}" dt="2026-10-14T13:25:33.351" v="129" actId="20577"/>
          <ac:graphicFrameMkLst>
            <pc:docMk/>
            <pc:sldMk cId="844909367" sldId="346"/>
            <ac:graphicFrameMk id="8" creationId="{BA0BFFE8-98F4-FA41-F3FB-2CAC24EA383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01C68-55D2-4C14-9B32-C2F33BA3755E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51150-C67E-4D2F-9BF4-705362A3BE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51150-C67E-4D2F-9BF4-705362A3BE8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8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4E6E4DE-A039-4B1B-8F06-9F044EF27911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6629"/>
            <a:ext cx="10972800" cy="4860664"/>
          </a:xfrm>
          <a:noFill/>
        </p:spPr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  <a:extLst/>
          </a:lstStyle>
          <a:p>
            <a:fld id="{2C5DD394-9492-482A-B001-FBF606C724B5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  <a:extLst/>
          </a:lstStyle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Ορθογώνιο 1">
            <a:extLst>
              <a:ext uri="{FF2B5EF4-FFF2-40B4-BE49-F238E27FC236}">
                <a16:creationId xmlns:a16="http://schemas.microsoft.com/office/drawing/2014/main" id="{E184D6D2-6312-4F6C-8AD9-013510133639}"/>
              </a:ext>
            </a:extLst>
          </p:cNvPr>
          <p:cNvSpPr/>
          <p:nvPr userDrawn="1"/>
        </p:nvSpPr>
        <p:spPr>
          <a:xfrm>
            <a:off x="0" y="0"/>
            <a:ext cx="12192000" cy="10305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34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87454"/>
          </a:xfrm>
        </p:spPr>
        <p:txBody>
          <a:bodyPr rtlCol="0">
            <a:noAutofit/>
          </a:bodyPr>
          <a:lstStyle>
            <a:lvl1pPr>
              <a:defRPr sz="3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ACF12-F5D8-4B33-8449-3E8AA153F220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05E2-36E0-4ACE-8108-05CEF79EDC78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AA8B-62F4-4EF3-8F96-949D9E2B1BCA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ACA9-68AE-40A7-B4DF-457D7DB0D6DE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140B3-8984-4571-87C8-9E3DEC93E231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FBCAD48B-5AD3-413F-A288-138043340C4E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AEA96AB-0C23-489A-988F-519BC20986DE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C17CD-C4AB-4A65-942A-C95872D0B603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50D77-A8A0-4EC7-AEEC-6084E305F8C2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8A5F7A9-F988-4F14-8C8D-18EF5340F294}" type="datetime1">
              <a:rPr lang="en-US" smtClean="0"/>
              <a:pPr/>
              <a:t>10/14/2026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76DAB58-458B-4587-9722-10D9394706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E6ACBEA-250E-4AE9-BE07-99C260CCE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355666"/>
            <a:ext cx="11315338" cy="2229894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SOFTWARE ENGINEERING</a:t>
            </a:r>
            <a:br>
              <a:rPr lang="en-US" sz="44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44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44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Agile Methodology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2612C367-E087-46B5-A349-974523BE6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757352"/>
            <a:ext cx="11315337" cy="14585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George Dimitrakopoulos</a:t>
            </a:r>
          </a:p>
          <a:p>
            <a:pPr algn="ctr"/>
            <a:r>
              <a:rPr lang="en-US" sz="24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dimitrakopoulos@ionio.gr</a:t>
            </a:r>
          </a:p>
        </p:txBody>
      </p:sp>
      <p:sp>
        <p:nvSpPr>
          <p:cNvPr id="7" name="Υπότιτλος 2">
            <a:extLst>
              <a:ext uri="{FF2B5EF4-FFF2-40B4-BE49-F238E27FC236}">
                <a16:creationId xmlns:a16="http://schemas.microsoft.com/office/drawing/2014/main" id="{23C3F968-F2AC-42F4-8BF2-B3198E7657E0}"/>
              </a:ext>
            </a:extLst>
          </p:cNvPr>
          <p:cNvSpPr txBox="1">
            <a:spLocks/>
          </p:cNvSpPr>
          <p:nvPr/>
        </p:nvSpPr>
        <p:spPr>
          <a:xfrm>
            <a:off x="457199" y="5605248"/>
            <a:ext cx="11315337" cy="1115617"/>
          </a:xfrm>
          <a:prstGeom prst="rect">
            <a:avLst/>
          </a:prstGeom>
        </p:spPr>
        <p:txBody>
          <a:bodyPr vert="horz" lIns="45720" rIns="45720">
            <a:normAutofit/>
          </a:bodyPr>
          <a:lstStyle>
            <a:lvl1pPr marL="0" marR="64008" indent="0" algn="r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l"/>
            <a:r>
              <a:rPr lang="en-US" sz="1800" dirty="0"/>
              <a:t>Department of Informatics</a:t>
            </a:r>
          </a:p>
          <a:p>
            <a:pPr algn="l"/>
            <a:r>
              <a:rPr lang="en-US" sz="1800" dirty="0"/>
              <a:t>Ionian University</a:t>
            </a:r>
            <a:endParaRPr lang="en-US" sz="2800" dirty="0"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A3A5D6B7-C33F-4D6A-994F-256D9AB4E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62" y="237692"/>
            <a:ext cx="14287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2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Learning objectives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3" name="Text 23"/>
          <p:cNvSpPr/>
          <p:nvPr/>
        </p:nvSpPr>
        <p:spPr>
          <a:xfrm>
            <a:off x="905256" y="205740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Explain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99232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The difference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Agile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–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Scrum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and the logic of empirical development.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4389120" y="160020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3" name="Text 33"/>
          <p:cNvSpPr/>
          <p:nvPr/>
        </p:nvSpPr>
        <p:spPr>
          <a:xfrm>
            <a:off x="4608576" y="205740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Recognize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08576" y="2496312"/>
            <a:ext cx="2999232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Accountabilities, events, artifacts and commitments of Scrum.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092440" y="160020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3" name="Text 43"/>
          <p:cNvSpPr/>
          <p:nvPr/>
        </p:nvSpPr>
        <p:spPr>
          <a:xfrm>
            <a:off x="8311896" y="205740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72033"/>
                </a:solidFill>
                <a:latin typeface="Aptos"/>
              </a:rPr>
              <a:t>Apply</a:t>
            </a:r>
            <a:endParaRPr lang="en-US" sz="1700" dirty="0"/>
          </a:p>
        </p:txBody>
      </p:sp>
      <p:sp>
        <p:nvSpPr>
          <p:cNvPr id="44" name="Text 44"/>
          <p:cNvSpPr/>
          <p:nvPr/>
        </p:nvSpPr>
        <p:spPr>
          <a:xfrm>
            <a:off x="8311896" y="2496312"/>
            <a:ext cx="2999232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Sprint Goal, backlog, Definition of Done and inspect–adapt cycle.</a:t>
            </a:r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03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 dirty="0">
                <a:solidFill>
                  <a:srgbClr val="172033"/>
                </a:solidFill>
                <a:latin typeface="Aptos"/>
              </a:rPr>
              <a:t>When did you learn a piece of information too late?</a:t>
            </a:r>
            <a:endParaRPr lang="en-US" sz="2800" dirty="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777240" y="1600200"/>
            <a:ext cx="10652760" cy="1051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21" name="Text 21"/>
          <p:cNvSpPr/>
          <p:nvPr/>
        </p:nvSpPr>
        <p:spPr>
          <a:xfrm>
            <a:off x="1097280" y="1901952"/>
            <a:ext cx="10012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ptos"/>
              </a:rPr>
              <a:t>Remember a project where feedback came after a lot of work.</a:t>
            </a:r>
            <a:endParaRPr lang="en-US" sz="2000"/>
          </a:p>
        </p:txBody>
      </p:sp>
      <p:sp>
        <p:nvSpPr>
          <p:cNvPr id="30" name="Box 30"/>
          <p:cNvSpPr/>
          <p:nvPr/>
        </p:nvSpPr>
        <p:spPr>
          <a:xfrm>
            <a:off x="777240" y="3008376"/>
            <a:ext cx="567343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4" name="Text 34"/>
          <p:cNvSpPr/>
          <p:nvPr/>
        </p:nvSpPr>
        <p:spPr>
          <a:xfrm>
            <a:off x="996695" y="3275215"/>
            <a:ext cx="4655959" cy="1580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dirty="0">
                <a:solidFill>
                  <a:srgbClr val="536174"/>
                </a:solidFill>
                <a:latin typeface="Aptos"/>
              </a:rPr>
              <a:t>What did we assume?</a:t>
            </a:r>
          </a:p>
          <a:p>
            <a:pPr algn="l"/>
            <a:endParaRPr lang="en-US" sz="1600" dirty="0">
              <a:solidFill>
                <a:srgbClr val="536174"/>
              </a:solidFill>
              <a:latin typeface="Aptos"/>
            </a:endParaRPr>
          </a:p>
          <a:p>
            <a:pPr algn="l"/>
            <a:r>
              <a:rPr lang="en-US" sz="1600" dirty="0">
                <a:solidFill>
                  <a:srgbClr val="536174"/>
                </a:solidFill>
                <a:latin typeface="Aptos"/>
              </a:rPr>
              <a:t>What did we learn late?</a:t>
            </a:r>
          </a:p>
          <a:p>
            <a:pPr algn="l"/>
            <a:endParaRPr lang="en-US" sz="1600" dirty="0">
              <a:solidFill>
                <a:srgbClr val="536174"/>
              </a:solidFill>
              <a:latin typeface="Aptos"/>
            </a:endParaRPr>
          </a:p>
          <a:p>
            <a:r>
              <a:rPr lang="en-US" sz="1600" dirty="0">
                <a:solidFill>
                  <a:srgbClr val="536174"/>
                </a:solidFill>
                <a:latin typeface="Aptos"/>
              </a:rPr>
              <a:t>How would we reduce the cost of learning?</a:t>
            </a:r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04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Why Agile? The problem of uncertainty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3832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D06B4F"/>
                </a:solidFill>
                <a:latin typeface="Aptos"/>
              </a:rPr>
              <a:t>PRINCIPLE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Cases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8094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We do not fully know either the problem or the best solution.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407408" y="1600200"/>
            <a:ext cx="33832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26864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CYCLE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26864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Small experiment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26864" y="2496312"/>
            <a:ext cx="298094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We deliver a small portion of value and collect real data.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119872" y="1600200"/>
            <a:ext cx="33832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39328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LEARNING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39328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Adjustment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39328" y="2496312"/>
            <a:ext cx="298094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We change product and design based on what we learn.</a:t>
            </a:r>
            <a:endParaRPr lang="en-US" sz="1400" dirty="0"/>
          </a:p>
        </p:txBody>
      </p:sp>
      <p:sp>
        <p:nvSpPr>
          <p:cNvPr id="60" name="Text 60"/>
          <p:cNvSpPr/>
          <p:nvPr/>
        </p:nvSpPr>
        <p:spPr>
          <a:xfrm>
            <a:off x="1097280" y="5532120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Agile = risk management through short learning cycles.</a:t>
            </a:r>
            <a:endParaRPr lang="en-US" sz="17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05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The 4 values ​​of the Agile Manifesto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55448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3" name="Text 23"/>
          <p:cNvSpPr/>
          <p:nvPr/>
        </p:nvSpPr>
        <p:spPr>
          <a:xfrm>
            <a:off x="905256" y="2011680"/>
            <a:ext cx="48554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People &amp; interactions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50592"/>
            <a:ext cx="4855464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from processes and tools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6217920" y="155448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3" name="Text 33"/>
          <p:cNvSpPr/>
          <p:nvPr/>
        </p:nvSpPr>
        <p:spPr>
          <a:xfrm>
            <a:off x="6437376" y="2011680"/>
            <a:ext cx="48554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Operating software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6437376" y="2450592"/>
            <a:ext cx="4855464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from extensive documentation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685800" y="35204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3" name="Text 43"/>
          <p:cNvSpPr/>
          <p:nvPr/>
        </p:nvSpPr>
        <p:spPr>
          <a:xfrm>
            <a:off x="905256" y="3977640"/>
            <a:ext cx="48554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Collaboration with the client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905256" y="4416552"/>
            <a:ext cx="4855464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from contract negotiation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6217920" y="35204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3" name="Text 53"/>
          <p:cNvSpPr/>
          <p:nvPr/>
        </p:nvSpPr>
        <p:spPr>
          <a:xfrm>
            <a:off x="6437376" y="3977640"/>
            <a:ext cx="48554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Response to change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6437376" y="4416552"/>
            <a:ext cx="4855464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by following a plan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5532120"/>
            <a:ext cx="10332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536174"/>
                </a:solidFill>
                <a:latin typeface="Aptos"/>
              </a:rPr>
              <a:t>The right side has value; we just give more value to the left.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06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 dirty="0">
                <a:solidFill>
                  <a:srgbClr val="172033"/>
                </a:solidFill>
                <a:latin typeface="Aptos"/>
              </a:rPr>
              <a:t>Principles</a:t>
            </a:r>
            <a:endParaRPr lang="en-US" sz="2800" dirty="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VALUE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Frequent value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Timely and continuous delivery of operating software.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34290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36484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CHANGE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36484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We embrace change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36484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Even late, when they improve the result.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61722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63916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PEOPLE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63916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Collaboration &amp; trust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63916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Daily collaboration, self-management, sustainable pace.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89154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2" name="Text 52"/>
          <p:cNvSpPr/>
          <p:nvPr/>
        </p:nvSpPr>
        <p:spPr>
          <a:xfrm>
            <a:off x="91348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D06B4F"/>
                </a:solidFill>
                <a:latin typeface="Aptos"/>
              </a:rPr>
              <a:t>QUALITY</a:t>
            </a:r>
            <a:endParaRPr lang="en-US" sz="1000"/>
          </a:p>
        </p:txBody>
      </p:sp>
      <p:sp>
        <p:nvSpPr>
          <p:cNvPr id="53" name="Text 53"/>
          <p:cNvSpPr/>
          <p:nvPr/>
        </p:nvSpPr>
        <p:spPr>
          <a:xfrm>
            <a:off x="91348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Quality &amp; simplicity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91348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Technical excellence, good design, regular reflective improvement.</a:t>
            </a:r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07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D394-E243-7B14-709E-228181A5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>
            <a:extLst>
              <a:ext uri="{FF2B5EF4-FFF2-40B4-BE49-F238E27FC236}">
                <a16:creationId xmlns:a16="http://schemas.microsoft.com/office/drawing/2014/main" id="{E0934782-D97C-3348-8C6A-02317F864AF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>
            <a:extLst>
              <a:ext uri="{FF2B5EF4-FFF2-40B4-BE49-F238E27FC236}">
                <a16:creationId xmlns:a16="http://schemas.microsoft.com/office/drawing/2014/main" id="{167DD57E-6EE6-39B6-FDD2-1C4CA7DC8CFE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14360A-55B7-A7E2-FFCD-81F57B899F7B}"/>
              </a:ext>
            </a:extLst>
          </p:cNvPr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 dirty="0">
                <a:solidFill>
                  <a:srgbClr val="172033"/>
                </a:solidFill>
                <a:latin typeface="Aptos"/>
              </a:rPr>
              <a:t>Types of Methodology Agile</a:t>
            </a:r>
            <a:endParaRPr lang="en-US" sz="2800" dirty="0"/>
          </a:p>
        </p:txBody>
      </p:sp>
      <p:cxnSp>
        <p:nvCxnSpPr>
          <p:cNvPr id="6" name="Line 6">
            <a:extLst>
              <a:ext uri="{FF2B5EF4-FFF2-40B4-BE49-F238E27FC236}">
                <a16:creationId xmlns:a16="http://schemas.microsoft.com/office/drawing/2014/main" id="{10C393DA-DB1B-D52B-257D-422B5B38271F}"/>
              </a:ext>
            </a:extLst>
          </p:cNvPr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900" name="Text 900">
            <a:extLst>
              <a:ext uri="{FF2B5EF4-FFF2-40B4-BE49-F238E27FC236}">
                <a16:creationId xmlns:a16="http://schemas.microsoft.com/office/drawing/2014/main" id="{C29F2F6C-A7C2-4106-0C6B-8D4A86E39AC0}"/>
              </a:ext>
            </a:extLst>
          </p:cNvPr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>
            <a:extLst>
              <a:ext uri="{FF2B5EF4-FFF2-40B4-BE49-F238E27FC236}">
                <a16:creationId xmlns:a16="http://schemas.microsoft.com/office/drawing/2014/main" id="{39507633-0048-096D-82B0-B277CDC35F36}"/>
              </a:ext>
            </a:extLst>
          </p:cNvPr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08</a:t>
            </a:r>
            <a:endParaRPr lang="en-US" sz="900"/>
          </a:p>
        </p:txBody>
      </p:sp>
      <p:sp>
        <p:nvSpPr>
          <p:cNvPr id="4" name="Θέση περιεχομένου 2">
            <a:extLst>
              <a:ext uri="{FF2B5EF4-FFF2-40B4-BE49-F238E27FC236}">
                <a16:creationId xmlns:a16="http://schemas.microsoft.com/office/drawing/2014/main" id="{7E571D5C-898B-463A-7576-CF5D739F7569}"/>
              </a:ext>
            </a:extLst>
          </p:cNvPr>
          <p:cNvSpPr txBox="1">
            <a:spLocks/>
          </p:cNvSpPr>
          <p:nvPr/>
        </p:nvSpPr>
        <p:spPr>
          <a:xfrm>
            <a:off x="609447" y="1576711"/>
            <a:ext cx="10579484" cy="4019417"/>
          </a:xfrm>
          <a:prstGeom prst="rect">
            <a:avLst/>
          </a:prstGeom>
        </p:spPr>
        <p:txBody>
          <a:bodyPr vert="horz" lIns="45720" rIns="45720">
            <a:normAutofit/>
          </a:bodyPr>
          <a:lstStyle>
            <a:lvl1pPr marL="0" marR="64008" indent="0" algn="r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Scrum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Extreme Programming (XP)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Crystal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Lean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Kanban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Feature Driven Development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Dynamic Systems Development Method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Adaptive Software Development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2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Agile ≠ Scrum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777240" y="1645920"/>
            <a:ext cx="4892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96696" y="1792224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MINDSET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96696" y="2103120"/>
            <a:ext cx="4489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Agile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96696" y="2542032"/>
            <a:ext cx="4489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Values ​​and principles for adaptive development.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It does not define specific roles or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events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.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It can be implemented with different approaches.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6537960" y="1645920"/>
            <a:ext cx="4892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6757416" y="1792224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FRAMEWORK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6757416" y="2103120"/>
            <a:ext cx="4489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Scrum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6757416" y="2542032"/>
            <a:ext cx="4489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Lightweight framework for complex problems.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Defines team, events, artifacts and commitments.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It is based on empiricism and lean thinking.</a:t>
            </a:r>
            <a:endParaRPr lang="en-US" sz="1400"/>
          </a:p>
        </p:txBody>
      </p:sp>
      <p:sp>
        <p:nvSpPr>
          <p:cNvPr id="40" name="Text 40"/>
          <p:cNvSpPr/>
          <p:nvPr/>
        </p:nvSpPr>
        <p:spPr>
          <a:xfrm>
            <a:off x="1097280" y="5577840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172033"/>
                </a:solidFill>
                <a:latin typeface="Aptos"/>
              </a:rPr>
              <a:t>Scrum is a way of working flexibly — not synonymous with Agile.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09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172033"/>
                </a:solidFill>
                <a:latin typeface="Aptos"/>
              </a:rPr>
              <a:t>Scrum Summary</a:t>
            </a:r>
            <a:endParaRPr lang="en-US" sz="2800" dirty="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594360" y="2057400"/>
            <a:ext cx="2057400" cy="1143000"/>
          </a:xfrm>
          <a:prstGeom prst="roundRect">
            <a:avLst/>
          </a:prstGeom>
          <a:solidFill>
            <a:srgbClr val="EEF1FF"/>
          </a:solidFill>
          <a:ln w="12700">
            <a:solidFill>
              <a:srgbClr val="CCD5FF"/>
            </a:solidFill>
          </a:ln>
        </p:spPr>
      </p:sp>
      <p:sp>
        <p:nvSpPr>
          <p:cNvPr id="21" name="Text 21"/>
          <p:cNvSpPr/>
          <p:nvPr/>
        </p:nvSpPr>
        <p:spPr>
          <a:xfrm>
            <a:off x="822960" y="2340864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3D58C8"/>
                </a:solidFill>
                <a:latin typeface="Aptos"/>
              </a:rPr>
              <a:t>Product</a:t>
            </a:r>
            <a:endParaRPr lang="en-US" sz="1700"/>
          </a:p>
          <a:p>
            <a:pPr algn="l"/>
            <a:r>
              <a:rPr lang="en-US" sz="1700" b="1">
                <a:solidFill>
                  <a:srgbClr val="3D58C8"/>
                </a:solidFill>
                <a:latin typeface="Aptos"/>
              </a:rPr>
              <a:t>Backlog</a:t>
            </a:r>
            <a:endParaRPr lang="en-US" sz="1700"/>
          </a:p>
        </p:txBody>
      </p:sp>
      <p:cxnSp>
        <p:nvCxnSpPr>
          <p:cNvPr id="22" name="Line 22"/>
          <p:cNvCxnSpPr/>
          <p:nvPr/>
        </p:nvCxnSpPr>
        <p:spPr>
          <a:xfrm>
            <a:off x="2697480" y="2633472"/>
            <a:ext cx="731520" cy="0"/>
          </a:xfrm>
          <a:prstGeom prst="line">
            <a:avLst/>
          </a:prstGeom>
          <a:ln w="38100">
            <a:solidFill>
              <a:srgbClr val="AAB4C3"/>
            </a:solidFill>
            <a:tailEnd type="triangle"/>
          </a:ln>
        </p:spPr>
      </p:cxnSp>
      <p:sp>
        <p:nvSpPr>
          <p:cNvPr id="30" name="Box 30"/>
          <p:cNvSpPr/>
          <p:nvPr/>
        </p:nvSpPr>
        <p:spPr>
          <a:xfrm>
            <a:off x="3474720" y="2057400"/>
            <a:ext cx="2057400" cy="1143000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BFEAE4"/>
            </a:solidFill>
          </a:ln>
        </p:spPr>
      </p:sp>
      <p:sp>
        <p:nvSpPr>
          <p:cNvPr id="31" name="Text 31"/>
          <p:cNvSpPr/>
          <p:nvPr/>
        </p:nvSpPr>
        <p:spPr>
          <a:xfrm>
            <a:off x="3703320" y="2340864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6F65"/>
                </a:solidFill>
                <a:latin typeface="Aptos"/>
              </a:rPr>
              <a:t>Sprint</a:t>
            </a:r>
            <a:endParaRPr lang="en-US" sz="1700"/>
          </a:p>
          <a:p>
            <a:pPr algn="l"/>
            <a:r>
              <a:rPr lang="en-US" sz="1700" b="1">
                <a:solidFill>
                  <a:srgbClr val="176F65"/>
                </a:solidFill>
                <a:latin typeface="Aptos"/>
              </a:rPr>
              <a:t>Planning</a:t>
            </a:r>
            <a:endParaRPr lang="en-US" sz="1700"/>
          </a:p>
        </p:txBody>
      </p:sp>
      <p:cxnSp>
        <p:nvCxnSpPr>
          <p:cNvPr id="32" name="Line 32"/>
          <p:cNvCxnSpPr/>
          <p:nvPr/>
        </p:nvCxnSpPr>
        <p:spPr>
          <a:xfrm>
            <a:off x="5577840" y="2633472"/>
            <a:ext cx="731520" cy="0"/>
          </a:xfrm>
          <a:prstGeom prst="line">
            <a:avLst/>
          </a:prstGeom>
          <a:ln w="38100">
            <a:solidFill>
              <a:srgbClr val="AAB4C3"/>
            </a:solidFill>
            <a:tailEnd type="triangle"/>
          </a:ln>
        </p:spPr>
      </p:cxnSp>
      <p:sp>
        <p:nvSpPr>
          <p:cNvPr id="40" name="Box 40"/>
          <p:cNvSpPr/>
          <p:nvPr/>
        </p:nvSpPr>
        <p:spPr>
          <a:xfrm>
            <a:off x="6355080" y="1691640"/>
            <a:ext cx="2057400" cy="187452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F8D99D"/>
            </a:solidFill>
          </a:ln>
        </p:spPr>
      </p:sp>
      <p:sp>
        <p:nvSpPr>
          <p:cNvPr id="41" name="Text 41"/>
          <p:cNvSpPr/>
          <p:nvPr/>
        </p:nvSpPr>
        <p:spPr>
          <a:xfrm>
            <a:off x="6583680" y="201168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dirty="0">
                <a:solidFill>
                  <a:srgbClr val="8A5A12"/>
                </a:solidFill>
                <a:latin typeface="Aptos"/>
              </a:rPr>
              <a:t>SPRINT</a:t>
            </a:r>
            <a:endParaRPr lang="en-US" sz="1500" dirty="0"/>
          </a:p>
          <a:p>
            <a:pPr algn="l"/>
            <a:r>
              <a:rPr lang="en-US" sz="1500" b="1" dirty="0" err="1">
                <a:solidFill>
                  <a:srgbClr val="8A5A12"/>
                </a:solidFill>
                <a:latin typeface="Aptos"/>
              </a:rPr>
              <a:t>Daily</a:t>
            </a:r>
            <a:r>
              <a:rPr lang="en-US" sz="1500" b="1" dirty="0">
                <a:solidFill>
                  <a:srgbClr val="8A5A12"/>
                </a:solidFill>
                <a:latin typeface="Aptos"/>
              </a:rPr>
              <a:t>Stand-up</a:t>
            </a:r>
            <a:endParaRPr lang="en-US" sz="1500" dirty="0"/>
          </a:p>
          <a:p>
            <a:pPr algn="l"/>
            <a:r>
              <a:rPr lang="en-US" sz="1500" b="1" dirty="0" err="1">
                <a:solidFill>
                  <a:srgbClr val="8A5A12"/>
                </a:solidFill>
                <a:latin typeface="Aptos"/>
              </a:rPr>
              <a:t>Build</a:t>
            </a:r>
            <a:r>
              <a:rPr lang="en-US" sz="1500" b="1" dirty="0">
                <a:solidFill>
                  <a:srgbClr val="8A5A12"/>
                </a:solidFill>
                <a:latin typeface="Aptos"/>
              </a:rPr>
              <a:t> &amp; </a:t>
            </a:r>
            <a:r>
              <a:rPr lang="en-US" sz="1500" b="1" dirty="0" err="1">
                <a:solidFill>
                  <a:srgbClr val="8A5A12"/>
                </a:solidFill>
                <a:latin typeface="Aptos"/>
              </a:rPr>
              <a:t>test</a:t>
            </a:r>
            <a:endParaRPr lang="en-US" sz="1500" dirty="0"/>
          </a:p>
        </p:txBody>
      </p:sp>
      <p:cxnSp>
        <p:nvCxnSpPr>
          <p:cNvPr id="42" name="Line 42"/>
          <p:cNvCxnSpPr/>
          <p:nvPr/>
        </p:nvCxnSpPr>
        <p:spPr>
          <a:xfrm>
            <a:off x="8458200" y="2633472"/>
            <a:ext cx="731520" cy="0"/>
          </a:xfrm>
          <a:prstGeom prst="line">
            <a:avLst/>
          </a:prstGeom>
          <a:ln w="38100">
            <a:solidFill>
              <a:srgbClr val="AAB4C3"/>
            </a:solidFill>
            <a:tailEnd type="triangle"/>
          </a:ln>
        </p:spPr>
      </p:cxnSp>
      <p:sp>
        <p:nvSpPr>
          <p:cNvPr id="50" name="Box 50"/>
          <p:cNvSpPr/>
          <p:nvPr/>
        </p:nvSpPr>
        <p:spPr>
          <a:xfrm>
            <a:off x="9235440" y="2057400"/>
            <a:ext cx="2331720" cy="11430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F0BEB2"/>
            </a:solidFill>
          </a:ln>
        </p:spPr>
      </p:sp>
      <p:sp>
        <p:nvSpPr>
          <p:cNvPr id="51" name="Text 51"/>
          <p:cNvSpPr/>
          <p:nvPr/>
        </p:nvSpPr>
        <p:spPr>
          <a:xfrm>
            <a:off x="9464040" y="2340864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9A3E2A"/>
                </a:solidFill>
                <a:latin typeface="Aptos"/>
              </a:rPr>
              <a:t>Increment</a:t>
            </a:r>
            <a:endParaRPr lang="en-US" sz="1700"/>
          </a:p>
          <a:p>
            <a:pPr algn="l"/>
            <a:r>
              <a:rPr lang="en-US" sz="1700" b="1">
                <a:solidFill>
                  <a:srgbClr val="9A3E2A"/>
                </a:solidFill>
                <a:latin typeface="Aptos"/>
              </a:rPr>
              <a:t>+ feedback</a:t>
            </a:r>
            <a:endParaRPr lang="en-US" sz="1700"/>
          </a:p>
        </p:txBody>
      </p:sp>
      <p:sp>
        <p:nvSpPr>
          <p:cNvPr id="60" name="Text 60"/>
          <p:cNvSpPr/>
          <p:nvPr/>
        </p:nvSpPr>
        <p:spPr>
          <a:xfrm>
            <a:off x="914400" y="43434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536174"/>
                </a:solidFill>
                <a:latin typeface="Aptos"/>
              </a:rPr>
              <a:t>Review: product inspection • Retrospective: improvement of working methods</a:t>
            </a:r>
            <a:endParaRPr lang="en-US" sz="1600"/>
          </a:p>
        </p:txBody>
      </p:sp>
      <p:sp>
        <p:nvSpPr>
          <p:cNvPr id="61" name="Text 61"/>
          <p:cNvSpPr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800" b="1">
                <a:solidFill>
                  <a:srgbClr val="172033"/>
                </a:solidFill>
                <a:latin typeface="Aptos"/>
              </a:rPr>
              <a:t>Each Sprint is a complete value creation cycle lasting up to 1 month.</a:t>
            </a:r>
            <a:endParaRPr lang="en-US" sz="18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4C35-EA59-4687-B072-71D23AFD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>
            <a:extLst>
              <a:ext uri="{FF2B5EF4-FFF2-40B4-BE49-F238E27FC236}">
                <a16:creationId xmlns:a16="http://schemas.microsoft.com/office/drawing/2014/main" id="{4FD7642D-6863-9A21-6A31-38BAFBE1BCD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txBody>
          <a:bodyPr/>
          <a:lstStyle/>
          <a:p>
            <a:r>
              <a:rPr lang="en-US" dirty="0"/>
              <a:t> </a:t>
            </a:r>
            <a:endParaRPr lang="el-GR" dirty="0"/>
          </a:p>
        </p:txBody>
      </p:sp>
      <p:sp>
        <p:nvSpPr>
          <p:cNvPr id="3" name="Box 3">
            <a:extLst>
              <a:ext uri="{FF2B5EF4-FFF2-40B4-BE49-F238E27FC236}">
                <a16:creationId xmlns:a16="http://schemas.microsoft.com/office/drawing/2014/main" id="{9A619A57-C9AD-78BE-45A5-B1123B6F9EB4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D84423C-C44B-00B8-53D0-880208D5B9C0}"/>
              </a:ext>
            </a:extLst>
          </p:cNvPr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172033"/>
                </a:solidFill>
                <a:latin typeface="Aptos"/>
              </a:rPr>
              <a:t>Scrum Summary</a:t>
            </a:r>
            <a:endParaRPr lang="en-US" sz="2800" dirty="0"/>
          </a:p>
        </p:txBody>
      </p:sp>
      <p:cxnSp>
        <p:nvCxnSpPr>
          <p:cNvPr id="6" name="Line 6">
            <a:extLst>
              <a:ext uri="{FF2B5EF4-FFF2-40B4-BE49-F238E27FC236}">
                <a16:creationId xmlns:a16="http://schemas.microsoft.com/office/drawing/2014/main" id="{2F61D992-D4A0-497B-B02D-0337CF8AD604}"/>
              </a:ext>
            </a:extLst>
          </p:cNvPr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900" name="Text 900">
            <a:extLst>
              <a:ext uri="{FF2B5EF4-FFF2-40B4-BE49-F238E27FC236}">
                <a16:creationId xmlns:a16="http://schemas.microsoft.com/office/drawing/2014/main" id="{F098FB41-342B-F721-6D7A-EE817A62A482}"/>
              </a:ext>
            </a:extLst>
          </p:cNvPr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>
            <a:extLst>
              <a:ext uri="{FF2B5EF4-FFF2-40B4-BE49-F238E27FC236}">
                <a16:creationId xmlns:a16="http://schemas.microsoft.com/office/drawing/2014/main" id="{53D35A7F-7817-77A0-4721-0DFF63A28188}"/>
              </a:ext>
            </a:extLst>
          </p:cNvPr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08</a:t>
            </a:r>
            <a:endParaRPr lang="en-US" sz="900"/>
          </a:p>
        </p:txBody>
      </p:sp>
      <p:pic>
        <p:nvPicPr>
          <p:cNvPr id="4" name="Εικόνα 3" descr="Scrum for Data Science - Data Science PM">
            <a:extLst>
              <a:ext uri="{FF2B5EF4-FFF2-40B4-BE49-F238E27FC236}">
                <a16:creationId xmlns:a16="http://schemas.microsoft.com/office/drawing/2014/main" id="{56C2CB5B-D880-B5FA-1525-B0813A93A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368" y="1756705"/>
            <a:ext cx="5819775" cy="3381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1CDF60-732E-2441-F1C2-6C4E7F2B7B98}"/>
              </a:ext>
            </a:extLst>
          </p:cNvPr>
          <p:cNvSpPr txBox="1"/>
          <p:nvPr/>
        </p:nvSpPr>
        <p:spPr>
          <a:xfrm>
            <a:off x="4519448" y="2007476"/>
            <a:ext cx="924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Daily stand-up</a:t>
            </a:r>
            <a:endParaRPr lang="el-GR" sz="1200" dirty="0"/>
          </a:p>
        </p:txBody>
      </p:sp>
    </p:spTree>
    <p:extLst>
      <p:ext uri="{BB962C8B-B14F-4D97-AF65-F5344CB8AC3E}">
        <p14:creationId xmlns:p14="http://schemas.microsoft.com/office/powerpoint/2010/main" val="599868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The 5 values ​​of Scrum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502920" y="1600200"/>
            <a:ext cx="2148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3" name="Text 23"/>
          <p:cNvSpPr/>
          <p:nvPr/>
        </p:nvSpPr>
        <p:spPr>
          <a:xfrm>
            <a:off x="722376" y="2057400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Commitment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722376" y="2496312"/>
            <a:ext cx="174650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In goals and quality.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2788920" y="1600200"/>
            <a:ext cx="2148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3" name="Text 33"/>
          <p:cNvSpPr/>
          <p:nvPr/>
        </p:nvSpPr>
        <p:spPr>
          <a:xfrm>
            <a:off x="3008376" y="2057400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Focus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3008376" y="2496312"/>
            <a:ext cx="174650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In Sprint work and Sprint Goal.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5074920" y="1600200"/>
            <a:ext cx="2148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3" name="Text 43"/>
          <p:cNvSpPr/>
          <p:nvPr/>
        </p:nvSpPr>
        <p:spPr>
          <a:xfrm>
            <a:off x="5294376" y="2057400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Openness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5294376" y="2496312"/>
            <a:ext cx="174650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For work, progress and problems.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7360920" y="1600200"/>
            <a:ext cx="2148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3" name="Text 53"/>
          <p:cNvSpPr/>
          <p:nvPr/>
        </p:nvSpPr>
        <p:spPr>
          <a:xfrm>
            <a:off x="7580376" y="2057400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Respect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7580376" y="2496312"/>
            <a:ext cx="174650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For skills and independence.</a:t>
            </a:r>
            <a:endParaRPr lang="en-US" sz="1400"/>
          </a:p>
        </p:txBody>
      </p:sp>
      <p:sp>
        <p:nvSpPr>
          <p:cNvPr id="60" name="Box 60"/>
          <p:cNvSpPr/>
          <p:nvPr/>
        </p:nvSpPr>
        <p:spPr>
          <a:xfrm>
            <a:off x="9646920" y="160020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63" name="Text 63"/>
          <p:cNvSpPr/>
          <p:nvPr/>
        </p:nvSpPr>
        <p:spPr>
          <a:xfrm>
            <a:off x="9866376" y="2057400"/>
            <a:ext cx="16550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Courage</a:t>
            </a:r>
            <a:endParaRPr lang="en-US" sz="1700"/>
          </a:p>
        </p:txBody>
      </p:sp>
      <p:sp>
        <p:nvSpPr>
          <p:cNvPr id="64" name="Text 64"/>
          <p:cNvSpPr/>
          <p:nvPr/>
        </p:nvSpPr>
        <p:spPr>
          <a:xfrm>
            <a:off x="9866376" y="2496312"/>
            <a:ext cx="165506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To do the right thing and face difficult issues.</a:t>
            </a:r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Scrum Team: one team, three accountabilities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3" name="Text 23"/>
          <p:cNvSpPr/>
          <p:nvPr/>
        </p:nvSpPr>
        <p:spPr>
          <a:xfrm>
            <a:off x="905256" y="205740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Product Owner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99232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Maximizes the</a:t>
            </a:r>
            <a:r>
              <a:rPr lang="en-US" sz="1400" b="1" dirty="0">
                <a:solidFill>
                  <a:srgbClr val="536174"/>
                </a:solidFill>
                <a:latin typeface="Aptos"/>
              </a:rPr>
              <a:t> Value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and effectively manages the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ProductBacklog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.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4389120" y="160020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3" name="Text 33"/>
          <p:cNvSpPr/>
          <p:nvPr/>
        </p:nvSpPr>
        <p:spPr>
          <a:xfrm>
            <a:off x="4608576" y="205740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Scrum Master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08576" y="2496312"/>
            <a:ext cx="2999232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It helps the understanding of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Scrum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and the</a:t>
            </a:r>
            <a:r>
              <a:rPr lang="en-US" sz="1400" b="1" dirty="0">
                <a:solidFill>
                  <a:srgbClr val="536174"/>
                </a:solidFill>
                <a:latin typeface="Aptos"/>
              </a:rPr>
              <a:t> effectiveness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of the group.</a:t>
            </a:r>
            <a:endParaRPr lang="en-US" sz="1400" dirty="0"/>
          </a:p>
        </p:txBody>
      </p:sp>
      <p:sp>
        <p:nvSpPr>
          <p:cNvPr id="40" name="Box 40"/>
          <p:cNvSpPr/>
          <p:nvPr/>
        </p:nvSpPr>
        <p:spPr>
          <a:xfrm>
            <a:off x="8092440" y="160020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3" name="Text 43"/>
          <p:cNvSpPr/>
          <p:nvPr/>
        </p:nvSpPr>
        <p:spPr>
          <a:xfrm>
            <a:off x="8311896" y="205740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Developers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11896" y="2496312"/>
            <a:ext cx="2999232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536174"/>
                </a:solidFill>
                <a:latin typeface="Aptos"/>
              </a:rPr>
              <a:t>They create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a usable one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Increment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every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Sprint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.</a:t>
            </a:r>
            <a:endParaRPr lang="en-US" sz="1400" dirty="0"/>
          </a:p>
        </p:txBody>
      </p:sp>
      <p:sp>
        <p:nvSpPr>
          <p:cNvPr id="60" name="Text 60"/>
          <p:cNvSpPr/>
          <p:nvPr/>
        </p:nvSpPr>
        <p:spPr>
          <a:xfrm>
            <a:off x="1051560" y="5532120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Small, cross-functional, self-managed team — no subgroups or hierarchies.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Product Owner: value decisions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DEFINES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Product Goal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Clear direction for the intended future of the product.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407408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26864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WE CLASSIFY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26864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Product Backlog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26864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Clear items, visible order, trade-off decisions.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119872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39328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REPRESENTS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39328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Value &amp; stakeholders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39328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He listens to many, but accountability does not become a committee.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1005840" y="553212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172033"/>
                </a:solidFill>
                <a:latin typeface="Aptos"/>
              </a:rPr>
              <a:t>The Product Owner can delegate work — not accountability.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Scrum Master: serves the system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TEAM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Coaching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Self-management, interoperability, focus on high-value Increment.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407408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26864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PO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26864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Facility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26864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Product Goal, backlog management, stakeholder collaboration.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119872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39328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ORG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39328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Change of organization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39328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Removing obstacles and adopting empirical work.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9A3E2A"/>
                </a:solidFill>
                <a:latin typeface="Aptos"/>
              </a:rPr>
              <a:t>He is not a project manager, secretary, or meeting "police".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Developers: property of tradition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PLAN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They are planning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They create a Sprint Backlog and adjust the plan daily.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34290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36484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QUALITY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36484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Quality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36484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They adhere to the Definition of Done.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61722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63916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GOAL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63916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Sprint Goal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63916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They maintain a common focus, not individual silos.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89154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2" name="Text 52"/>
          <p:cNvSpPr/>
          <p:nvPr/>
        </p:nvSpPr>
        <p:spPr>
          <a:xfrm>
            <a:off x="91348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D06B4F"/>
                </a:solidFill>
                <a:latin typeface="Aptos"/>
              </a:rPr>
              <a:t>ACCOUNT</a:t>
            </a:r>
            <a:endParaRPr lang="en-US" sz="1000"/>
          </a:p>
        </p:txBody>
      </p:sp>
      <p:sp>
        <p:nvSpPr>
          <p:cNvPr id="53" name="Text 53"/>
          <p:cNvSpPr/>
          <p:nvPr/>
        </p:nvSpPr>
        <p:spPr>
          <a:xfrm>
            <a:off x="91348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They are accountable.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91348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To each other as professionals.</a:t>
            </a:r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Artifacts and commitments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554480"/>
            <a:ext cx="3401568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00784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PRODUCT BACKLOG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1168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Product Goal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50592"/>
            <a:ext cx="2999232" cy="2724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 long-term target outcome that gives direction.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389120" y="1554480"/>
            <a:ext cx="3401568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08576" y="1700784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SPRINT BACKLOG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08576" y="201168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Sprint Goal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08576" y="2450592"/>
            <a:ext cx="2999232" cy="2724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 only Sprint goal that allows flexibility in how.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092440" y="1554480"/>
            <a:ext cx="3401568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11896" y="1700784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INCREMENT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11896" y="201168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Definition of Done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11896" y="2450592"/>
            <a:ext cx="2999232" cy="2724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Common, formal description of the required quality.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Commitments enhance transparency, focus, and progress measurement.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16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Product Backlog: live options map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822960" y="1691640"/>
            <a:ext cx="6400800" cy="658368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BFEAE4"/>
            </a:solidFill>
          </a:ln>
        </p:spPr>
      </p:sp>
      <p:sp>
        <p:nvSpPr>
          <p:cNvPr id="21" name="Text 21"/>
          <p:cNvSpPr/>
          <p:nvPr/>
        </p:nvSpPr>
        <p:spPr>
          <a:xfrm>
            <a:off x="1097280" y="187452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6F65"/>
                </a:solidFill>
                <a:latin typeface="Aptos"/>
              </a:rPr>
              <a:t>1 Guest checkout — value 9 — size 5</a:t>
            </a:r>
            <a:endParaRPr lang="en-US" sz="1500"/>
          </a:p>
        </p:txBody>
      </p:sp>
      <p:sp>
        <p:nvSpPr>
          <p:cNvPr id="30" name="Box 30"/>
          <p:cNvSpPr/>
          <p:nvPr/>
        </p:nvSpPr>
        <p:spPr>
          <a:xfrm>
            <a:off x="822960" y="2578608"/>
            <a:ext cx="6400800" cy="658368"/>
          </a:xfrm>
          <a:prstGeom prst="roundRect">
            <a:avLst/>
          </a:prstGeom>
          <a:solidFill>
            <a:srgbClr val="EEF1FF"/>
          </a:solidFill>
          <a:ln w="12700">
            <a:solidFill>
              <a:srgbClr val="CCD5FF"/>
            </a:solidFill>
          </a:ln>
        </p:spPr>
      </p:sp>
      <p:sp>
        <p:nvSpPr>
          <p:cNvPr id="31" name="Text 31"/>
          <p:cNvSpPr/>
          <p:nvPr/>
        </p:nvSpPr>
        <p:spPr>
          <a:xfrm>
            <a:off x="1097280" y="2761488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3D58C8"/>
                </a:solidFill>
                <a:latin typeface="Aptos"/>
              </a:rPr>
              <a:t>2 Save cart — value 7 — size 3</a:t>
            </a:r>
            <a:endParaRPr lang="en-US" sz="1500"/>
          </a:p>
        </p:txBody>
      </p:sp>
      <p:sp>
        <p:nvSpPr>
          <p:cNvPr id="40" name="Box 40"/>
          <p:cNvSpPr/>
          <p:nvPr/>
        </p:nvSpPr>
        <p:spPr>
          <a:xfrm>
            <a:off x="822960" y="3465576"/>
            <a:ext cx="6400800" cy="65836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F8D99D"/>
            </a:solidFill>
          </a:ln>
        </p:spPr>
      </p:sp>
      <p:sp>
        <p:nvSpPr>
          <p:cNvPr id="41" name="Text 41"/>
          <p:cNvSpPr/>
          <p:nvPr/>
        </p:nvSpPr>
        <p:spPr>
          <a:xfrm>
            <a:off x="1097280" y="3648456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8A5A12"/>
                </a:solidFill>
                <a:latin typeface="Aptos"/>
              </a:rPr>
              <a:t>3 Recommended products — value 5 — size 8</a:t>
            </a:r>
            <a:endParaRPr lang="en-US" sz="1500"/>
          </a:p>
        </p:txBody>
      </p:sp>
      <p:sp>
        <p:nvSpPr>
          <p:cNvPr id="50" name="Box 50"/>
          <p:cNvSpPr/>
          <p:nvPr/>
        </p:nvSpPr>
        <p:spPr>
          <a:xfrm>
            <a:off x="822960" y="4352544"/>
            <a:ext cx="6400800" cy="658368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F0BEB2"/>
            </a:solidFill>
          </a:ln>
        </p:spPr>
      </p:sp>
      <p:sp>
        <p:nvSpPr>
          <p:cNvPr id="51" name="Text 51"/>
          <p:cNvSpPr/>
          <p:nvPr/>
        </p:nvSpPr>
        <p:spPr>
          <a:xfrm>
            <a:off x="1097280" y="4535424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9A3E2A"/>
                </a:solidFill>
                <a:latin typeface="Aptos"/>
              </a:rPr>
              <a:t>4 Dark mode — value 2 — size 3</a:t>
            </a:r>
            <a:endParaRPr lang="en-US" sz="1500"/>
          </a:p>
        </p:txBody>
      </p:sp>
      <p:sp>
        <p:nvSpPr>
          <p:cNvPr id="60" name="Box 60"/>
          <p:cNvSpPr/>
          <p:nvPr/>
        </p:nvSpPr>
        <p:spPr>
          <a:xfrm>
            <a:off x="7726680" y="1691640"/>
            <a:ext cx="36118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63" name="Text 63"/>
          <p:cNvSpPr/>
          <p:nvPr/>
        </p:nvSpPr>
        <p:spPr>
          <a:xfrm>
            <a:off x="7946136" y="2148840"/>
            <a:ext cx="32095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Continuous development</a:t>
            </a:r>
            <a:endParaRPr lang="en-US" sz="1700"/>
          </a:p>
        </p:txBody>
      </p:sp>
      <p:sp>
        <p:nvSpPr>
          <p:cNvPr id="64" name="Text 64"/>
          <p:cNvSpPr/>
          <p:nvPr/>
        </p:nvSpPr>
        <p:spPr>
          <a:xfrm>
            <a:off x="7946136" y="2587752"/>
            <a:ext cx="32095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It emerges from learning.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 items become clearer closer to implementation.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 series expresses choices of value and risk.</a:t>
            </a:r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17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Sprint Goal: the “why” of Sprint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731520" y="1645920"/>
            <a:ext cx="10698480" cy="12344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21" name="Text 21"/>
          <p:cNvSpPr/>
          <p:nvPr/>
        </p:nvSpPr>
        <p:spPr>
          <a:xfrm>
            <a:off x="1051560" y="1938528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Aptos"/>
              </a:rPr>
              <a:t>"Visitors can complete a purchase without creating an account."</a:t>
            </a:r>
            <a:endParaRPr lang="en-US" sz="2100"/>
          </a:p>
        </p:txBody>
      </p:sp>
      <p:sp>
        <p:nvSpPr>
          <p:cNvPr id="30" name="Box 30"/>
          <p:cNvSpPr/>
          <p:nvPr/>
        </p:nvSpPr>
        <p:spPr>
          <a:xfrm>
            <a:off x="731520" y="3291840"/>
            <a:ext cx="338328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3" name="Text 33"/>
          <p:cNvSpPr/>
          <p:nvPr/>
        </p:nvSpPr>
        <p:spPr>
          <a:xfrm>
            <a:off x="950976" y="374904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Shared focus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950976" y="4187952"/>
            <a:ext cx="2980944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Not a list of unrelated tasks.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4407408" y="3291840"/>
            <a:ext cx="338328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3" name="Text 43"/>
          <p:cNvSpPr/>
          <p:nvPr/>
        </p:nvSpPr>
        <p:spPr>
          <a:xfrm>
            <a:off x="4626864" y="374904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Stable because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4626864" y="4187952"/>
            <a:ext cx="2980944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 scope can be negotiated without jeopardizing the goal.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8083296" y="3291840"/>
            <a:ext cx="338328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3" name="Text 53"/>
          <p:cNvSpPr/>
          <p:nvPr/>
        </p:nvSpPr>
        <p:spPr>
          <a:xfrm>
            <a:off x="8302752" y="374904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Observable result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8302752" y="4187952"/>
            <a:ext cx="2980944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In Review we evaluate results, not just output.</a:t>
            </a:r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18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 dirty="0">
                <a:solidFill>
                  <a:srgbClr val="172033"/>
                </a:solidFill>
                <a:latin typeface="Aptos"/>
              </a:rPr>
              <a:t>Increment &amp; Definition of Done (DoD)</a:t>
            </a:r>
            <a:endParaRPr lang="en-US" sz="2800" dirty="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731520" y="1645920"/>
            <a:ext cx="4892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50976" y="1792224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INCREMENT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50976" y="2103120"/>
            <a:ext cx="4489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Actionable step towards the Product Goal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50976" y="2542032"/>
            <a:ext cx="4489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Integrated with previous increments.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Verified.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It can be delivered before the Sprint Review.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6537960" y="1645920"/>
            <a:ext cx="4892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6757416" y="1792224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DEFINITION OF DONE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6757416" y="2103120"/>
            <a:ext cx="4489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Common quality threshold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6757416" y="2542032"/>
            <a:ext cx="4489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Code review completed.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Tests pass.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Security checks clear.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Documentation updated.</a:t>
            </a:r>
            <a:endParaRPr lang="en-US" sz="1400"/>
          </a:p>
        </p:txBody>
      </p:sp>
      <p:sp>
        <p:nvSpPr>
          <p:cNvPr id="40" name="Text 40"/>
          <p:cNvSpPr/>
          <p:nvPr/>
        </p:nvSpPr>
        <p:spPr>
          <a:xfrm>
            <a:off x="1005840" y="5577840"/>
            <a:ext cx="10149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9A3E2A"/>
                </a:solidFill>
                <a:latin typeface="Aptos"/>
              </a:rPr>
              <a:t>If an item does not meet the DoD, it is not part of the Increment.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19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The 5 events and their purpose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502920" y="1600200"/>
            <a:ext cx="2148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722376" y="1746504"/>
            <a:ext cx="1746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172033"/>
                </a:solidFill>
                <a:latin typeface="Aptos"/>
              </a:rPr>
              <a:t>CONTAINER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722376" y="2057400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Sprint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722376" y="2496312"/>
            <a:ext cx="174650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>
                <a:solidFill>
                  <a:srgbClr val="536174"/>
                </a:solidFill>
                <a:latin typeface="Aptos"/>
              </a:rPr>
              <a:t>Steady pace and full learning cycle.</a:t>
            </a:r>
            <a:endParaRPr lang="en-US" sz="1600"/>
          </a:p>
        </p:txBody>
      </p:sp>
      <p:sp>
        <p:nvSpPr>
          <p:cNvPr id="30" name="Box 30"/>
          <p:cNvSpPr/>
          <p:nvPr/>
        </p:nvSpPr>
        <p:spPr>
          <a:xfrm>
            <a:off x="2788920" y="1600200"/>
            <a:ext cx="2148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3008376" y="1746504"/>
            <a:ext cx="1746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WHY / WHAT / HOW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3008376" y="2057400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Planning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3008376" y="2496312"/>
            <a:ext cx="174650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>
                <a:solidFill>
                  <a:srgbClr val="536174"/>
                </a:solidFill>
                <a:latin typeface="Aptos"/>
              </a:rPr>
              <a:t>It defines value, goal and initial plan.</a:t>
            </a:r>
            <a:endParaRPr lang="en-US" sz="1600"/>
          </a:p>
        </p:txBody>
      </p:sp>
      <p:sp>
        <p:nvSpPr>
          <p:cNvPr id="40" name="Box 40"/>
          <p:cNvSpPr/>
          <p:nvPr/>
        </p:nvSpPr>
        <p:spPr>
          <a:xfrm>
            <a:off x="5074920" y="1600200"/>
            <a:ext cx="2148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5294376" y="1746504"/>
            <a:ext cx="1746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ADAPT PLAN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5294376" y="2057400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1700" b="1" dirty="0">
                <a:solidFill>
                  <a:srgbClr val="172033"/>
                </a:solidFill>
                <a:latin typeface="Aptos"/>
              </a:rPr>
              <a:t>Daily </a:t>
            </a:r>
            <a:r>
              <a:rPr lang="en-US" b="1" dirty="0">
                <a:solidFill>
                  <a:srgbClr val="172033"/>
                </a:solidFill>
                <a:latin typeface="Aptos"/>
              </a:rPr>
              <a:t>Stand-up</a:t>
            </a:r>
            <a:endParaRPr lang="en-US" sz="1700" dirty="0"/>
          </a:p>
        </p:txBody>
      </p:sp>
      <p:sp>
        <p:nvSpPr>
          <p:cNvPr id="44" name="Text 44"/>
          <p:cNvSpPr/>
          <p:nvPr/>
        </p:nvSpPr>
        <p:spPr>
          <a:xfrm>
            <a:off x="5294376" y="2496312"/>
            <a:ext cx="174650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>
                <a:solidFill>
                  <a:srgbClr val="536174"/>
                </a:solidFill>
                <a:latin typeface="Aptos"/>
              </a:rPr>
              <a:t>Review progress towards Sprint Goal.</a:t>
            </a:r>
            <a:endParaRPr lang="en-US" sz="1600"/>
          </a:p>
        </p:txBody>
      </p:sp>
      <p:sp>
        <p:nvSpPr>
          <p:cNvPr id="50" name="Box 50"/>
          <p:cNvSpPr/>
          <p:nvPr/>
        </p:nvSpPr>
        <p:spPr>
          <a:xfrm>
            <a:off x="7360920" y="1600200"/>
            <a:ext cx="2148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2" name="Text 52"/>
          <p:cNvSpPr/>
          <p:nvPr/>
        </p:nvSpPr>
        <p:spPr>
          <a:xfrm>
            <a:off x="7580376" y="1746504"/>
            <a:ext cx="1746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ADAPT PRODUCT</a:t>
            </a:r>
            <a:endParaRPr lang="en-US" sz="1000"/>
          </a:p>
        </p:txBody>
      </p:sp>
      <p:sp>
        <p:nvSpPr>
          <p:cNvPr id="53" name="Text 53"/>
          <p:cNvSpPr/>
          <p:nvPr/>
        </p:nvSpPr>
        <p:spPr>
          <a:xfrm>
            <a:off x="7580376" y="2057400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Review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7580376" y="2496312"/>
            <a:ext cx="174650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>
                <a:solidFill>
                  <a:srgbClr val="536174"/>
                </a:solidFill>
                <a:latin typeface="Aptos"/>
              </a:rPr>
              <a:t>Result, feedback, next options.</a:t>
            </a:r>
            <a:endParaRPr lang="en-US" sz="1600"/>
          </a:p>
        </p:txBody>
      </p:sp>
      <p:sp>
        <p:nvSpPr>
          <p:cNvPr id="60" name="Box 60"/>
          <p:cNvSpPr/>
          <p:nvPr/>
        </p:nvSpPr>
        <p:spPr>
          <a:xfrm>
            <a:off x="9646920" y="160020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62" name="Text 62"/>
          <p:cNvSpPr/>
          <p:nvPr/>
        </p:nvSpPr>
        <p:spPr>
          <a:xfrm>
            <a:off x="9866376" y="1746504"/>
            <a:ext cx="16550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D06B4F"/>
                </a:solidFill>
                <a:latin typeface="Aptos"/>
              </a:rPr>
              <a:t>ADAPT SYSTEM</a:t>
            </a:r>
            <a:endParaRPr lang="en-US" sz="1000"/>
          </a:p>
        </p:txBody>
      </p:sp>
      <p:sp>
        <p:nvSpPr>
          <p:cNvPr id="63" name="Text 63"/>
          <p:cNvSpPr/>
          <p:nvPr/>
        </p:nvSpPr>
        <p:spPr>
          <a:xfrm>
            <a:off x="9866376" y="2057400"/>
            <a:ext cx="16550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Retrospective</a:t>
            </a:r>
            <a:endParaRPr lang="en-US" sz="1700"/>
          </a:p>
        </p:txBody>
      </p:sp>
      <p:sp>
        <p:nvSpPr>
          <p:cNvPr id="64" name="Text 64"/>
          <p:cNvSpPr/>
          <p:nvPr/>
        </p:nvSpPr>
        <p:spPr>
          <a:xfrm>
            <a:off x="9866376" y="2496312"/>
            <a:ext cx="1655064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>
                <a:solidFill>
                  <a:srgbClr val="536174"/>
                </a:solidFill>
                <a:latin typeface="Aptos"/>
              </a:rPr>
              <a:t>Improving quality and efficiency.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20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Sprint Planning: why, what, how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WHY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Why is it valuable?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 Product Owner proposes how the Sprint adds value. The team formulates a Sprint Goal.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407408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26864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WHAT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26864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What can be done?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26864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Developers select items through capacity discussion and Definition of Done.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119872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39328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HOW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39328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How will it be done?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39328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Developers plan as much as needed to get the work started.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1005840" y="553212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172033"/>
                </a:solidFill>
                <a:latin typeface="Aptos"/>
              </a:rPr>
              <a:t>Output: Sprint Goal + selected items + plan = Sprint Backlog.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21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 dirty="0" err="1">
                <a:solidFill>
                  <a:srgbClr val="172033"/>
                </a:solidFill>
                <a:latin typeface="Aptos"/>
              </a:rPr>
              <a:t>Daily</a:t>
            </a:r>
            <a:r>
              <a:rPr lang="en-US" sz="2800" b="1" dirty="0">
                <a:solidFill>
                  <a:srgbClr val="172033"/>
                </a:solidFill>
                <a:latin typeface="Aptos"/>
              </a:rPr>
              <a:t>Stand-up: 15 minutes of adjustment</a:t>
            </a:r>
            <a:endParaRPr lang="en-US" sz="2800" dirty="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731520" y="1645920"/>
            <a:ext cx="64922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</p:sp>
      <p:sp>
        <p:nvSpPr>
          <p:cNvPr id="21" name="Text 21"/>
          <p:cNvSpPr/>
          <p:nvPr/>
        </p:nvSpPr>
        <p:spPr>
          <a:xfrm>
            <a:off x="1051560" y="1920240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000" b="1">
                <a:solidFill>
                  <a:srgbClr val="172033"/>
                </a:solidFill>
                <a:latin typeface="Aptos"/>
              </a:rPr>
              <a:t>The right question</a:t>
            </a:r>
            <a:endParaRPr lang="en-US" sz="2000"/>
          </a:p>
        </p:txBody>
      </p:sp>
      <p:sp>
        <p:nvSpPr>
          <p:cNvPr id="22" name="Text 22"/>
          <p:cNvSpPr/>
          <p:nvPr/>
        </p:nvSpPr>
        <p:spPr>
          <a:xfrm>
            <a:off x="1051560" y="2542032"/>
            <a:ext cx="58521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200" b="1">
                <a:solidFill>
                  <a:srgbClr val="176F65"/>
                </a:solidFill>
                <a:latin typeface="Aptos"/>
              </a:rPr>
              <a:t>“Based on what we know now, what is the best plan to achieve the Sprint Goal?”</a:t>
            </a:r>
            <a:endParaRPr lang="en-US" sz="2200"/>
          </a:p>
        </p:txBody>
      </p:sp>
      <p:sp>
        <p:nvSpPr>
          <p:cNvPr id="30" name="Box 30"/>
          <p:cNvSpPr/>
          <p:nvPr/>
        </p:nvSpPr>
        <p:spPr>
          <a:xfrm>
            <a:off x="7726680" y="1645920"/>
            <a:ext cx="3611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7946136" y="1792224"/>
            <a:ext cx="32095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D06B4F"/>
                </a:solidFill>
                <a:latin typeface="Aptos"/>
              </a:rPr>
              <a:t>NO STATUS MEETING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7946136" y="2103120"/>
            <a:ext cx="32095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For Developers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7946136" y="2542032"/>
            <a:ext cx="320954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Same time and place.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Any structure helps.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Obstacles are not all solved within 15 minutes.</a:t>
            </a:r>
            <a:endParaRPr lang="en-US" sz="1400"/>
          </a:p>
        </p:txBody>
      </p:sp>
      <p:sp>
        <p:nvSpPr>
          <p:cNvPr id="40" name="Text 40"/>
          <p:cNvSpPr/>
          <p:nvPr/>
        </p:nvSpPr>
        <p:spPr>
          <a:xfrm>
            <a:off x="1097280" y="5532120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172033"/>
                </a:solidFill>
                <a:latin typeface="Aptos"/>
              </a:rPr>
              <a:t>The Daily Scrum produces a decision and a new plan — not a report to a boss.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22</a:t>
            </a:r>
            <a:endParaRPr lang="en-US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Sprint Review ≠ demo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INSPECT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What changed?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 result is presented and progress towards the Product Goal is examined.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407408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26864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DIALOGUE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26864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What did we learn?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26864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Scrum Team and stakeholders discuss usage, market, technology and limitations.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119872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39328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ADAPT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39328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What's next?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39328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 Product Backlog adapts to new opportunities and decisions.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172033"/>
                </a:solidFill>
                <a:latin typeface="Aptos"/>
              </a:rPr>
              <a:t>Review success = better product decisions, not more applause.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23</a:t>
            </a:r>
            <a:endParaRPr lang="en-US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Sprint Retrospective: system improvement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DATA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What happened?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People, interactions, processes, tools and Definition of Done.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407408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26864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INSIGHT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26864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Why did it happen?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26864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We look for patterns and causes, not culprits.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119872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39328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ACTION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39328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What are we changing?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39328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A specific, high-impact improvement, integrated immediately.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1005840" y="553212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172033"/>
                </a:solidFill>
                <a:latin typeface="Aptos"/>
              </a:rPr>
              <a:t>Small change + next experiment + observation of result.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24</a:t>
            </a:r>
            <a:endParaRPr lang="en-US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Backlog refinement: a necessary practice, not an event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UNDERSTAND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Understanding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Purpose, user, value, limits and exceptions.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407408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26864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SPLIT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26864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Break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26864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Smaller vertical segments that generate value.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119872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39328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ESTIMATE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39328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Size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39328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Shared understanding of complexity, uncertainty and effort.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1005840" y="553212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536174"/>
                </a:solidFill>
                <a:latin typeface="Aptos"/>
              </a:rPr>
              <a:t>Refinement is an ongoing activity; Scrum does not define a meeting or timebox.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25</a:t>
            </a:r>
            <a:endParaRPr lang="en-US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User story + acceptance criteria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572768"/>
            <a:ext cx="10972800" cy="107899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21" name="Text 21"/>
          <p:cNvSpPr/>
          <p:nvPr/>
        </p:nvSpPr>
        <p:spPr>
          <a:xfrm>
            <a:off x="987552" y="1847088"/>
            <a:ext cx="103784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As a guest, I want to purchase without registering so I can complete the purchase faster.</a:t>
            </a:r>
            <a:endParaRPr lang="en-US" sz="1900"/>
          </a:p>
        </p:txBody>
      </p:sp>
      <p:sp>
        <p:nvSpPr>
          <p:cNvPr id="30" name="Box 30"/>
          <p:cNvSpPr/>
          <p:nvPr/>
        </p:nvSpPr>
        <p:spPr>
          <a:xfrm>
            <a:off x="685800" y="301752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905256" y="316382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GIVEN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905256" y="347472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Since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905256" y="3913632"/>
            <a:ext cx="2980944" cy="1124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 have products in my cart and I am not logged in.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4407408" y="301752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4626864" y="316382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WHEN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4626864" y="347472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When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4626864" y="3913632"/>
            <a:ext cx="2980944" cy="1124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 select "Shop as a guest" and provide a valid email.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8119872" y="301752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2" name="Text 52"/>
          <p:cNvSpPr/>
          <p:nvPr/>
        </p:nvSpPr>
        <p:spPr>
          <a:xfrm>
            <a:off x="8339328" y="316382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THEN</a:t>
            </a:r>
            <a:endParaRPr lang="en-US" sz="1000"/>
          </a:p>
        </p:txBody>
      </p:sp>
      <p:sp>
        <p:nvSpPr>
          <p:cNvPr id="53" name="Text 53"/>
          <p:cNvSpPr/>
          <p:nvPr/>
        </p:nvSpPr>
        <p:spPr>
          <a:xfrm>
            <a:off x="8339328" y="347472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Then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8339328" y="3913632"/>
            <a:ext cx="2980944" cy="1124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 can pay and receive confirmation.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User story: a topic for discussion — not a complete specification.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26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Estimate: relative size, not a promise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EFFORT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Effort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How much work is required compared to a known item?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407408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26864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COMPLEXITY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26864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Complexity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26864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How many parts, interactions and technical difficulties?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119872" y="16002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39328" y="1746504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UNCERTAINTY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39328" y="205740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Uncertainty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39328" y="2496312"/>
            <a:ext cx="2980944" cy="254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What don't we know and how much might it surprise us?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9A3E2A"/>
                </a:solidFill>
                <a:latin typeface="Aptos"/>
              </a:rPr>
              <a:t>Story points help the conversation. They don't reliably convert into man-hours.</a:t>
            </a:r>
            <a:endParaRPr lang="en-US" sz="16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27</a:t>
            </a:r>
            <a:endParaRPr lang="en-US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Exercise: build a Product Backlog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Text 20"/>
          <p:cNvSpPr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1">
                <a:solidFill>
                  <a:srgbClr val="536174"/>
                </a:solidFill>
                <a:latin typeface="Aptos"/>
              </a:rPr>
              <a:t>Product: campus food ordering app.</a:t>
            </a:r>
            <a:endParaRPr lang="en-US" sz="1900"/>
          </a:p>
        </p:txBody>
      </p:sp>
      <p:sp>
        <p:nvSpPr>
          <p:cNvPr id="30" name="Box 30"/>
          <p:cNvSpPr/>
          <p:nvPr/>
        </p:nvSpPr>
        <p:spPr>
          <a:xfrm>
            <a:off x="685800" y="224028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3" name="Text 33"/>
          <p:cNvSpPr/>
          <p:nvPr/>
        </p:nvSpPr>
        <p:spPr>
          <a:xfrm>
            <a:off x="905256" y="269748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Create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905256" y="3136392"/>
            <a:ext cx="2980944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5 Product Backlog Items with clear user value.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4407408" y="224028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3" name="Text 43"/>
          <p:cNvSpPr/>
          <p:nvPr/>
        </p:nvSpPr>
        <p:spPr>
          <a:xfrm>
            <a:off x="4626864" y="269748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Sort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4626864" y="3136392"/>
            <a:ext cx="2980944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Based on value, risk, dependencies and learning.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8119872" y="224028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3" name="Text 53"/>
          <p:cNvSpPr/>
          <p:nvPr/>
        </p:nvSpPr>
        <p:spPr>
          <a:xfrm>
            <a:off x="8339328" y="2697480"/>
            <a:ext cx="29809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Here you go.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8339328" y="3136392"/>
            <a:ext cx="2980944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A Product Goal and 2 acceptance criteria for the first item.</a:t>
            </a:r>
            <a:endParaRPr lang="en-US" sz="1400"/>
          </a:p>
        </p:txBody>
      </p:sp>
      <p:sp>
        <p:nvSpPr>
          <p:cNvPr id="60" name="Box 60"/>
          <p:cNvSpPr/>
          <p:nvPr/>
        </p:nvSpPr>
        <p:spPr>
          <a:xfrm>
            <a:off x="1143000" y="5257800"/>
            <a:ext cx="9875520" cy="64008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F8D99D"/>
            </a:solidFill>
          </a:ln>
        </p:spPr>
      </p:sp>
      <p:sp>
        <p:nvSpPr>
          <p:cNvPr id="61" name="Text 61"/>
          <p:cNvSpPr/>
          <p:nvPr/>
        </p:nvSpPr>
        <p:spPr>
          <a:xfrm>
            <a:off x="1417320" y="5440680"/>
            <a:ext cx="9326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8A5A12"/>
                </a:solidFill>
                <a:latin typeface="Aptos"/>
              </a:rPr>
              <a:t>Deliverable: a sorted list — not a perfect analysis.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28</a:t>
            </a:r>
            <a:endParaRPr lang="en-US" sz="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Sprint simulation: plan a Sprint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594360" y="1572768"/>
            <a:ext cx="2606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3" name="Text 23"/>
          <p:cNvSpPr/>
          <p:nvPr/>
        </p:nvSpPr>
        <p:spPr>
          <a:xfrm>
            <a:off x="813816" y="2029968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Sprint Goal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813816" y="2468880"/>
            <a:ext cx="2203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Write an outcome that gives a common purpose.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3383280" y="1572768"/>
            <a:ext cx="2606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3" name="Text 33"/>
          <p:cNvSpPr/>
          <p:nvPr/>
        </p:nvSpPr>
        <p:spPr>
          <a:xfrm>
            <a:off x="3602736" y="2029968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Selection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3602736" y="2468880"/>
            <a:ext cx="2203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Select items for a capacity of 10 points.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6172200" y="1572768"/>
            <a:ext cx="2606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3" name="Text 43"/>
          <p:cNvSpPr/>
          <p:nvPr/>
        </p:nvSpPr>
        <p:spPr>
          <a:xfrm>
            <a:off x="6391656" y="2029968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Change!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6391656" y="2468880"/>
            <a:ext cx="2203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Payment provider is unavailable. Please adjust scope/plan.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8961120" y="1572768"/>
            <a:ext cx="2606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3" name="Text 53"/>
          <p:cNvSpPr/>
          <p:nvPr/>
        </p:nvSpPr>
        <p:spPr>
          <a:xfrm>
            <a:off x="9180576" y="2029968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Review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9180576" y="2468880"/>
            <a:ext cx="2203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Show decision and explain how the Sprint Goal is protected.</a:t>
            </a:r>
            <a:endParaRPr lang="en-US" sz="1400"/>
          </a:p>
        </p:txBody>
      </p:sp>
      <p:sp>
        <p:nvSpPr>
          <p:cNvPr id="70" name="Text 70"/>
          <p:cNvSpPr/>
          <p:nvPr/>
        </p:nvSpPr>
        <p:spPr>
          <a:xfrm>
            <a:off x="1005840" y="5577840"/>
            <a:ext cx="10149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Criterion: adaptation without loss of transparency or quality.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29</a:t>
            </a:r>
            <a:endParaRPr lang="en-US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What we measure — without “gaming” the metrics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OUTCOME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Value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Usage, conversion, completion time, satisfaction.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34290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36484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FLOW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36484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Flow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36484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Cycle time, work item age, throughput, WIP.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61722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63916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QUALITY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63916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Quality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63916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Defects, escaped defects, reliability, rework.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8915400" y="16002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2" name="Text 52"/>
          <p:cNvSpPr/>
          <p:nvPr/>
        </p:nvSpPr>
        <p:spPr>
          <a:xfrm>
            <a:off x="9134856" y="174650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D06B4F"/>
                </a:solidFill>
                <a:latin typeface="Aptos"/>
              </a:rPr>
              <a:t>LEARNING</a:t>
            </a:r>
            <a:endParaRPr lang="en-US" sz="1000"/>
          </a:p>
        </p:txBody>
      </p:sp>
      <p:sp>
        <p:nvSpPr>
          <p:cNvPr id="53" name="Text 53"/>
          <p:cNvSpPr/>
          <p:nvPr/>
        </p:nvSpPr>
        <p:spPr>
          <a:xfrm>
            <a:off x="9134856" y="205740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Improvement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9134856" y="2496312"/>
            <a:ext cx="2157984" cy="2496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Experiments, hypotheses, time to feedback.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9A3E2A"/>
                </a:solidFill>
                <a:latin typeface="Aptos"/>
              </a:rPr>
              <a:t>Velocity: a team-wide planning tool — not a productivity or comparison KPI.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30</a:t>
            </a:r>
            <a:endParaRPr lang="en-US"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Common Scrum antipatterns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572768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19072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D06B4F"/>
                </a:solidFill>
                <a:latin typeface="Aptos"/>
              </a:rPr>
              <a:t>01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2996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Mini-waterfall inside Sprint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68880"/>
            <a:ext cx="299923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Analysis → dev → test in sequential silos.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389120" y="1572768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08576" y="1719072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02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08576" y="202996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Daily status to the manager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08576" y="2468880"/>
            <a:ext cx="299923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Developers do not adjust their own plan.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092440" y="1572768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11896" y="1719072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03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11896" y="202996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Review without stakeholders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11896" y="2468880"/>
            <a:ext cx="299923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Demo without meaningful feedback or decisions.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685800" y="3364992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2" name="Text 52"/>
          <p:cNvSpPr/>
          <p:nvPr/>
        </p:nvSpPr>
        <p:spPr>
          <a:xfrm>
            <a:off x="905256" y="3511296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8764D8"/>
                </a:solidFill>
                <a:latin typeface="Aptos"/>
              </a:rPr>
              <a:t>04</a:t>
            </a:r>
            <a:endParaRPr lang="en-US" sz="1000"/>
          </a:p>
        </p:txBody>
      </p:sp>
      <p:sp>
        <p:nvSpPr>
          <p:cNvPr id="53" name="Text 53"/>
          <p:cNvSpPr/>
          <p:nvPr/>
        </p:nvSpPr>
        <p:spPr>
          <a:xfrm>
            <a:off x="905256" y="3822192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PO as mailbox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905256" y="4261104"/>
            <a:ext cx="299923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It doesn't decide order or trade-offs.</a:t>
            </a:r>
            <a:endParaRPr lang="en-US" sz="1400"/>
          </a:p>
        </p:txBody>
      </p:sp>
      <p:sp>
        <p:nvSpPr>
          <p:cNvPr id="60" name="Box 60"/>
          <p:cNvSpPr/>
          <p:nvPr/>
        </p:nvSpPr>
        <p:spPr>
          <a:xfrm>
            <a:off x="4389120" y="3364992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62" name="Text 62"/>
          <p:cNvSpPr/>
          <p:nvPr/>
        </p:nvSpPr>
        <p:spPr>
          <a:xfrm>
            <a:off x="4608576" y="3511296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D06B4F"/>
                </a:solidFill>
                <a:latin typeface="Aptos"/>
              </a:rPr>
              <a:t>05</a:t>
            </a:r>
            <a:endParaRPr lang="en-US" sz="1000"/>
          </a:p>
        </p:txBody>
      </p:sp>
      <p:sp>
        <p:nvSpPr>
          <p:cNvPr id="63" name="Text 63"/>
          <p:cNvSpPr/>
          <p:nvPr/>
        </p:nvSpPr>
        <p:spPr>
          <a:xfrm>
            <a:off x="4608576" y="3822192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Changing Sprint Goal</a:t>
            </a:r>
            <a:endParaRPr lang="en-US" sz="1700"/>
          </a:p>
        </p:txBody>
      </p:sp>
      <p:sp>
        <p:nvSpPr>
          <p:cNvPr id="64" name="Text 64"/>
          <p:cNvSpPr/>
          <p:nvPr/>
        </p:nvSpPr>
        <p:spPr>
          <a:xfrm>
            <a:off x="4608576" y="4261104"/>
            <a:ext cx="299923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Every “urgency” breaks focus.</a:t>
            </a:r>
            <a:endParaRPr lang="en-US" sz="1400"/>
          </a:p>
        </p:txBody>
      </p:sp>
      <p:sp>
        <p:nvSpPr>
          <p:cNvPr id="70" name="Box 70"/>
          <p:cNvSpPr/>
          <p:nvPr/>
        </p:nvSpPr>
        <p:spPr>
          <a:xfrm>
            <a:off x="8092440" y="3364992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72" name="Text 72"/>
          <p:cNvSpPr/>
          <p:nvPr/>
        </p:nvSpPr>
        <p:spPr>
          <a:xfrm>
            <a:off x="8311896" y="3511296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06</a:t>
            </a:r>
            <a:endParaRPr lang="en-US" sz="1000"/>
          </a:p>
        </p:txBody>
      </p:sp>
      <p:sp>
        <p:nvSpPr>
          <p:cNvPr id="73" name="Text 73"/>
          <p:cNvSpPr/>
          <p:nvPr/>
        </p:nvSpPr>
        <p:spPr>
          <a:xfrm>
            <a:off x="8311896" y="3822192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Done ≈ “on the test”</a:t>
            </a:r>
            <a:endParaRPr lang="en-US" sz="1700"/>
          </a:p>
        </p:txBody>
      </p:sp>
      <p:sp>
        <p:nvSpPr>
          <p:cNvPr id="74" name="Text 74"/>
          <p:cNvSpPr/>
          <p:nvPr/>
        </p:nvSpPr>
        <p:spPr>
          <a:xfrm>
            <a:off x="8311896" y="4261104"/>
            <a:ext cx="299923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Hidden work queue and unusable Increment.</a:t>
            </a:r>
            <a:endParaRPr lang="en-US" sz="1400"/>
          </a:p>
        </p:txBody>
      </p:sp>
      <p:sp>
        <p:nvSpPr>
          <p:cNvPr id="80" name="Text 80"/>
          <p:cNvSpPr/>
          <p:nvPr/>
        </p:nvSpPr>
        <p:spPr>
          <a:xfrm>
            <a:off x="914400" y="5376672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Diagnosis: which pillar — transparency, inspection or adaptation — has been weakened?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31</a:t>
            </a:r>
            <a:endParaRPr lang="en-US" sz="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Quick comprehension check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554480"/>
            <a:ext cx="340156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00784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Q1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1168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Who cancels a Sprint?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50592"/>
            <a:ext cx="2999232" cy="2816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1 Scrum Master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2 Product Owner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3 Developers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389120" y="1554480"/>
            <a:ext cx="340156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08576" y="1700784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Q2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08576" y="201168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When is an item Done?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08576" y="2450592"/>
            <a:ext cx="2999232" cy="2816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1 When encoded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2 When QA passes (Quality Assurance)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3 When it meets the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DoD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(Definition of Done)</a:t>
            </a:r>
            <a:endParaRPr lang="en-US" sz="1400" dirty="0"/>
          </a:p>
        </p:txBody>
      </p:sp>
      <p:sp>
        <p:nvSpPr>
          <p:cNvPr id="40" name="Box 40"/>
          <p:cNvSpPr/>
          <p:nvPr/>
        </p:nvSpPr>
        <p:spPr>
          <a:xfrm>
            <a:off x="8092440" y="1554480"/>
            <a:ext cx="340156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11896" y="1700784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Q3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11896" y="201168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Main purpose of Review?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11896" y="2450592"/>
            <a:ext cx="2999232" cy="2816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1 Status 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report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2 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Feedback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&amp; 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adaptation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3 Approval by P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roject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M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anager</a:t>
            </a:r>
            <a:endParaRPr lang="en-US" sz="1400" dirty="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33</a:t>
            </a:r>
            <a:endParaRPr lang="en-US" sz="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D67BD-B057-359E-9E4F-0F9C69E8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>
            <a:extLst>
              <a:ext uri="{FF2B5EF4-FFF2-40B4-BE49-F238E27FC236}">
                <a16:creationId xmlns:a16="http://schemas.microsoft.com/office/drawing/2014/main" id="{11D2A7E7-7FB3-6451-1D51-3368DD1CB62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>
            <a:extLst>
              <a:ext uri="{FF2B5EF4-FFF2-40B4-BE49-F238E27FC236}">
                <a16:creationId xmlns:a16="http://schemas.microsoft.com/office/drawing/2014/main" id="{B30E7165-A289-1F3C-C5DE-E040F552FC38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50ADE8C-D150-17E3-AB15-ED9E06DD7E8C}"/>
              </a:ext>
            </a:extLst>
          </p:cNvPr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Quick comprehension check</a:t>
            </a:r>
            <a:endParaRPr lang="en-US" sz="2800"/>
          </a:p>
        </p:txBody>
      </p:sp>
      <p:cxnSp>
        <p:nvCxnSpPr>
          <p:cNvPr id="6" name="Line 6">
            <a:extLst>
              <a:ext uri="{FF2B5EF4-FFF2-40B4-BE49-F238E27FC236}">
                <a16:creationId xmlns:a16="http://schemas.microsoft.com/office/drawing/2014/main" id="{867A89A4-5447-8F46-6537-4AF2E0B3E941}"/>
              </a:ext>
            </a:extLst>
          </p:cNvPr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>
            <a:extLst>
              <a:ext uri="{FF2B5EF4-FFF2-40B4-BE49-F238E27FC236}">
                <a16:creationId xmlns:a16="http://schemas.microsoft.com/office/drawing/2014/main" id="{1BE7B18C-DC7A-7CBB-32A7-2AA53C4AC4C2}"/>
              </a:ext>
            </a:extLst>
          </p:cNvPr>
          <p:cNvSpPr/>
          <p:nvPr/>
        </p:nvSpPr>
        <p:spPr>
          <a:xfrm>
            <a:off x="685800" y="1554480"/>
            <a:ext cx="340156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D4553DD9-91CF-A98F-32A4-82C5C74EFC3E}"/>
              </a:ext>
            </a:extLst>
          </p:cNvPr>
          <p:cNvSpPr/>
          <p:nvPr/>
        </p:nvSpPr>
        <p:spPr>
          <a:xfrm>
            <a:off x="905256" y="1700784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Q1</a:t>
            </a:r>
            <a:endParaRPr lang="en-US" sz="100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12B60CC9-2929-ACDA-E404-896A5410BC12}"/>
              </a:ext>
            </a:extLst>
          </p:cNvPr>
          <p:cNvSpPr/>
          <p:nvPr/>
        </p:nvSpPr>
        <p:spPr>
          <a:xfrm>
            <a:off x="905256" y="201168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Who cancels a Sprint?</a:t>
            </a:r>
            <a:endParaRPr lang="en-US" sz="170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21259A81-C68B-D44C-7110-70D077D5263F}"/>
              </a:ext>
            </a:extLst>
          </p:cNvPr>
          <p:cNvSpPr/>
          <p:nvPr/>
        </p:nvSpPr>
        <p:spPr>
          <a:xfrm>
            <a:off x="905256" y="2450592"/>
            <a:ext cx="2999232" cy="2816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1 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ScrumMaster</a:t>
            </a:r>
            <a:endParaRPr lang="en-US" sz="1400" dirty="0"/>
          </a:p>
          <a:p>
            <a:pPr algn="l"/>
            <a:r>
              <a:rPr lang="en-US" sz="1400" b="1" dirty="0">
                <a:solidFill>
                  <a:srgbClr val="536174"/>
                </a:solidFill>
                <a:latin typeface="Aptos"/>
              </a:rPr>
              <a:t>2 </a:t>
            </a:r>
            <a:r>
              <a:rPr lang="en-US" sz="1400" b="1" dirty="0" err="1">
                <a:solidFill>
                  <a:srgbClr val="536174"/>
                </a:solidFill>
                <a:latin typeface="Aptos"/>
              </a:rPr>
              <a:t>ProductOwner</a:t>
            </a:r>
            <a:endParaRPr lang="en-US" sz="1400" b="1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3 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Developers</a:t>
            </a:r>
            <a:endParaRPr lang="en-US" sz="1400" dirty="0"/>
          </a:p>
        </p:txBody>
      </p:sp>
      <p:sp>
        <p:nvSpPr>
          <p:cNvPr id="30" name="Box 30">
            <a:extLst>
              <a:ext uri="{FF2B5EF4-FFF2-40B4-BE49-F238E27FC236}">
                <a16:creationId xmlns:a16="http://schemas.microsoft.com/office/drawing/2014/main" id="{ECE0487C-1AB2-733F-5185-B6A5034C3CE3}"/>
              </a:ext>
            </a:extLst>
          </p:cNvPr>
          <p:cNvSpPr/>
          <p:nvPr/>
        </p:nvSpPr>
        <p:spPr>
          <a:xfrm>
            <a:off x="4389120" y="1554480"/>
            <a:ext cx="340156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8A8BF540-373F-F556-07D1-4D861596EA6B}"/>
              </a:ext>
            </a:extLst>
          </p:cNvPr>
          <p:cNvSpPr/>
          <p:nvPr/>
        </p:nvSpPr>
        <p:spPr>
          <a:xfrm>
            <a:off x="4608576" y="1700784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Q2</a:t>
            </a:r>
            <a:endParaRPr lang="en-US" sz="1000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1D23AF64-F628-A700-9AA2-D7612E3B1849}"/>
              </a:ext>
            </a:extLst>
          </p:cNvPr>
          <p:cNvSpPr/>
          <p:nvPr/>
        </p:nvSpPr>
        <p:spPr>
          <a:xfrm>
            <a:off x="4608576" y="201168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When is an item Done?</a:t>
            </a:r>
            <a:endParaRPr lang="en-US" sz="1700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8E73E2F4-9708-AE73-5902-80FD7BB1EB30}"/>
              </a:ext>
            </a:extLst>
          </p:cNvPr>
          <p:cNvSpPr/>
          <p:nvPr/>
        </p:nvSpPr>
        <p:spPr>
          <a:xfrm>
            <a:off x="4608576" y="2450592"/>
            <a:ext cx="2999232" cy="2816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1 When encoded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2 When QA passes</a:t>
            </a:r>
            <a:endParaRPr lang="en-US" sz="1400" dirty="0"/>
          </a:p>
          <a:p>
            <a:pPr algn="l"/>
            <a:r>
              <a:rPr lang="en-US" sz="1400" b="1" dirty="0">
                <a:solidFill>
                  <a:srgbClr val="536174"/>
                </a:solidFill>
                <a:latin typeface="Aptos"/>
              </a:rPr>
              <a:t>3 When it meets the</a:t>
            </a:r>
            <a:r>
              <a:rPr lang="en-US" sz="1400" b="1" dirty="0" err="1">
                <a:solidFill>
                  <a:srgbClr val="536174"/>
                </a:solidFill>
                <a:latin typeface="Aptos"/>
              </a:rPr>
              <a:t> DoD</a:t>
            </a:r>
            <a:endParaRPr lang="en-US" sz="1400" b="1" dirty="0"/>
          </a:p>
        </p:txBody>
      </p:sp>
      <p:sp>
        <p:nvSpPr>
          <p:cNvPr id="40" name="Box 40">
            <a:extLst>
              <a:ext uri="{FF2B5EF4-FFF2-40B4-BE49-F238E27FC236}">
                <a16:creationId xmlns:a16="http://schemas.microsoft.com/office/drawing/2014/main" id="{FD9D7D13-3BD5-32B4-A606-26FCBC86BD5D}"/>
              </a:ext>
            </a:extLst>
          </p:cNvPr>
          <p:cNvSpPr/>
          <p:nvPr/>
        </p:nvSpPr>
        <p:spPr>
          <a:xfrm>
            <a:off x="8092440" y="1554480"/>
            <a:ext cx="340156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>
            <a:extLst>
              <a:ext uri="{FF2B5EF4-FFF2-40B4-BE49-F238E27FC236}">
                <a16:creationId xmlns:a16="http://schemas.microsoft.com/office/drawing/2014/main" id="{2CC0F1EB-9D52-545E-47B4-AC1663DA003A}"/>
              </a:ext>
            </a:extLst>
          </p:cNvPr>
          <p:cNvSpPr/>
          <p:nvPr/>
        </p:nvSpPr>
        <p:spPr>
          <a:xfrm>
            <a:off x="8311896" y="1700784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Q3</a:t>
            </a:r>
            <a:endParaRPr lang="en-US" sz="1000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5A0082C3-AF1F-FE09-18DD-8CD0EC56CB5C}"/>
              </a:ext>
            </a:extLst>
          </p:cNvPr>
          <p:cNvSpPr/>
          <p:nvPr/>
        </p:nvSpPr>
        <p:spPr>
          <a:xfrm>
            <a:off x="8311896" y="2011680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Main purpose of Review?</a:t>
            </a:r>
            <a:endParaRPr lang="en-US" sz="1700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11B14418-FCAA-31C8-2237-448813AF31F6}"/>
              </a:ext>
            </a:extLst>
          </p:cNvPr>
          <p:cNvSpPr/>
          <p:nvPr/>
        </p:nvSpPr>
        <p:spPr>
          <a:xfrm>
            <a:off x="8311896" y="2450592"/>
            <a:ext cx="2999232" cy="2816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1 Status 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report</a:t>
            </a:r>
            <a:endParaRPr lang="en-US" sz="1400" dirty="0"/>
          </a:p>
          <a:p>
            <a:pPr algn="l"/>
            <a:r>
              <a:rPr lang="en-US" sz="1400" b="1" dirty="0">
                <a:solidFill>
                  <a:srgbClr val="536174"/>
                </a:solidFill>
                <a:latin typeface="Aptos"/>
              </a:rPr>
              <a:t>2 </a:t>
            </a:r>
            <a:r>
              <a:rPr lang="en-US" sz="1400" b="1" dirty="0" err="1">
                <a:solidFill>
                  <a:srgbClr val="536174"/>
                </a:solidFill>
                <a:latin typeface="Aptos"/>
              </a:rPr>
              <a:t>Feedback</a:t>
            </a:r>
            <a:r>
              <a:rPr lang="en-US" sz="1400" b="1" dirty="0">
                <a:solidFill>
                  <a:srgbClr val="536174"/>
                </a:solidFill>
                <a:latin typeface="Aptos"/>
              </a:rPr>
              <a:t> &amp; </a:t>
            </a:r>
            <a:r>
              <a:rPr lang="en-US" sz="1400" b="1" dirty="0" err="1">
                <a:solidFill>
                  <a:srgbClr val="536174"/>
                </a:solidFill>
                <a:latin typeface="Aptos"/>
              </a:rPr>
              <a:t>adaptation</a:t>
            </a:r>
            <a:endParaRPr lang="en-US" sz="1400" b="1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3 Approval by P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roject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M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anager</a:t>
            </a:r>
            <a:endParaRPr lang="en-US" sz="1400" dirty="0"/>
          </a:p>
        </p:txBody>
      </p:sp>
      <p:sp>
        <p:nvSpPr>
          <p:cNvPr id="900" name="Text 900">
            <a:extLst>
              <a:ext uri="{FF2B5EF4-FFF2-40B4-BE49-F238E27FC236}">
                <a16:creationId xmlns:a16="http://schemas.microsoft.com/office/drawing/2014/main" id="{A2BA5408-10E7-D639-575D-C7AD32520286}"/>
              </a:ext>
            </a:extLst>
          </p:cNvPr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>
            <a:extLst>
              <a:ext uri="{FF2B5EF4-FFF2-40B4-BE49-F238E27FC236}">
                <a16:creationId xmlns:a16="http://schemas.microsoft.com/office/drawing/2014/main" id="{1F676156-6AC3-F043-8D0E-F2A4CDFC51B7}"/>
              </a:ext>
            </a:extLst>
          </p:cNvPr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33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91497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Takeaways: Scrum in 5 sentences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46304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3" name="Text 23"/>
          <p:cNvSpPr/>
          <p:nvPr/>
        </p:nvSpPr>
        <p:spPr>
          <a:xfrm>
            <a:off x="905256" y="1670861"/>
            <a:ext cx="105704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72033"/>
                </a:solidFill>
                <a:latin typeface="Aptos"/>
              </a:rPr>
              <a:t>We deliver small usable items</a:t>
            </a:r>
            <a:r>
              <a:rPr lang="en-US" sz="1700" b="1" dirty="0" err="1">
                <a:solidFill>
                  <a:srgbClr val="172033"/>
                </a:solidFill>
                <a:latin typeface="Aptos"/>
              </a:rPr>
              <a:t> increments</a:t>
            </a:r>
            <a:r>
              <a:rPr lang="en-US" sz="1700" b="1" dirty="0">
                <a:solidFill>
                  <a:srgbClr val="172033"/>
                </a:solidFill>
                <a:latin typeface="Aptos"/>
              </a:rPr>
              <a:t> for quick learning.</a:t>
            </a:r>
            <a:endParaRPr lang="en-US" sz="1700" dirty="0"/>
          </a:p>
        </p:txBody>
      </p:sp>
      <p:sp>
        <p:nvSpPr>
          <p:cNvPr id="24" name="Text 24"/>
          <p:cNvSpPr/>
          <p:nvPr/>
        </p:nvSpPr>
        <p:spPr>
          <a:xfrm>
            <a:off x="905256" y="2359152"/>
            <a:ext cx="10570464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685800" y="2359152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3" name="Text 33"/>
          <p:cNvSpPr/>
          <p:nvPr/>
        </p:nvSpPr>
        <p:spPr>
          <a:xfrm>
            <a:off x="905256" y="2566973"/>
            <a:ext cx="105704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72033"/>
                </a:solidFill>
                <a:latin typeface="Aptos"/>
              </a:rPr>
              <a:t>One</a:t>
            </a:r>
            <a:r>
              <a:rPr lang="en-US" sz="1700" b="1" dirty="0" err="1">
                <a:solidFill>
                  <a:srgbClr val="172033"/>
                </a:solidFill>
                <a:latin typeface="Aptos"/>
              </a:rPr>
              <a:t> ScrumTeam</a:t>
            </a:r>
            <a:r>
              <a:rPr lang="en-US" sz="1700" b="1" dirty="0">
                <a:solidFill>
                  <a:srgbClr val="172033"/>
                </a:solidFill>
                <a:latin typeface="Aptos"/>
              </a:rPr>
              <a:t> shares goals, quality and accountability.</a:t>
            </a:r>
            <a:endParaRPr lang="en-US" sz="1700" dirty="0"/>
          </a:p>
        </p:txBody>
      </p:sp>
      <p:sp>
        <p:nvSpPr>
          <p:cNvPr id="34" name="Text 34"/>
          <p:cNvSpPr/>
          <p:nvPr/>
        </p:nvSpPr>
        <p:spPr>
          <a:xfrm>
            <a:off x="905256" y="3255264"/>
            <a:ext cx="10570464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685800" y="3255264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3" name="Text 43"/>
          <p:cNvSpPr/>
          <p:nvPr/>
        </p:nvSpPr>
        <p:spPr>
          <a:xfrm>
            <a:off x="905256" y="3463085"/>
            <a:ext cx="105704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 err="1">
                <a:solidFill>
                  <a:srgbClr val="172033"/>
                </a:solidFill>
                <a:latin typeface="Aptos"/>
              </a:rPr>
              <a:t>Artifacts</a:t>
            </a:r>
            <a:r>
              <a:rPr lang="en-US" sz="1700" b="1" dirty="0">
                <a:solidFill>
                  <a:srgbClr val="172033"/>
                </a:solidFill>
                <a:latin typeface="Aptos"/>
              </a:rPr>
              <a:t> + </a:t>
            </a:r>
            <a:r>
              <a:rPr lang="en-US" sz="1700" b="1" dirty="0" err="1">
                <a:solidFill>
                  <a:srgbClr val="172033"/>
                </a:solidFill>
                <a:latin typeface="Aptos"/>
              </a:rPr>
              <a:t>commitments</a:t>
            </a:r>
            <a:r>
              <a:rPr lang="en-US" sz="1700" b="1" dirty="0">
                <a:solidFill>
                  <a:srgbClr val="172033"/>
                </a:solidFill>
                <a:latin typeface="Aptos"/>
              </a:rPr>
              <a:t> they make reality visible.</a:t>
            </a:r>
            <a:endParaRPr lang="en-US" sz="1700" dirty="0"/>
          </a:p>
        </p:txBody>
      </p:sp>
      <p:sp>
        <p:nvSpPr>
          <p:cNvPr id="44" name="Text 44"/>
          <p:cNvSpPr/>
          <p:nvPr/>
        </p:nvSpPr>
        <p:spPr>
          <a:xfrm>
            <a:off x="905256" y="4151376"/>
            <a:ext cx="10570464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685800" y="4151376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3" name="Text 53"/>
          <p:cNvSpPr/>
          <p:nvPr/>
        </p:nvSpPr>
        <p:spPr>
          <a:xfrm>
            <a:off x="905256" y="4359197"/>
            <a:ext cx="105704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Events exist for inspect &amp; adapt — not for calendar theater.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905256" y="5047488"/>
            <a:ext cx="10570464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endParaRPr lang="en-US" sz="1400"/>
          </a:p>
        </p:txBody>
      </p:sp>
      <p:sp>
        <p:nvSpPr>
          <p:cNvPr id="60" name="Box 60"/>
          <p:cNvSpPr/>
          <p:nvPr/>
        </p:nvSpPr>
        <p:spPr>
          <a:xfrm>
            <a:off x="685800" y="5047488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63" name="Text 63"/>
          <p:cNvSpPr/>
          <p:nvPr/>
        </p:nvSpPr>
        <p:spPr>
          <a:xfrm>
            <a:off x="905256" y="5255309"/>
            <a:ext cx="105704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Success is measured by value, quality, and learning — not by “employment.”</a:t>
            </a:r>
            <a:endParaRPr lang="en-US" sz="1700"/>
          </a:p>
        </p:txBody>
      </p:sp>
      <p:sp>
        <p:nvSpPr>
          <p:cNvPr id="64" name="Text 64"/>
          <p:cNvSpPr/>
          <p:nvPr/>
        </p:nvSpPr>
        <p:spPr>
          <a:xfrm>
            <a:off x="905256" y="5943600"/>
            <a:ext cx="10570464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34</a:t>
            </a:r>
            <a:endParaRPr lang="en-US" sz="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Extreme Programming (XP): technical excellence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572768"/>
            <a:ext cx="34015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19072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FEEDBACK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2996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Short cycles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68880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Small releases, continuous integration, and rapid feedback.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4389120" y="1572768"/>
            <a:ext cx="34015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08576" y="1719072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QUALITY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08576" y="202996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Engineering practices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08576" y="2468880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Test-Driven D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evelopment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, 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refactoring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, 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simpledesign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and collective code ownership.</a:t>
            </a:r>
            <a:endParaRPr lang="en-US" sz="1400" dirty="0"/>
          </a:p>
        </p:txBody>
      </p:sp>
      <p:sp>
        <p:nvSpPr>
          <p:cNvPr id="40" name="Box 40"/>
          <p:cNvSpPr/>
          <p:nvPr/>
        </p:nvSpPr>
        <p:spPr>
          <a:xfrm>
            <a:off x="8092440" y="1572768"/>
            <a:ext cx="34015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11896" y="1719072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COLLABORATION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11896" y="202996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Close cooperation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11896" y="2468880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Pair programming, shared understanding and available customer.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822960" y="3474720"/>
            <a:ext cx="10515600" cy="12344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51" name="Text 51"/>
          <p:cNvSpPr/>
          <p:nvPr/>
        </p:nvSpPr>
        <p:spPr>
          <a:xfrm>
            <a:off x="1143000" y="377647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Scrum organizes the work cycle; XP offers practices for how to build high-quality software.</a:t>
            </a:r>
            <a:endParaRPr lang="en-US" sz="1900"/>
          </a:p>
        </p:txBody>
      </p:sp>
      <p:sp>
        <p:nvSpPr>
          <p:cNvPr id="60" name="Text 60"/>
          <p:cNvSpPr/>
          <p:nvPr/>
        </p:nvSpPr>
        <p:spPr>
          <a:xfrm>
            <a:off x="914400" y="5230368"/>
            <a:ext cx="10332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536174"/>
                </a:solidFill>
                <a:latin typeface="Aptos"/>
              </a:rPr>
              <a:t>It is particularly suitable for software teams with frequent changes and the possibility of continuous testing.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35</a:t>
            </a:r>
            <a:endParaRPr lang="en-US" sz="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Pair programming: two roles, one common goal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777240" y="1627632"/>
            <a:ext cx="4489704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96696" y="1773936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DRIVER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96696" y="2084832"/>
            <a:ext cx="4489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Operator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96696" y="2523744"/>
            <a:ext cx="4489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He writes the code.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It focuses on the immediate step.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He explains his thinking.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6537960" y="1627632"/>
            <a:ext cx="4892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6757416" y="1773936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NAVIGATOR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6757416" y="2084832"/>
            <a:ext cx="4489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Observer / navigator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6757416" y="2523744"/>
            <a:ext cx="4489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Controls the overall direction.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Identifies risks and errors.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It suggests next steps.</a:t>
            </a:r>
            <a:endParaRPr lang="en-US" sz="1400"/>
          </a:p>
        </p:txBody>
      </p:sp>
      <p:cxnSp>
        <p:nvCxnSpPr>
          <p:cNvPr id="40" name="Line 40"/>
          <p:cNvCxnSpPr/>
          <p:nvPr/>
        </p:nvCxnSpPr>
        <p:spPr>
          <a:xfrm>
            <a:off x="5574687" y="3429000"/>
            <a:ext cx="731520" cy="0"/>
          </a:xfrm>
          <a:prstGeom prst="line">
            <a:avLst/>
          </a:prstGeom>
          <a:ln w="38100">
            <a:solidFill>
              <a:srgbClr val="F6B44C"/>
            </a:solidFill>
            <a:tailEnd type="triangle"/>
          </a:ln>
        </p:spPr>
      </p:cxnSp>
      <p:sp>
        <p:nvSpPr>
          <p:cNvPr id="50" name="Text 50"/>
          <p:cNvSpPr/>
          <p:nvPr/>
        </p:nvSpPr>
        <p:spPr>
          <a:xfrm>
            <a:off x="914400" y="5532120"/>
            <a:ext cx="10332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They change roles frequently. Benefits: shared knowledge and immediate review; costs: requires concentration and good cooperation.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36</a:t>
            </a:r>
            <a:endParaRPr lang="en-US" sz="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Kanban: optimizing the flow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594360" y="1627632"/>
            <a:ext cx="2743200" cy="594360"/>
          </a:xfrm>
          <a:prstGeom prst="roundRect">
            <a:avLst/>
          </a:prstGeom>
          <a:solidFill>
            <a:srgbClr val="EEF1FF"/>
          </a:solidFill>
          <a:ln w="12700">
            <a:solidFill>
              <a:srgbClr val="CCD5FF"/>
            </a:solidFill>
          </a:ln>
        </p:spPr>
      </p:sp>
      <p:sp>
        <p:nvSpPr>
          <p:cNvPr id="21" name="Text 21"/>
          <p:cNvSpPr/>
          <p:nvPr/>
        </p:nvSpPr>
        <p:spPr>
          <a:xfrm>
            <a:off x="822960" y="17922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D58C8"/>
                </a:solidFill>
                <a:latin typeface="Aptos"/>
              </a:rPr>
              <a:t>NEXT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3520440" y="1627632"/>
            <a:ext cx="2743200" cy="59436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F8D99D"/>
            </a:solidFill>
          </a:ln>
        </p:spPr>
      </p:sp>
      <p:sp>
        <p:nvSpPr>
          <p:cNvPr id="31" name="Text 31"/>
          <p:cNvSpPr/>
          <p:nvPr/>
        </p:nvSpPr>
        <p:spPr>
          <a:xfrm>
            <a:off x="3749040" y="17922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8A5A12"/>
                </a:solidFill>
                <a:latin typeface="Aptos"/>
              </a:rPr>
              <a:t>IN PROGRESS • 2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6446520" y="1627632"/>
            <a:ext cx="2468880" cy="594360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BFEAE4"/>
            </a:solidFill>
          </a:ln>
        </p:spPr>
      </p:sp>
      <p:sp>
        <p:nvSpPr>
          <p:cNvPr id="41" name="Text 41"/>
          <p:cNvSpPr/>
          <p:nvPr/>
        </p:nvSpPr>
        <p:spPr>
          <a:xfrm>
            <a:off x="6675120" y="17922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76F65"/>
                </a:solidFill>
                <a:latin typeface="Aptos"/>
              </a:rPr>
              <a:t>CONTROL • 1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9098280" y="1627632"/>
            <a:ext cx="2468880" cy="594360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DDE3EA"/>
            </a:solidFill>
          </a:ln>
        </p:spPr>
      </p:sp>
      <p:sp>
        <p:nvSpPr>
          <p:cNvPr id="51" name="Text 51"/>
          <p:cNvSpPr/>
          <p:nvPr/>
        </p:nvSpPr>
        <p:spPr>
          <a:xfrm>
            <a:off x="9326880" y="17922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536174"/>
                </a:solidFill>
                <a:latin typeface="Aptos"/>
              </a:rPr>
              <a:t>COMPLETED</a:t>
            </a:r>
            <a:endParaRPr lang="en-US" sz="1400"/>
          </a:p>
        </p:txBody>
      </p:sp>
      <p:sp>
        <p:nvSpPr>
          <p:cNvPr id="60" name="Box 60"/>
          <p:cNvSpPr/>
          <p:nvPr/>
        </p:nvSpPr>
        <p:spPr>
          <a:xfrm>
            <a:off x="777240" y="2514600"/>
            <a:ext cx="2377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5FF"/>
            </a:solidFill>
          </a:ln>
        </p:spPr>
      </p:sp>
      <p:sp>
        <p:nvSpPr>
          <p:cNvPr id="61" name="Text 61"/>
          <p:cNvSpPr/>
          <p:nvPr/>
        </p:nvSpPr>
        <p:spPr>
          <a:xfrm>
            <a:off x="987552" y="276148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72033"/>
                </a:solidFill>
                <a:latin typeface="Aptos"/>
              </a:rPr>
              <a:t>New checkout</a:t>
            </a:r>
            <a:endParaRPr lang="en-US" sz="1400"/>
          </a:p>
        </p:txBody>
      </p:sp>
      <p:sp>
        <p:nvSpPr>
          <p:cNvPr id="70" name="Box 70"/>
          <p:cNvSpPr/>
          <p:nvPr/>
        </p:nvSpPr>
        <p:spPr>
          <a:xfrm>
            <a:off x="3703320" y="2514600"/>
            <a:ext cx="2377440" cy="82296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F8D99D"/>
            </a:solidFill>
          </a:ln>
        </p:spPr>
      </p:sp>
      <p:sp>
        <p:nvSpPr>
          <p:cNvPr id="71" name="Text 71"/>
          <p:cNvSpPr/>
          <p:nvPr/>
        </p:nvSpPr>
        <p:spPr>
          <a:xfrm>
            <a:off x="3913632" y="276148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72033"/>
                </a:solidFill>
                <a:latin typeface="Aptos"/>
              </a:rPr>
              <a:t>Payment API</a:t>
            </a:r>
            <a:endParaRPr lang="en-US" sz="1400"/>
          </a:p>
        </p:txBody>
      </p:sp>
      <p:sp>
        <p:nvSpPr>
          <p:cNvPr id="80" name="Box 80"/>
          <p:cNvSpPr/>
          <p:nvPr/>
        </p:nvSpPr>
        <p:spPr>
          <a:xfrm>
            <a:off x="6629400" y="2514600"/>
            <a:ext cx="2103120" cy="822960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BFEAE4"/>
            </a:solidFill>
          </a:ln>
        </p:spPr>
      </p:sp>
      <p:sp>
        <p:nvSpPr>
          <p:cNvPr id="81" name="Text 81"/>
          <p:cNvSpPr/>
          <p:nvPr/>
        </p:nvSpPr>
        <p:spPr>
          <a:xfrm>
            <a:off x="6839712" y="2761488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72033"/>
                </a:solidFill>
                <a:latin typeface="Aptos"/>
              </a:rPr>
              <a:t>Security test</a:t>
            </a:r>
            <a:endParaRPr lang="en-US" sz="1400"/>
          </a:p>
        </p:txBody>
      </p:sp>
      <p:sp>
        <p:nvSpPr>
          <p:cNvPr id="90" name="Box 90"/>
          <p:cNvSpPr/>
          <p:nvPr/>
        </p:nvSpPr>
        <p:spPr>
          <a:xfrm>
            <a:off x="685800" y="3822192"/>
            <a:ext cx="3401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92" name="Text 92"/>
          <p:cNvSpPr/>
          <p:nvPr/>
        </p:nvSpPr>
        <p:spPr>
          <a:xfrm>
            <a:off x="905256" y="3968496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VISUALIZE</a:t>
            </a:r>
            <a:endParaRPr lang="en-US" sz="1000"/>
          </a:p>
        </p:txBody>
      </p:sp>
      <p:sp>
        <p:nvSpPr>
          <p:cNvPr id="93" name="Text 93"/>
          <p:cNvSpPr/>
          <p:nvPr/>
        </p:nvSpPr>
        <p:spPr>
          <a:xfrm>
            <a:off x="905256" y="4279392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Visible work</a:t>
            </a:r>
            <a:endParaRPr lang="en-US" sz="1700"/>
          </a:p>
        </p:txBody>
      </p:sp>
      <p:sp>
        <p:nvSpPr>
          <p:cNvPr id="94" name="Text 94"/>
          <p:cNvSpPr/>
          <p:nvPr/>
        </p:nvSpPr>
        <p:spPr>
          <a:xfrm>
            <a:off x="905256" y="4718304"/>
            <a:ext cx="29992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We model the real flow.</a:t>
            </a:r>
            <a:endParaRPr lang="en-US" sz="1400"/>
          </a:p>
        </p:txBody>
      </p:sp>
      <p:sp>
        <p:nvSpPr>
          <p:cNvPr id="100" name="Box 100"/>
          <p:cNvSpPr/>
          <p:nvPr/>
        </p:nvSpPr>
        <p:spPr>
          <a:xfrm>
            <a:off x="4389120" y="3822192"/>
            <a:ext cx="3401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102" name="Text 102"/>
          <p:cNvSpPr/>
          <p:nvPr/>
        </p:nvSpPr>
        <p:spPr>
          <a:xfrm>
            <a:off x="4608576" y="3968496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LIMIT WIP</a:t>
            </a:r>
            <a:endParaRPr lang="en-US" sz="1000"/>
          </a:p>
        </p:txBody>
      </p:sp>
      <p:sp>
        <p:nvSpPr>
          <p:cNvPr id="103" name="Text 103"/>
          <p:cNvSpPr/>
          <p:nvPr/>
        </p:nvSpPr>
        <p:spPr>
          <a:xfrm>
            <a:off x="4608576" y="4279392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Less at the same time</a:t>
            </a:r>
            <a:endParaRPr lang="en-US" sz="1700"/>
          </a:p>
        </p:txBody>
      </p:sp>
      <p:sp>
        <p:nvSpPr>
          <p:cNvPr id="104" name="Text 104"/>
          <p:cNvSpPr/>
          <p:nvPr/>
        </p:nvSpPr>
        <p:spPr>
          <a:xfrm>
            <a:off x="4608576" y="4718304"/>
            <a:ext cx="29992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New work starts when capacity is available.</a:t>
            </a:r>
            <a:endParaRPr lang="en-US" sz="1400"/>
          </a:p>
        </p:txBody>
      </p:sp>
      <p:sp>
        <p:nvSpPr>
          <p:cNvPr id="110" name="Box 110"/>
          <p:cNvSpPr/>
          <p:nvPr/>
        </p:nvSpPr>
        <p:spPr>
          <a:xfrm>
            <a:off x="8092440" y="3822192"/>
            <a:ext cx="3401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112" name="Text 112"/>
          <p:cNvSpPr/>
          <p:nvPr/>
        </p:nvSpPr>
        <p:spPr>
          <a:xfrm>
            <a:off x="8311896" y="3968496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MANAGE FLOW</a:t>
            </a:r>
            <a:endParaRPr lang="en-US" sz="1000"/>
          </a:p>
        </p:txBody>
      </p:sp>
      <p:sp>
        <p:nvSpPr>
          <p:cNvPr id="113" name="Text 113"/>
          <p:cNvSpPr/>
          <p:nvPr/>
        </p:nvSpPr>
        <p:spPr>
          <a:xfrm>
            <a:off x="8311896" y="4279392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Predictable delivery</a:t>
            </a:r>
            <a:endParaRPr lang="en-US" sz="1700"/>
          </a:p>
        </p:txBody>
      </p:sp>
      <p:sp>
        <p:nvSpPr>
          <p:cNvPr id="114" name="Text 114"/>
          <p:cNvSpPr/>
          <p:nvPr/>
        </p:nvSpPr>
        <p:spPr>
          <a:xfrm>
            <a:off x="8311896" y="4718304"/>
            <a:ext cx="29992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Lead time, delivery rate and WIP guide improvements.</a:t>
            </a:r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37</a:t>
            </a:r>
            <a:endParaRPr lang="en-US" sz="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Scrum and Kanban: different lenses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777240" y="1645920"/>
            <a:ext cx="4892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96696" y="1792224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SCRUM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96696" y="2103120"/>
            <a:ext cx="4489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Pace through Sprints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96696" y="2542032"/>
            <a:ext cx="4489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Stable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SprintGoal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.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Defined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accountabilities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and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events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.</a:t>
            </a:r>
            <a:endParaRPr lang="en-US" sz="1400" dirty="0"/>
          </a:p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Inspection in clear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cadence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.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6537960" y="1645920"/>
            <a:ext cx="4892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6757416" y="1792224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KANBAN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6757416" y="2103120"/>
            <a:ext cx="448970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Flow through pull &amp; WIP limits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6757416" y="2542032"/>
            <a:ext cx="4489704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Workflow visualization.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Work in progress control.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Managing service flow and expectations.</a:t>
            </a:r>
            <a:endParaRPr lang="en-US" sz="1400"/>
          </a:p>
        </p:txBody>
      </p:sp>
      <p:sp>
        <p:nvSpPr>
          <p:cNvPr id="40" name="Text 40"/>
          <p:cNvSpPr/>
          <p:nvPr/>
        </p:nvSpPr>
        <p:spPr>
          <a:xfrm>
            <a:off x="914400" y="5559552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They can be combined: Scrum provides an accountability framework, Kanban enhances flow.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32</a:t>
            </a:r>
            <a:endParaRPr lang="en-US" sz="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 dirty="0" err="1">
                <a:solidFill>
                  <a:srgbClr val="172033"/>
                </a:solidFill>
                <a:latin typeface="Aptos"/>
              </a:rPr>
              <a:t>Crystal</a:t>
            </a:r>
            <a:r>
              <a:rPr lang="en-US" sz="2800" b="1" dirty="0">
                <a:solidFill>
                  <a:srgbClr val="172033"/>
                </a:solidFill>
                <a:latin typeface="Aptos"/>
              </a:rPr>
              <a:t>: the method is adapted to the project</a:t>
            </a:r>
            <a:endParaRPr lang="en-US" sz="2800" dirty="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685800" y="1572768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905256" y="1719072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25B7A5"/>
                </a:solidFill>
                <a:latin typeface="Aptos"/>
              </a:rPr>
              <a:t>PEOPLE</a:t>
            </a:r>
            <a:endParaRPr lang="en-US" sz="1000"/>
          </a:p>
        </p:txBody>
      </p:sp>
      <p:sp>
        <p:nvSpPr>
          <p:cNvPr id="23" name="Text 23"/>
          <p:cNvSpPr/>
          <p:nvPr/>
        </p:nvSpPr>
        <p:spPr>
          <a:xfrm>
            <a:off x="905256" y="202996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Human-powered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905256" y="2468880"/>
            <a:ext cx="2999232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Emphasis on communication, closeness, trust and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reflective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improvement.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4389120" y="1572768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4608576" y="1719072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CONTEXT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4608576" y="202996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Size &amp; criticality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4608576" y="2468880"/>
            <a:ext cx="2999232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Different “shades” depending on the number of people and the consequences of failure.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8092440" y="1572768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8311896" y="1719072"/>
            <a:ext cx="29992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TAILORING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8311896" y="202996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Minimum necessary procedure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8311896" y="2468880"/>
            <a:ext cx="2999232" cy="258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Practices are adapted rather than a single set of rules being applied.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5532120"/>
            <a:ext cx="10332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Crystal Clear: very small groups • Crystal Yellow/Orange: increasing scale • family up to about 50 people.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38</a:t>
            </a:r>
            <a:endParaRPr lang="en-US" sz="9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4C36-D76E-6A4F-009D-0253E625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>
            <a:extLst>
              <a:ext uri="{FF2B5EF4-FFF2-40B4-BE49-F238E27FC236}">
                <a16:creationId xmlns:a16="http://schemas.microsoft.com/office/drawing/2014/main" id="{6C92A50B-D936-AE7A-938C-F7366694ED3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>
            <a:extLst>
              <a:ext uri="{FF2B5EF4-FFF2-40B4-BE49-F238E27FC236}">
                <a16:creationId xmlns:a16="http://schemas.microsoft.com/office/drawing/2014/main" id="{3D33756F-704F-3EF0-5B77-4F5D3DDD48E8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679848C-2DDC-E930-D413-E6BB1DB1FBF5}"/>
              </a:ext>
            </a:extLst>
          </p:cNvPr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800" b="1" dirty="0" err="1">
                <a:solidFill>
                  <a:srgbClr val="172033"/>
                </a:solidFill>
                <a:latin typeface="Aptos"/>
              </a:rPr>
              <a:t>Crystal</a:t>
            </a:r>
            <a:endParaRPr lang="en-US" sz="2800" dirty="0"/>
          </a:p>
        </p:txBody>
      </p:sp>
      <p:cxnSp>
        <p:nvCxnSpPr>
          <p:cNvPr id="6" name="Line 6">
            <a:extLst>
              <a:ext uri="{FF2B5EF4-FFF2-40B4-BE49-F238E27FC236}">
                <a16:creationId xmlns:a16="http://schemas.microsoft.com/office/drawing/2014/main" id="{D3A331C6-90C1-EC54-DD76-922D9E4714E2}"/>
              </a:ext>
            </a:extLst>
          </p:cNvPr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900" name="Text 900">
            <a:extLst>
              <a:ext uri="{FF2B5EF4-FFF2-40B4-BE49-F238E27FC236}">
                <a16:creationId xmlns:a16="http://schemas.microsoft.com/office/drawing/2014/main" id="{8003F96E-1848-80DE-127B-85EEB10112F4}"/>
              </a:ext>
            </a:extLst>
          </p:cNvPr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>
            <a:extLst>
              <a:ext uri="{FF2B5EF4-FFF2-40B4-BE49-F238E27FC236}">
                <a16:creationId xmlns:a16="http://schemas.microsoft.com/office/drawing/2014/main" id="{1C8D9C5A-3B98-2205-4356-F2405766C869}"/>
              </a:ext>
            </a:extLst>
          </p:cNvPr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33</a:t>
            </a:r>
            <a:endParaRPr lang="en-US" sz="900"/>
          </a:p>
        </p:txBody>
      </p:sp>
      <p:sp>
        <p:nvSpPr>
          <p:cNvPr id="8" name="Θέση περιεχομένου 2">
            <a:extLst>
              <a:ext uri="{FF2B5EF4-FFF2-40B4-BE49-F238E27FC236}">
                <a16:creationId xmlns:a16="http://schemas.microsoft.com/office/drawing/2014/main" id="{E0DDD7E4-45D5-A682-27C2-7DEB500A2102}"/>
              </a:ext>
            </a:extLst>
          </p:cNvPr>
          <p:cNvSpPr txBox="1">
            <a:spLocks/>
          </p:cNvSpPr>
          <p:nvPr/>
        </p:nvSpPr>
        <p:spPr>
          <a:xfrm>
            <a:off x="609600" y="1517905"/>
            <a:ext cx="10972800" cy="4489387"/>
          </a:xfrm>
          <a:prstGeom prst="rect">
            <a:avLst/>
          </a:prstGeom>
        </p:spPr>
        <p:txBody>
          <a:bodyPr vert="horz" lIns="45720" rIns="45720">
            <a:normAutofit/>
          </a:bodyPr>
          <a:lstStyle>
            <a:lvl1pPr marL="0" marR="64008" indent="0" algn="r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l"/>
            <a:r>
              <a:rPr lang="en-US" sz="1800" dirty="0">
                <a:solidFill>
                  <a:srgbClr val="536174"/>
                </a:solidFill>
                <a:latin typeface="Aptos"/>
              </a:rPr>
              <a:t>C: Comfort</a:t>
            </a:r>
          </a:p>
          <a:p>
            <a:pPr algn="l"/>
            <a:r>
              <a:rPr lang="en-US" sz="1800" dirty="0">
                <a:solidFill>
                  <a:srgbClr val="536174"/>
                </a:solidFill>
                <a:latin typeface="Aptos"/>
              </a:rPr>
              <a:t>D: Discretionary money</a:t>
            </a:r>
          </a:p>
          <a:p>
            <a:pPr algn="l"/>
            <a:r>
              <a:rPr lang="en-US" sz="1800" dirty="0">
                <a:solidFill>
                  <a:srgbClr val="536174"/>
                </a:solidFill>
                <a:latin typeface="Aptos"/>
              </a:rPr>
              <a:t>E: Essential money</a:t>
            </a:r>
          </a:p>
          <a:p>
            <a:pPr algn="l"/>
            <a:r>
              <a:rPr lang="en-US" sz="1800" dirty="0">
                <a:solidFill>
                  <a:srgbClr val="536174"/>
                </a:solidFill>
                <a:latin typeface="Aptos"/>
              </a:rPr>
              <a:t>L: Life</a:t>
            </a:r>
          </a:p>
          <a:p>
            <a:pPr algn="l"/>
            <a:r>
              <a:rPr lang="en-US" sz="1800" dirty="0">
                <a:solidFill>
                  <a:srgbClr val="536174"/>
                </a:solidFill>
                <a:latin typeface="Aptos"/>
              </a:rPr>
              <a:t>Number: # of programmers</a:t>
            </a:r>
          </a:p>
        </p:txBody>
      </p:sp>
      <p:pic>
        <p:nvPicPr>
          <p:cNvPr id="4" name="Εικόνα 3" descr="Crystal Methodology :: PM Expert">
            <a:extLst>
              <a:ext uri="{FF2B5EF4-FFF2-40B4-BE49-F238E27FC236}">
                <a16:creationId xmlns:a16="http://schemas.microsoft.com/office/drawing/2014/main" id="{47F17EE9-1F5D-5E64-2A40-8FD8DD40B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960" y="1591058"/>
            <a:ext cx="51435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256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Scrum, XP, Kanban and Crystal comparison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502920" y="1481328"/>
            <a:ext cx="2194560" cy="56692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21" name="Text 21"/>
          <p:cNvSpPr/>
          <p:nvPr/>
        </p:nvSpPr>
        <p:spPr>
          <a:xfrm>
            <a:off x="713232" y="163677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DIMENSION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2697480" y="1481328"/>
            <a:ext cx="2286000" cy="56692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31" name="Text 31"/>
          <p:cNvSpPr/>
          <p:nvPr/>
        </p:nvSpPr>
        <p:spPr>
          <a:xfrm>
            <a:off x="2926080" y="16367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SCRUM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4983480" y="1481328"/>
            <a:ext cx="2148840" cy="56692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41" name="Text 41"/>
          <p:cNvSpPr/>
          <p:nvPr/>
        </p:nvSpPr>
        <p:spPr>
          <a:xfrm>
            <a:off x="5212080" y="163677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XP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7132320" y="1481328"/>
            <a:ext cx="2286000" cy="56692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51" name="Text 51"/>
          <p:cNvSpPr/>
          <p:nvPr/>
        </p:nvSpPr>
        <p:spPr>
          <a:xfrm>
            <a:off x="7360920" y="16367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KANBAN</a:t>
            </a:r>
            <a:endParaRPr lang="en-US" sz="1400"/>
          </a:p>
        </p:txBody>
      </p:sp>
      <p:sp>
        <p:nvSpPr>
          <p:cNvPr id="60" name="Box 60"/>
          <p:cNvSpPr/>
          <p:nvPr/>
        </p:nvSpPr>
        <p:spPr>
          <a:xfrm>
            <a:off x="9418320" y="1481328"/>
            <a:ext cx="2267712" cy="56692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61" name="Text 61"/>
          <p:cNvSpPr/>
          <p:nvPr/>
        </p:nvSpPr>
        <p:spPr>
          <a:xfrm>
            <a:off x="9646920" y="1636776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CRYSTAL</a:t>
            </a:r>
            <a:endParaRPr lang="en-US" sz="1400"/>
          </a:p>
        </p:txBody>
      </p:sp>
      <p:sp>
        <p:nvSpPr>
          <p:cNvPr id="70" name="Text 70"/>
          <p:cNvSpPr/>
          <p:nvPr/>
        </p:nvSpPr>
        <p:spPr>
          <a:xfrm>
            <a:off x="658368" y="225856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172033"/>
                </a:solidFill>
                <a:latin typeface="Aptos"/>
              </a:rPr>
              <a:t>Main focus</a:t>
            </a:r>
            <a:endParaRPr lang="en-US" sz="1400" dirty="0"/>
          </a:p>
        </p:txBody>
      </p:sp>
      <p:sp>
        <p:nvSpPr>
          <p:cNvPr id="71" name="Text 71"/>
          <p:cNvSpPr/>
          <p:nvPr/>
        </p:nvSpPr>
        <p:spPr>
          <a:xfrm>
            <a:off x="2852928" y="2212848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Value in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Sprints</a:t>
            </a:r>
            <a:endParaRPr lang="en-US" sz="1400" dirty="0"/>
          </a:p>
        </p:txBody>
      </p:sp>
      <p:sp>
        <p:nvSpPr>
          <p:cNvPr id="72" name="Text 72"/>
          <p:cNvSpPr/>
          <p:nvPr/>
        </p:nvSpPr>
        <p:spPr>
          <a:xfrm>
            <a:off x="5138928" y="2212848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Code quality</a:t>
            </a:r>
            <a:endParaRPr lang="en-US" sz="1400"/>
          </a:p>
        </p:txBody>
      </p:sp>
      <p:sp>
        <p:nvSpPr>
          <p:cNvPr id="73" name="Text 73"/>
          <p:cNvSpPr/>
          <p:nvPr/>
        </p:nvSpPr>
        <p:spPr>
          <a:xfrm>
            <a:off x="7287768" y="2212848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Workflow</a:t>
            </a:r>
            <a:endParaRPr lang="en-US" sz="1400"/>
          </a:p>
        </p:txBody>
      </p:sp>
      <p:sp>
        <p:nvSpPr>
          <p:cNvPr id="74" name="Text 74"/>
          <p:cNvSpPr/>
          <p:nvPr/>
        </p:nvSpPr>
        <p:spPr>
          <a:xfrm>
            <a:off x="9573768" y="2212848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People &amp; context</a:t>
            </a:r>
            <a:endParaRPr lang="en-US" sz="1400"/>
          </a:p>
        </p:txBody>
      </p:sp>
      <p:cxnSp>
        <p:nvCxnSpPr>
          <p:cNvPr id="80" name="Line 80"/>
          <p:cNvCxnSpPr/>
          <p:nvPr/>
        </p:nvCxnSpPr>
        <p:spPr>
          <a:xfrm>
            <a:off x="594360" y="2834640"/>
            <a:ext cx="1097280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81" name="Text 81"/>
          <p:cNvSpPr/>
          <p:nvPr/>
        </p:nvSpPr>
        <p:spPr>
          <a:xfrm>
            <a:off x="658368" y="295351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72033"/>
                </a:solidFill>
                <a:latin typeface="Aptos"/>
              </a:rPr>
              <a:t>Rhythm</a:t>
            </a:r>
            <a:endParaRPr lang="en-US" sz="1400"/>
          </a:p>
        </p:txBody>
      </p:sp>
      <p:sp>
        <p:nvSpPr>
          <p:cNvPr id="82" name="Text 82"/>
          <p:cNvSpPr/>
          <p:nvPr/>
        </p:nvSpPr>
        <p:spPr>
          <a:xfrm>
            <a:off x="2852928" y="2907792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Timeboxed</a:t>
            </a:r>
            <a:endParaRPr lang="en-US" sz="1400"/>
          </a:p>
        </p:txBody>
      </p:sp>
      <p:sp>
        <p:nvSpPr>
          <p:cNvPr id="83" name="Text 83"/>
          <p:cNvSpPr/>
          <p:nvPr/>
        </p:nvSpPr>
        <p:spPr>
          <a:xfrm>
            <a:off x="5138928" y="2907792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Continuous / small editions</a:t>
            </a:r>
            <a:endParaRPr lang="en-US" sz="1400"/>
          </a:p>
        </p:txBody>
      </p:sp>
      <p:sp>
        <p:nvSpPr>
          <p:cNvPr id="84" name="Text 84"/>
          <p:cNvSpPr/>
          <p:nvPr/>
        </p:nvSpPr>
        <p:spPr>
          <a:xfrm>
            <a:off x="7287768" y="2907792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Continuous pull</a:t>
            </a:r>
            <a:endParaRPr lang="en-US" sz="1400"/>
          </a:p>
        </p:txBody>
      </p:sp>
      <p:sp>
        <p:nvSpPr>
          <p:cNvPr id="85" name="Text 85"/>
          <p:cNvSpPr/>
          <p:nvPr/>
        </p:nvSpPr>
        <p:spPr>
          <a:xfrm>
            <a:off x="9573768" y="2907792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Adaptable</a:t>
            </a:r>
            <a:endParaRPr lang="en-US" sz="1400"/>
          </a:p>
        </p:txBody>
      </p:sp>
      <p:cxnSp>
        <p:nvCxnSpPr>
          <p:cNvPr id="90" name="Line 90"/>
          <p:cNvCxnSpPr/>
          <p:nvPr/>
        </p:nvCxnSpPr>
        <p:spPr>
          <a:xfrm>
            <a:off x="594360" y="3529584"/>
            <a:ext cx="1097280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91" name="Text 91"/>
          <p:cNvSpPr/>
          <p:nvPr/>
        </p:nvSpPr>
        <p:spPr>
          <a:xfrm>
            <a:off x="658368" y="364845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72033"/>
                </a:solidFill>
                <a:latin typeface="Aptos"/>
              </a:rPr>
              <a:t>Clock</a:t>
            </a:r>
            <a:endParaRPr lang="en-US" sz="1400"/>
          </a:p>
        </p:txBody>
      </p:sp>
      <p:sp>
        <p:nvSpPr>
          <p:cNvPr id="92" name="Text 92"/>
          <p:cNvSpPr/>
          <p:nvPr/>
        </p:nvSpPr>
        <p:spPr>
          <a:xfrm>
            <a:off x="2852928" y="3602736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3 accountabilities</a:t>
            </a:r>
            <a:endParaRPr lang="en-US" sz="1400"/>
          </a:p>
        </p:txBody>
      </p:sp>
      <p:sp>
        <p:nvSpPr>
          <p:cNvPr id="93" name="Text 93"/>
          <p:cNvSpPr/>
          <p:nvPr/>
        </p:nvSpPr>
        <p:spPr>
          <a:xfrm>
            <a:off x="5138928" y="3602736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Team practices</a:t>
            </a:r>
            <a:endParaRPr lang="en-US" sz="1400"/>
          </a:p>
        </p:txBody>
      </p:sp>
      <p:sp>
        <p:nvSpPr>
          <p:cNvPr id="94" name="Text 94"/>
          <p:cNvSpPr/>
          <p:nvPr/>
        </p:nvSpPr>
        <p:spPr>
          <a:xfrm>
            <a:off x="7287768" y="3602736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Maintains existing ones</a:t>
            </a:r>
            <a:endParaRPr lang="en-US" sz="1400"/>
          </a:p>
        </p:txBody>
      </p:sp>
      <p:sp>
        <p:nvSpPr>
          <p:cNvPr id="95" name="Text 95"/>
          <p:cNvSpPr/>
          <p:nvPr/>
        </p:nvSpPr>
        <p:spPr>
          <a:xfrm>
            <a:off x="9573768" y="3602736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Depending on the version</a:t>
            </a:r>
            <a:endParaRPr lang="en-US" sz="1400"/>
          </a:p>
        </p:txBody>
      </p:sp>
      <p:cxnSp>
        <p:nvCxnSpPr>
          <p:cNvPr id="100" name="Line 100"/>
          <p:cNvCxnSpPr/>
          <p:nvPr/>
        </p:nvCxnSpPr>
        <p:spPr>
          <a:xfrm>
            <a:off x="594360" y="4224528"/>
            <a:ext cx="1097280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01" name="Text 101"/>
          <p:cNvSpPr/>
          <p:nvPr/>
        </p:nvSpPr>
        <p:spPr>
          <a:xfrm>
            <a:off x="658368" y="434340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72033"/>
                </a:solidFill>
                <a:latin typeface="Aptos"/>
              </a:rPr>
              <a:t>Standard scale</a:t>
            </a:r>
            <a:endParaRPr lang="en-US" sz="1400"/>
          </a:p>
        </p:txBody>
      </p:sp>
      <p:sp>
        <p:nvSpPr>
          <p:cNvPr id="102" name="Text 102"/>
          <p:cNvSpPr/>
          <p:nvPr/>
        </p:nvSpPr>
        <p:spPr>
          <a:xfrm>
            <a:off x="2852928" y="4297680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Small group • usually ≤10</a:t>
            </a:r>
            <a:endParaRPr lang="en-US" sz="1400"/>
          </a:p>
        </p:txBody>
      </p:sp>
      <p:sp>
        <p:nvSpPr>
          <p:cNvPr id="103" name="Text 103"/>
          <p:cNvSpPr/>
          <p:nvPr/>
        </p:nvSpPr>
        <p:spPr>
          <a:xfrm>
            <a:off x="5138928" y="429768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Small dev team</a:t>
            </a:r>
            <a:endParaRPr lang="en-US" sz="1400"/>
          </a:p>
        </p:txBody>
      </p:sp>
      <p:sp>
        <p:nvSpPr>
          <p:cNvPr id="104" name="Text 104"/>
          <p:cNvSpPr/>
          <p:nvPr/>
        </p:nvSpPr>
        <p:spPr>
          <a:xfrm>
            <a:off x="7287768" y="4297680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Group to multiple services</a:t>
            </a:r>
            <a:endParaRPr lang="en-US" sz="1400"/>
          </a:p>
        </p:txBody>
      </p:sp>
      <p:sp>
        <p:nvSpPr>
          <p:cNvPr id="105" name="Text 105"/>
          <p:cNvSpPr/>
          <p:nvPr/>
        </p:nvSpPr>
        <p:spPr>
          <a:xfrm>
            <a:off x="9573768" y="4297680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Small–medium • up to ~50</a:t>
            </a:r>
            <a:endParaRPr lang="en-US" sz="1400"/>
          </a:p>
        </p:txBody>
      </p:sp>
      <p:cxnSp>
        <p:nvCxnSpPr>
          <p:cNvPr id="110" name="Line 110"/>
          <p:cNvCxnSpPr/>
          <p:nvPr/>
        </p:nvCxnSpPr>
        <p:spPr>
          <a:xfrm>
            <a:off x="594360" y="4919472"/>
            <a:ext cx="1097280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11" name="Text 111"/>
          <p:cNvSpPr/>
          <p:nvPr/>
        </p:nvSpPr>
        <p:spPr>
          <a:xfrm>
            <a:off x="658368" y="503834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72033"/>
                </a:solidFill>
                <a:latin typeface="Aptos"/>
              </a:rPr>
              <a:t>Ideal use</a:t>
            </a:r>
            <a:endParaRPr lang="en-US" sz="1400"/>
          </a:p>
        </p:txBody>
      </p:sp>
      <p:sp>
        <p:nvSpPr>
          <p:cNvPr id="112" name="Text 112"/>
          <p:cNvSpPr/>
          <p:nvPr/>
        </p:nvSpPr>
        <p:spPr>
          <a:xfrm>
            <a:off x="2852928" y="4992624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Composite product</a:t>
            </a:r>
            <a:endParaRPr lang="en-US" sz="1400"/>
          </a:p>
        </p:txBody>
      </p:sp>
      <p:sp>
        <p:nvSpPr>
          <p:cNvPr id="113" name="Text 113"/>
          <p:cNvSpPr/>
          <p:nvPr/>
        </p:nvSpPr>
        <p:spPr>
          <a:xfrm>
            <a:off x="5138928" y="4992624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High-change software</a:t>
            </a:r>
            <a:endParaRPr lang="en-US" sz="1400"/>
          </a:p>
        </p:txBody>
      </p:sp>
      <p:sp>
        <p:nvSpPr>
          <p:cNvPr id="114" name="Text 114"/>
          <p:cNvSpPr/>
          <p:nvPr/>
        </p:nvSpPr>
        <p:spPr>
          <a:xfrm>
            <a:off x="7287768" y="4992624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Continuous influx of work</a:t>
            </a:r>
            <a:endParaRPr lang="en-US" sz="1400"/>
          </a:p>
        </p:txBody>
      </p:sp>
      <p:sp>
        <p:nvSpPr>
          <p:cNvPr id="115" name="Text 115"/>
          <p:cNvSpPr/>
          <p:nvPr/>
        </p:nvSpPr>
        <p:spPr>
          <a:xfrm>
            <a:off x="9573768" y="4992624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Context-sensitive projects</a:t>
            </a:r>
            <a:endParaRPr lang="en-US" sz="1400"/>
          </a:p>
        </p:txBody>
      </p:sp>
      <p:sp>
        <p:nvSpPr>
          <p:cNvPr id="120" name="Text 120"/>
          <p:cNvSpPr/>
          <p:nvPr/>
        </p:nvSpPr>
        <p:spPr>
          <a:xfrm>
            <a:off x="822960" y="5806440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>
                <a:solidFill>
                  <a:srgbClr val="7A8699"/>
                </a:solidFill>
                <a:latin typeface="Aptos"/>
              </a:rPr>
              <a:t>Size limits are guidelines, not rigid rules.</a:t>
            </a:r>
            <a:endParaRPr lang="en-US" sz="12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39</a:t>
            </a:r>
            <a:endParaRPr lang="en-US" sz="9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How much are they used? A comparative snapshot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914400" y="1783080"/>
            <a:ext cx="8183880" cy="530352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EAF7F5"/>
            </a:solidFill>
          </a:ln>
        </p:spPr>
      </p:sp>
      <p:sp>
        <p:nvSpPr>
          <p:cNvPr id="21" name="Box 21"/>
          <p:cNvSpPr/>
          <p:nvPr/>
        </p:nvSpPr>
        <p:spPr>
          <a:xfrm>
            <a:off x="914400" y="1783080"/>
            <a:ext cx="7123176" cy="530352"/>
          </a:xfrm>
          <a:prstGeom prst="round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22" name="Text 22"/>
          <p:cNvSpPr/>
          <p:nvPr/>
        </p:nvSpPr>
        <p:spPr>
          <a:xfrm>
            <a:off x="1078992" y="19202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Scrum</a:t>
            </a:r>
            <a:endParaRPr lang="en-US" sz="1400"/>
          </a:p>
        </p:txBody>
      </p:sp>
      <p:sp>
        <p:nvSpPr>
          <p:cNvPr id="23" name="Text 23"/>
          <p:cNvSpPr/>
          <p:nvPr/>
        </p:nvSpPr>
        <p:spPr>
          <a:xfrm>
            <a:off x="8458200" y="19202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400" b="1">
                <a:solidFill>
                  <a:srgbClr val="172033"/>
                </a:solidFill>
                <a:latin typeface="Aptos"/>
              </a:rPr>
              <a:t>87%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914400" y="2587752"/>
            <a:ext cx="8183880" cy="530352"/>
          </a:xfrm>
          <a:prstGeom prst="roundRect">
            <a:avLst/>
          </a:prstGeom>
          <a:solidFill>
            <a:srgbClr val="EEF1FF"/>
          </a:solidFill>
          <a:ln w="12700">
            <a:solidFill>
              <a:srgbClr val="EEF1FF"/>
            </a:solidFill>
          </a:ln>
        </p:spPr>
      </p:sp>
      <p:sp>
        <p:nvSpPr>
          <p:cNvPr id="31" name="Box 31"/>
          <p:cNvSpPr/>
          <p:nvPr/>
        </p:nvSpPr>
        <p:spPr>
          <a:xfrm>
            <a:off x="914400" y="2587752"/>
            <a:ext cx="4581144" cy="530352"/>
          </a:xfrm>
          <a:prstGeom prst="roundRect">
            <a:avLst/>
          </a:prstGeom>
          <a:solidFill>
            <a:srgbClr val="5B7CFA"/>
          </a:solidFill>
          <a:ln w="12700">
            <a:solidFill>
              <a:srgbClr val="5B7CFA"/>
            </a:solidFill>
          </a:ln>
        </p:spPr>
      </p:sp>
      <p:sp>
        <p:nvSpPr>
          <p:cNvPr id="32" name="Text 32"/>
          <p:cNvSpPr/>
          <p:nvPr/>
        </p:nvSpPr>
        <p:spPr>
          <a:xfrm>
            <a:off x="1078992" y="272491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Kanban</a:t>
            </a:r>
            <a:endParaRPr lang="en-US" sz="1400"/>
          </a:p>
        </p:txBody>
      </p:sp>
      <p:sp>
        <p:nvSpPr>
          <p:cNvPr id="33" name="Text 33"/>
          <p:cNvSpPr/>
          <p:nvPr/>
        </p:nvSpPr>
        <p:spPr>
          <a:xfrm>
            <a:off x="8458200" y="272491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400" b="1">
                <a:solidFill>
                  <a:srgbClr val="172033"/>
                </a:solidFill>
                <a:latin typeface="Aptos"/>
              </a:rPr>
              <a:t>56%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914400" y="3392424"/>
            <a:ext cx="8183880" cy="53035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FFF5E5"/>
            </a:solidFill>
          </a:ln>
        </p:spPr>
      </p:sp>
      <p:sp>
        <p:nvSpPr>
          <p:cNvPr id="41" name="Box 41"/>
          <p:cNvSpPr/>
          <p:nvPr/>
        </p:nvSpPr>
        <p:spPr>
          <a:xfrm>
            <a:off x="914400" y="3392424"/>
            <a:ext cx="978408" cy="530352"/>
          </a:xfrm>
          <a:prstGeom prst="roundRect">
            <a:avLst/>
          </a:prstGeom>
          <a:solidFill>
            <a:srgbClr val="F6B44C"/>
          </a:solidFill>
          <a:ln w="12700">
            <a:solidFill>
              <a:srgbClr val="F6B44C"/>
            </a:solidFill>
          </a:ln>
        </p:spPr>
      </p:sp>
      <p:sp>
        <p:nvSpPr>
          <p:cNvPr id="42" name="Text 42"/>
          <p:cNvSpPr/>
          <p:nvPr/>
        </p:nvSpPr>
        <p:spPr>
          <a:xfrm>
            <a:off x="1078992" y="352958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72033"/>
                </a:solidFill>
                <a:latin typeface="Aptos"/>
              </a:rPr>
              <a:t>XP</a:t>
            </a:r>
            <a:endParaRPr lang="en-US" sz="1400"/>
          </a:p>
        </p:txBody>
      </p:sp>
      <p:sp>
        <p:nvSpPr>
          <p:cNvPr id="43" name="Text 43"/>
          <p:cNvSpPr/>
          <p:nvPr/>
        </p:nvSpPr>
        <p:spPr>
          <a:xfrm>
            <a:off x="8458200" y="3529584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400" b="1">
                <a:solidFill>
                  <a:srgbClr val="172033"/>
                </a:solidFill>
                <a:latin typeface="Aptos"/>
              </a:rPr>
              <a:t>12%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4370832"/>
            <a:ext cx="81838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536174"/>
                </a:solidFill>
                <a:latin typeface="Aptos"/>
              </a:rPr>
              <a:t>State of Agile 2022 • Multiple choice: percentages do not add up to 100%.</a:t>
            </a:r>
            <a:endParaRPr lang="en-US" sz="1400"/>
          </a:p>
        </p:txBody>
      </p:sp>
      <p:sp>
        <p:nvSpPr>
          <p:cNvPr id="70" name="Box 70"/>
          <p:cNvSpPr/>
          <p:nvPr/>
        </p:nvSpPr>
        <p:spPr>
          <a:xfrm>
            <a:off x="914400" y="5166360"/>
            <a:ext cx="10378440" cy="658368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F0BEB2"/>
            </a:solidFill>
          </a:ln>
        </p:spPr>
      </p:sp>
      <p:sp>
        <p:nvSpPr>
          <p:cNvPr id="71" name="Text 71"/>
          <p:cNvSpPr/>
          <p:nvPr/>
        </p:nvSpPr>
        <p:spPr>
          <a:xfrm>
            <a:off x="1188720" y="5349240"/>
            <a:ext cx="9829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9A3E2A"/>
                </a:solidFill>
                <a:latin typeface="Aptos"/>
              </a:rPr>
              <a:t>Trend reading: Scrum dominates; Kanban is often combined; XP is mainly used as a set of practices.</a:t>
            </a:r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40</a:t>
            </a:r>
            <a:endParaRPr lang="en-US" sz="9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D7C8-CD7B-2E86-5536-4F667559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>
            <a:extLst>
              <a:ext uri="{FF2B5EF4-FFF2-40B4-BE49-F238E27FC236}">
                <a16:creationId xmlns:a16="http://schemas.microsoft.com/office/drawing/2014/main" id="{75DC1AEA-8A55-C3CC-9EF4-54A25EB5BBA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>
            <a:extLst>
              <a:ext uri="{FF2B5EF4-FFF2-40B4-BE49-F238E27FC236}">
                <a16:creationId xmlns:a16="http://schemas.microsoft.com/office/drawing/2014/main" id="{24A472FF-E1F2-89FB-34CF-4E0FEB9236D9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F63E08E9-46E4-E503-0EE6-50A8519F054D}"/>
              </a:ext>
            </a:extLst>
          </p:cNvPr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172033"/>
                </a:solidFill>
                <a:latin typeface="Aptos"/>
              </a:rPr>
              <a:t>Agile vs Waterfall</a:t>
            </a:r>
            <a:endParaRPr lang="en-US" sz="2800" dirty="0"/>
          </a:p>
        </p:txBody>
      </p:sp>
      <p:cxnSp>
        <p:nvCxnSpPr>
          <p:cNvPr id="6" name="Line 6">
            <a:extLst>
              <a:ext uri="{FF2B5EF4-FFF2-40B4-BE49-F238E27FC236}">
                <a16:creationId xmlns:a16="http://schemas.microsoft.com/office/drawing/2014/main" id="{1747609E-0D14-97A7-85A3-38B029527755}"/>
              </a:ext>
            </a:extLst>
          </p:cNvPr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900" name="Text 900">
            <a:extLst>
              <a:ext uri="{FF2B5EF4-FFF2-40B4-BE49-F238E27FC236}">
                <a16:creationId xmlns:a16="http://schemas.microsoft.com/office/drawing/2014/main" id="{898DF636-6C05-B99D-BF1C-FCCDB0203B9F}"/>
              </a:ext>
            </a:extLst>
          </p:cNvPr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>
            <a:extLst>
              <a:ext uri="{FF2B5EF4-FFF2-40B4-BE49-F238E27FC236}">
                <a16:creationId xmlns:a16="http://schemas.microsoft.com/office/drawing/2014/main" id="{7B7EA0C6-67A7-BE07-377F-0427C2C7862F}"/>
              </a:ext>
            </a:extLst>
          </p:cNvPr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33</a:t>
            </a:r>
            <a:endParaRPr lang="en-US" sz="900"/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B56DCD19-B203-4813-B030-0DED49C299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5636342"/>
              </p:ext>
            </p:extLst>
          </p:nvPr>
        </p:nvGraphicFramePr>
        <p:xfrm>
          <a:off x="1101940" y="1451511"/>
          <a:ext cx="9441582" cy="450569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47194">
                  <a:extLst>
                    <a:ext uri="{9D8B030D-6E8A-4147-A177-3AD203B41FA5}">
                      <a16:colId xmlns:a16="http://schemas.microsoft.com/office/drawing/2014/main" val="3632076934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2536072196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1144733721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r>
                        <a:rPr lang="en-US" sz="1600" b="1" dirty="0"/>
                        <a:t>Crumple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Agile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Waterfall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0214098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/>
                        <a:t>Design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Adaptive, flexible design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Comprehensive advance planning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62870049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n-US" sz="1600"/>
                        <a:t>Development approach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Iterative and gradual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Serial –linear / successive phases:</a:t>
                      </a:r>
                    </a:p>
                    <a:p>
                      <a:r>
                        <a:rPr lang="en-US" sz="1600" dirty="0"/>
                        <a:t>Requirements → design → implementation → control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378076610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r>
                        <a:rPr lang="en-US" sz="1600"/>
                        <a:t>Change management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Embraces change, easily adapts to new requirements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Resists change, difficult to adapt once growth begins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2046410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/>
                        <a:t>Priorities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Prioritize operations based on customer value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Prioritize operations based on the project plan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65522415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/>
                        <a:t>Tests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Continuous testing throughout the iterations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Testing phase following implementation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8838103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/>
                        <a:t>Customer participation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High, frequent feedback and collaboration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Low, mainly involved in debt collection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9117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0400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D5644-67E0-622A-5C66-CAFA533F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>
            <a:extLst>
              <a:ext uri="{FF2B5EF4-FFF2-40B4-BE49-F238E27FC236}">
                <a16:creationId xmlns:a16="http://schemas.microsoft.com/office/drawing/2014/main" id="{0A541739-8711-D126-4294-5B758DDC5E5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>
            <a:extLst>
              <a:ext uri="{FF2B5EF4-FFF2-40B4-BE49-F238E27FC236}">
                <a16:creationId xmlns:a16="http://schemas.microsoft.com/office/drawing/2014/main" id="{316633CC-77FF-9CFB-C178-5BB55789A71F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95DC781-52D7-0E11-FF76-12A725DA22E7}"/>
              </a:ext>
            </a:extLst>
          </p:cNvPr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172033"/>
                </a:solidFill>
                <a:latin typeface="Aptos"/>
              </a:rPr>
              <a:t>Agile vs Waterfall</a:t>
            </a:r>
            <a:endParaRPr lang="en-US" sz="2800" dirty="0"/>
          </a:p>
        </p:txBody>
      </p:sp>
      <p:cxnSp>
        <p:nvCxnSpPr>
          <p:cNvPr id="6" name="Line 6">
            <a:extLst>
              <a:ext uri="{FF2B5EF4-FFF2-40B4-BE49-F238E27FC236}">
                <a16:creationId xmlns:a16="http://schemas.microsoft.com/office/drawing/2014/main" id="{BB664218-0F2B-BD44-5306-ABD6156029F2}"/>
              </a:ext>
            </a:extLst>
          </p:cNvPr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900" name="Text 900">
            <a:extLst>
              <a:ext uri="{FF2B5EF4-FFF2-40B4-BE49-F238E27FC236}">
                <a16:creationId xmlns:a16="http://schemas.microsoft.com/office/drawing/2014/main" id="{31BB11A5-A184-EF95-F47C-AF35233BF56A}"/>
              </a:ext>
            </a:extLst>
          </p:cNvPr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>
            <a:extLst>
              <a:ext uri="{FF2B5EF4-FFF2-40B4-BE49-F238E27FC236}">
                <a16:creationId xmlns:a16="http://schemas.microsoft.com/office/drawing/2014/main" id="{95644EE8-F83F-26D8-BDD0-7AEB29C6F7AA}"/>
              </a:ext>
            </a:extLst>
          </p:cNvPr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33</a:t>
            </a:r>
            <a:endParaRPr lang="en-US" sz="900"/>
          </a:p>
        </p:txBody>
      </p:sp>
      <p:graphicFrame>
        <p:nvGraphicFramePr>
          <p:cNvPr id="8" name="Θέση περιεχομένου 3">
            <a:extLst>
              <a:ext uri="{FF2B5EF4-FFF2-40B4-BE49-F238E27FC236}">
                <a16:creationId xmlns:a16="http://schemas.microsoft.com/office/drawing/2014/main" id="{BA0BFFE8-98F4-FA41-F3FB-2CAC24EA38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6579094"/>
              </p:ext>
            </p:extLst>
          </p:nvPr>
        </p:nvGraphicFramePr>
        <p:xfrm>
          <a:off x="1314249" y="1445670"/>
          <a:ext cx="9441582" cy="40130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47194">
                  <a:extLst>
                    <a:ext uri="{9D8B030D-6E8A-4147-A177-3AD203B41FA5}">
                      <a16:colId xmlns:a16="http://schemas.microsoft.com/office/drawing/2014/main" val="3632076934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2536072196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1144733721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r>
                        <a:rPr lang="en-US" sz="1600" b="1" dirty="0"/>
                        <a:t>Crumple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Agile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Waterfall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0214098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 dirty="0"/>
                        <a:t>Team structure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Interfunctional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self-organized</a:t>
                      </a:r>
                      <a:r>
                        <a:rPr lang="en-US" sz="1600" dirty="0"/>
                        <a:t> groups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Specialized, hierarchical groups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62870049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n-US" sz="1600" dirty="0"/>
                        <a:t>Documentation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Minimal, focus on functional software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Extensive, detailed documentation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9342850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n-US" sz="1600" dirty="0"/>
                        <a:t>Project visibility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High, due to regular reviews and demonstrations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Low, visibility only at specific landmarks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378076610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r>
                        <a:rPr lang="en-US" sz="1600" dirty="0"/>
                        <a:t>Risk management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Early risk detection and mitigation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Risks may not be discovered until late in the project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2046410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 dirty="0"/>
                        <a:t>Time to market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Faster, as features are provided gradually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Later, as the entire product is delivered in one go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65522415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 dirty="0"/>
                        <a:t>Project control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Decentralized, team-based decision-making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Centralized, strict control from top to bottom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88381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9093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 dirty="0">
                <a:solidFill>
                  <a:srgbClr val="172033"/>
                </a:solidFill>
                <a:latin typeface="Aptos"/>
              </a:rPr>
              <a:t>Agile vs Waterfall</a:t>
            </a:r>
            <a:endParaRPr lang="en-US" sz="2800" dirty="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594360" y="1536192"/>
            <a:ext cx="274320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813816" y="1682496"/>
            <a:ext cx="23408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25B7A5"/>
                </a:solidFill>
                <a:latin typeface="Aptos"/>
              </a:rPr>
              <a:t>AGILE • +</a:t>
            </a:r>
            <a:endParaRPr lang="en-US" sz="1000" dirty="0"/>
          </a:p>
        </p:txBody>
      </p:sp>
      <p:sp>
        <p:nvSpPr>
          <p:cNvPr id="23" name="Text 23"/>
          <p:cNvSpPr/>
          <p:nvPr/>
        </p:nvSpPr>
        <p:spPr>
          <a:xfrm>
            <a:off x="813816" y="1993392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Advantages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813816" y="2432304"/>
            <a:ext cx="2340864" cy="2953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Quick feedback.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Timely value.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Better adaptation.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Visible risk.</a:t>
            </a:r>
            <a:endParaRPr lang="en-US" sz="1400"/>
          </a:p>
        </p:txBody>
      </p:sp>
      <p:sp>
        <p:nvSpPr>
          <p:cNvPr id="30" name="Box 30"/>
          <p:cNvSpPr/>
          <p:nvPr/>
        </p:nvSpPr>
        <p:spPr>
          <a:xfrm>
            <a:off x="3520440" y="1536192"/>
            <a:ext cx="274320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3739896" y="1682496"/>
            <a:ext cx="23408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D06B4F"/>
                </a:solidFill>
                <a:latin typeface="Aptos"/>
              </a:rPr>
              <a:t>AGILE • −</a:t>
            </a:r>
            <a:endParaRPr lang="en-US" sz="1000"/>
          </a:p>
        </p:txBody>
      </p:sp>
      <p:sp>
        <p:nvSpPr>
          <p:cNvPr id="33" name="Text 33"/>
          <p:cNvSpPr/>
          <p:nvPr/>
        </p:nvSpPr>
        <p:spPr>
          <a:xfrm>
            <a:off x="3739896" y="1993392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Challenges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3739896" y="2432304"/>
            <a:ext cx="2340864" cy="2953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Requires an active client.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Difficult to predict full scope.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It takes a mature, collaborative team.</a:t>
            </a:r>
            <a:endParaRPr lang="en-US" sz="1400"/>
          </a:p>
        </p:txBody>
      </p:sp>
      <p:sp>
        <p:nvSpPr>
          <p:cNvPr id="40" name="Box 40"/>
          <p:cNvSpPr/>
          <p:nvPr/>
        </p:nvSpPr>
        <p:spPr>
          <a:xfrm>
            <a:off x="6446520" y="1536192"/>
            <a:ext cx="251460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6665976" y="1682496"/>
            <a:ext cx="2112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5B7CFA"/>
                </a:solidFill>
                <a:latin typeface="Aptos"/>
              </a:rPr>
              <a:t>WATERFALL • +</a:t>
            </a:r>
            <a:endParaRPr lang="en-US" sz="1000"/>
          </a:p>
        </p:txBody>
      </p:sp>
      <p:sp>
        <p:nvSpPr>
          <p:cNvPr id="43" name="Text 43"/>
          <p:cNvSpPr/>
          <p:nvPr/>
        </p:nvSpPr>
        <p:spPr>
          <a:xfrm>
            <a:off x="6665976" y="1993392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Advantages</a:t>
            </a:r>
            <a:endParaRPr lang="en-US" sz="1700"/>
          </a:p>
        </p:txBody>
      </p:sp>
      <p:sp>
        <p:nvSpPr>
          <p:cNvPr id="44" name="Text 44"/>
          <p:cNvSpPr/>
          <p:nvPr/>
        </p:nvSpPr>
        <p:spPr>
          <a:xfrm>
            <a:off x="6665976" y="2432304"/>
            <a:ext cx="2112264" cy="2953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Clear milestones.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Strong documentation.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Easier initial contracting.</a:t>
            </a:r>
            <a:endParaRPr lang="en-US" sz="1400"/>
          </a:p>
        </p:txBody>
      </p:sp>
      <p:sp>
        <p:nvSpPr>
          <p:cNvPr id="50" name="Box 50"/>
          <p:cNvSpPr/>
          <p:nvPr/>
        </p:nvSpPr>
        <p:spPr>
          <a:xfrm>
            <a:off x="9144000" y="1536192"/>
            <a:ext cx="251460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2" name="Text 52"/>
          <p:cNvSpPr/>
          <p:nvPr/>
        </p:nvSpPr>
        <p:spPr>
          <a:xfrm>
            <a:off x="9363456" y="1682496"/>
            <a:ext cx="2112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6B44C"/>
                </a:solidFill>
                <a:latin typeface="Aptos"/>
              </a:rPr>
              <a:t>WATERFALL • −</a:t>
            </a:r>
            <a:endParaRPr lang="en-US" sz="1000"/>
          </a:p>
        </p:txBody>
      </p:sp>
      <p:sp>
        <p:nvSpPr>
          <p:cNvPr id="53" name="Text 53"/>
          <p:cNvSpPr/>
          <p:nvPr/>
        </p:nvSpPr>
        <p:spPr>
          <a:xfrm>
            <a:off x="9363456" y="1993392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Challenges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9363456" y="2432304"/>
            <a:ext cx="2112264" cy="2953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Feedback late.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High switching costs.</a:t>
            </a:r>
            <a:endParaRPr lang="en-US" sz="1400"/>
          </a:p>
          <a:p>
            <a:pPr algn="l"/>
            <a:r>
              <a:rPr lang="en-US" sz="1400">
                <a:solidFill>
                  <a:srgbClr val="536174"/>
                </a:solidFill>
                <a:latin typeface="Aptos"/>
              </a:rPr>
              <a:t>There is a great risk of building the wrong solution.</a:t>
            </a:r>
            <a:endParaRPr lang="en-US" sz="1400"/>
          </a:p>
        </p:txBody>
      </p:sp>
      <p:sp>
        <p:nvSpPr>
          <p:cNvPr id="60" name="Text 60"/>
          <p:cNvSpPr/>
          <p:nvPr/>
        </p:nvSpPr>
        <p:spPr>
          <a:xfrm>
            <a:off x="914400" y="57607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536174"/>
                </a:solidFill>
                <a:latin typeface="Aptos"/>
              </a:rPr>
              <a:t>Many real projects are hybrid: predictable points with iterative development where there is uncertainty.</a:t>
            </a:r>
            <a:endParaRPr lang="en-US" sz="14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42</a:t>
            </a:r>
            <a:endParaRPr lang="en-US" sz="9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/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Which approach is suitable?</a:t>
            </a:r>
            <a:endParaRPr lang="en-US" sz="2800"/>
          </a:p>
        </p:txBody>
      </p:sp>
      <p:cxnSp>
        <p:nvCxnSpPr>
          <p:cNvPr id="6" name="Line 6"/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336673" y="1572768"/>
            <a:ext cx="205200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22" name="Text 22"/>
          <p:cNvSpPr/>
          <p:nvPr/>
        </p:nvSpPr>
        <p:spPr>
          <a:xfrm>
            <a:off x="556130" y="1719072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25B7A5"/>
                </a:solidFill>
                <a:latin typeface="Aptos"/>
              </a:rPr>
              <a:t>SCRUM</a:t>
            </a:r>
            <a:endParaRPr lang="en-US" sz="1400" dirty="0"/>
          </a:p>
        </p:txBody>
      </p:sp>
      <p:sp>
        <p:nvSpPr>
          <p:cNvPr id="23" name="Text 23"/>
          <p:cNvSpPr/>
          <p:nvPr/>
        </p:nvSpPr>
        <p:spPr>
          <a:xfrm>
            <a:off x="556130" y="2029968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Composite product</a:t>
            </a:r>
            <a:endParaRPr lang="en-US" sz="1700"/>
          </a:p>
        </p:txBody>
      </p:sp>
      <p:sp>
        <p:nvSpPr>
          <p:cNvPr id="24" name="Text 24"/>
          <p:cNvSpPr/>
          <p:nvPr/>
        </p:nvSpPr>
        <p:spPr>
          <a:xfrm>
            <a:off x="556130" y="2468880"/>
            <a:ext cx="1804685" cy="2679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Frequent product choices, a common goal, and a steady pace are needed.</a:t>
            </a:r>
            <a:endParaRPr lang="en-US" sz="1400" dirty="0"/>
          </a:p>
        </p:txBody>
      </p:sp>
      <p:sp>
        <p:nvSpPr>
          <p:cNvPr id="30" name="Box 30"/>
          <p:cNvSpPr/>
          <p:nvPr/>
        </p:nvSpPr>
        <p:spPr>
          <a:xfrm>
            <a:off x="2608129" y="1531620"/>
            <a:ext cx="219600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32" name="Text 32"/>
          <p:cNvSpPr/>
          <p:nvPr/>
        </p:nvSpPr>
        <p:spPr>
          <a:xfrm>
            <a:off x="2827585" y="167792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5B7CFA"/>
                </a:solidFill>
                <a:latin typeface="Aptos"/>
              </a:rPr>
              <a:t>XP</a:t>
            </a:r>
            <a:endParaRPr lang="en-US" sz="1400" dirty="0"/>
          </a:p>
        </p:txBody>
      </p:sp>
      <p:sp>
        <p:nvSpPr>
          <p:cNvPr id="33" name="Text 33"/>
          <p:cNvSpPr/>
          <p:nvPr/>
        </p:nvSpPr>
        <p:spPr>
          <a:xfrm>
            <a:off x="2827585" y="198882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Technical risk</a:t>
            </a:r>
            <a:endParaRPr lang="en-US" sz="1700"/>
          </a:p>
        </p:txBody>
      </p:sp>
      <p:sp>
        <p:nvSpPr>
          <p:cNvPr id="34" name="Text 34"/>
          <p:cNvSpPr/>
          <p:nvPr/>
        </p:nvSpPr>
        <p:spPr>
          <a:xfrm>
            <a:off x="2827585" y="2427732"/>
            <a:ext cx="1678099" cy="2679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Code quality and safe frequent change are critical.</a:t>
            </a:r>
            <a:endParaRPr lang="en-US" sz="1400" dirty="0"/>
          </a:p>
        </p:txBody>
      </p:sp>
      <p:sp>
        <p:nvSpPr>
          <p:cNvPr id="40" name="Box 40"/>
          <p:cNvSpPr/>
          <p:nvPr/>
        </p:nvSpPr>
        <p:spPr>
          <a:xfrm>
            <a:off x="5023585" y="1531620"/>
            <a:ext cx="205200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42" name="Text 42"/>
          <p:cNvSpPr/>
          <p:nvPr/>
        </p:nvSpPr>
        <p:spPr>
          <a:xfrm>
            <a:off x="5343189" y="1677924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F6B44C"/>
                </a:solidFill>
                <a:latin typeface="Aptos"/>
              </a:rPr>
              <a:t>KANBAN</a:t>
            </a:r>
            <a:endParaRPr lang="en-US" sz="1400" dirty="0"/>
          </a:p>
        </p:txBody>
      </p:sp>
      <p:sp>
        <p:nvSpPr>
          <p:cNvPr id="43" name="Text 43"/>
          <p:cNvSpPr/>
          <p:nvPr/>
        </p:nvSpPr>
        <p:spPr>
          <a:xfrm>
            <a:off x="5343189" y="198882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72033"/>
                </a:solidFill>
                <a:latin typeface="Aptos"/>
              </a:rPr>
              <a:t>Continuous flow</a:t>
            </a:r>
            <a:endParaRPr lang="en-US" sz="1700" dirty="0"/>
          </a:p>
        </p:txBody>
      </p:sp>
      <p:sp>
        <p:nvSpPr>
          <p:cNvPr id="44" name="Text 44"/>
          <p:cNvSpPr/>
          <p:nvPr/>
        </p:nvSpPr>
        <p:spPr>
          <a:xfrm>
            <a:off x="5243041" y="2427732"/>
            <a:ext cx="1790135" cy="2679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536174"/>
                </a:solidFill>
                <a:latin typeface="Aptos"/>
              </a:rPr>
              <a:t>Unforeseen influx,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operations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/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support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or need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evolutionarychange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.</a:t>
            </a:r>
            <a:endParaRPr lang="en-US" sz="1400" dirty="0"/>
          </a:p>
        </p:txBody>
      </p:sp>
      <p:sp>
        <p:nvSpPr>
          <p:cNvPr id="50" name="Box 50"/>
          <p:cNvSpPr/>
          <p:nvPr/>
        </p:nvSpPr>
        <p:spPr>
          <a:xfrm>
            <a:off x="7295041" y="1476756"/>
            <a:ext cx="205200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52" name="Text 52"/>
          <p:cNvSpPr/>
          <p:nvPr/>
        </p:nvSpPr>
        <p:spPr>
          <a:xfrm>
            <a:off x="7514497" y="1623060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D06B4F"/>
                </a:solidFill>
                <a:latin typeface="Aptos"/>
              </a:rPr>
              <a:t>CRYSTAL</a:t>
            </a:r>
            <a:endParaRPr lang="en-US" sz="1400" dirty="0"/>
          </a:p>
        </p:txBody>
      </p:sp>
      <p:sp>
        <p:nvSpPr>
          <p:cNvPr id="53" name="Text 53"/>
          <p:cNvSpPr/>
          <p:nvPr/>
        </p:nvSpPr>
        <p:spPr>
          <a:xfrm>
            <a:off x="7514497" y="1933956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Frame</a:t>
            </a:r>
            <a:endParaRPr lang="en-US" sz="1700"/>
          </a:p>
        </p:txBody>
      </p:sp>
      <p:sp>
        <p:nvSpPr>
          <p:cNvPr id="54" name="Text 54"/>
          <p:cNvSpPr/>
          <p:nvPr/>
        </p:nvSpPr>
        <p:spPr>
          <a:xfrm>
            <a:off x="7514497" y="2372868"/>
            <a:ext cx="1524400" cy="2679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 err="1">
                <a:solidFill>
                  <a:srgbClr val="536174"/>
                </a:solidFill>
                <a:latin typeface="Aptos"/>
              </a:rPr>
              <a:t>Crystal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for</a:t>
            </a:r>
            <a:r>
              <a:rPr lang="en-US" sz="1400" dirty="0" err="1">
                <a:solidFill>
                  <a:srgbClr val="536174"/>
                </a:solidFill>
                <a:latin typeface="Aptos"/>
              </a:rPr>
              <a:t> context-sensitive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small groups</a:t>
            </a:r>
            <a:endParaRPr lang="en-US" sz="1400" dirty="0"/>
          </a:p>
        </p:txBody>
      </p:sp>
      <p:sp>
        <p:nvSpPr>
          <p:cNvPr id="60" name="Text 60"/>
          <p:cNvSpPr/>
          <p:nvPr/>
        </p:nvSpPr>
        <p:spPr>
          <a:xfrm>
            <a:off x="914400" y="5596128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Methods are not religions: we choose and adapt based on risk, flow, criticality, and feedback.</a:t>
            </a:r>
            <a:endParaRPr lang="en-US" sz="1500"/>
          </a:p>
        </p:txBody>
      </p:sp>
      <p:sp>
        <p:nvSpPr>
          <p:cNvPr id="900" name="Text 900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43</a:t>
            </a:r>
            <a:endParaRPr lang="en-US" sz="900"/>
          </a:p>
        </p:txBody>
      </p:sp>
      <p:sp>
        <p:nvSpPr>
          <p:cNvPr id="7" name="Box 50">
            <a:extLst>
              <a:ext uri="{FF2B5EF4-FFF2-40B4-BE49-F238E27FC236}">
                <a16:creationId xmlns:a16="http://schemas.microsoft.com/office/drawing/2014/main" id="{1CF616E9-5362-CF8B-31D1-4A2ECAFF044B}"/>
              </a:ext>
            </a:extLst>
          </p:cNvPr>
          <p:cNvSpPr/>
          <p:nvPr/>
        </p:nvSpPr>
        <p:spPr>
          <a:xfrm>
            <a:off x="9685805" y="1476756"/>
            <a:ext cx="205200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</p:sp>
      <p:sp>
        <p:nvSpPr>
          <p:cNvPr id="9" name="Text 52">
            <a:extLst>
              <a:ext uri="{FF2B5EF4-FFF2-40B4-BE49-F238E27FC236}">
                <a16:creationId xmlns:a16="http://schemas.microsoft.com/office/drawing/2014/main" id="{68F1458C-7075-8268-0558-2ED6CA728531}"/>
              </a:ext>
            </a:extLst>
          </p:cNvPr>
          <p:cNvSpPr/>
          <p:nvPr/>
        </p:nvSpPr>
        <p:spPr>
          <a:xfrm>
            <a:off x="9905261" y="1623060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7030A0"/>
                </a:solidFill>
                <a:latin typeface="Aptos"/>
              </a:rPr>
              <a:t>WATERFALL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1" name="Text 53">
            <a:extLst>
              <a:ext uri="{FF2B5EF4-FFF2-40B4-BE49-F238E27FC236}">
                <a16:creationId xmlns:a16="http://schemas.microsoft.com/office/drawing/2014/main" id="{8E81DF11-5CAC-D416-BDAC-BA513A9BD858}"/>
              </a:ext>
            </a:extLst>
          </p:cNvPr>
          <p:cNvSpPr/>
          <p:nvPr/>
        </p:nvSpPr>
        <p:spPr>
          <a:xfrm>
            <a:off x="9905261" y="1933956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172033"/>
                </a:solidFill>
                <a:latin typeface="Aptos"/>
              </a:rPr>
              <a:t>Frame</a:t>
            </a:r>
            <a:endParaRPr lang="en-US" sz="1700"/>
          </a:p>
        </p:txBody>
      </p:sp>
      <p:sp>
        <p:nvSpPr>
          <p:cNvPr id="13" name="Text 54">
            <a:extLst>
              <a:ext uri="{FF2B5EF4-FFF2-40B4-BE49-F238E27FC236}">
                <a16:creationId xmlns:a16="http://schemas.microsoft.com/office/drawing/2014/main" id="{4AF0BED7-B6DF-B4F1-3681-19C4DF062E60}"/>
              </a:ext>
            </a:extLst>
          </p:cNvPr>
          <p:cNvSpPr/>
          <p:nvPr/>
        </p:nvSpPr>
        <p:spPr>
          <a:xfrm>
            <a:off x="9905261" y="2372868"/>
            <a:ext cx="1730609" cy="2679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 err="1">
                <a:solidFill>
                  <a:srgbClr val="536174"/>
                </a:solidFill>
                <a:latin typeface="Aptos"/>
              </a:rPr>
              <a:t>Waterfall</a:t>
            </a:r>
            <a:r>
              <a:rPr lang="en-US" sz="1400" dirty="0">
                <a:solidFill>
                  <a:srgbClr val="536174"/>
                </a:solidFill>
                <a:latin typeface="Aptos"/>
              </a:rPr>
              <a:t> when requirements and technology are stable.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74497-1EDD-1F6D-1EE8-680C26D5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>
            <a:extLst>
              <a:ext uri="{FF2B5EF4-FFF2-40B4-BE49-F238E27FC236}">
                <a16:creationId xmlns:a16="http://schemas.microsoft.com/office/drawing/2014/main" id="{28B196A8-F149-17FF-FBB9-8F85EF4B3E9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</p:sp>
      <p:sp>
        <p:nvSpPr>
          <p:cNvPr id="3" name="Box 3">
            <a:extLst>
              <a:ext uri="{FF2B5EF4-FFF2-40B4-BE49-F238E27FC236}">
                <a16:creationId xmlns:a16="http://schemas.microsoft.com/office/drawing/2014/main" id="{3F9B5EAF-26FE-4E89-09F8-D052B8F09C33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B7A5"/>
          </a:solidFill>
          <a:ln w="12700">
            <a:solidFill>
              <a:srgbClr val="25B7A5"/>
            </a:solidFill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33869EFE-B116-AEBD-1C91-842E0B71E7AD}"/>
              </a:ext>
            </a:extLst>
          </p:cNvPr>
          <p:cNvSpPr/>
          <p:nvPr/>
        </p:nvSpPr>
        <p:spPr>
          <a:xfrm>
            <a:off x="502920" y="438912"/>
            <a:ext cx="110642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172033"/>
                </a:solidFill>
                <a:latin typeface="Aptos"/>
              </a:rPr>
              <a:t>Tools Agile</a:t>
            </a:r>
            <a:endParaRPr lang="en-US" sz="2800" dirty="0"/>
          </a:p>
        </p:txBody>
      </p:sp>
      <p:cxnSp>
        <p:nvCxnSpPr>
          <p:cNvPr id="6" name="Line 6">
            <a:extLst>
              <a:ext uri="{FF2B5EF4-FFF2-40B4-BE49-F238E27FC236}">
                <a16:creationId xmlns:a16="http://schemas.microsoft.com/office/drawing/2014/main" id="{AD8BD5BB-9B0B-36C7-BF42-9F45889CB919}"/>
              </a:ext>
            </a:extLst>
          </p:cNvPr>
          <p:cNvCxnSpPr/>
          <p:nvPr/>
        </p:nvCxnSpPr>
        <p:spPr>
          <a:xfrm>
            <a:off x="502920" y="1261872"/>
            <a:ext cx="11064240" cy="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900" name="Text 900">
            <a:extLst>
              <a:ext uri="{FF2B5EF4-FFF2-40B4-BE49-F238E27FC236}">
                <a16:creationId xmlns:a16="http://schemas.microsoft.com/office/drawing/2014/main" id="{A5001D0F-A84C-A011-CC63-BC4E02E27C01}"/>
              </a:ext>
            </a:extLst>
          </p:cNvPr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>
                <a:solidFill>
                  <a:srgbClr val="7A8699"/>
                </a:solidFill>
                <a:latin typeface="Aptos"/>
              </a:rPr>
              <a:t>Software Technology • Ionian University</a:t>
            </a:r>
            <a:endParaRPr lang="en-US" sz="900"/>
          </a:p>
        </p:txBody>
      </p:sp>
      <p:sp>
        <p:nvSpPr>
          <p:cNvPr id="902" name="Text 902">
            <a:extLst>
              <a:ext uri="{FF2B5EF4-FFF2-40B4-BE49-F238E27FC236}">
                <a16:creationId xmlns:a16="http://schemas.microsoft.com/office/drawing/2014/main" id="{B068A66D-072A-B85D-8E89-F6187AA2A02B}"/>
              </a:ext>
            </a:extLst>
          </p:cNvPr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1">
                <a:solidFill>
                  <a:srgbClr val="7A8699"/>
                </a:solidFill>
                <a:latin typeface="Aptos"/>
              </a:rPr>
              <a:t>33</a:t>
            </a:r>
            <a:endParaRPr lang="en-US" sz="900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D3282E6D-89C1-ADBD-8637-F067E0CD5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47" y="0"/>
            <a:ext cx="3880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450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2772</TotalTime>
  <Words>3043</Words>
  <Application>Microsoft Office PowerPoint</Application>
  <PresentationFormat>Ευρεία οθόνη</PresentationFormat>
  <Paragraphs>659</Paragraphs>
  <Slides>47</Slides>
  <Notes>1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47</vt:i4>
      </vt:variant>
    </vt:vector>
  </HeadingPairs>
  <TitlesOfParts>
    <vt:vector size="55" baseType="lpstr">
      <vt:lpstr>Aptos</vt:lpstr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SOFTWARE ENGINEERING  Agile Methodology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AI_01_Εισαγωγή</dc:title>
  <dc:creator>Georgios Dimitrakopoulos</dc:creator>
  <cp:lastModifiedBy>GEORGIOS DIMITRAKOPOULOS</cp:lastModifiedBy>
  <cp:revision>275</cp:revision>
  <dcterms:created xsi:type="dcterms:W3CDTF">2019-05-13T10:41:40Z</dcterms:created>
  <dcterms:modified xsi:type="dcterms:W3CDTF">2026-10-14T15:03:34Z</dcterms:modified>
</cp:coreProperties>
</file>