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78" r:id="rId12"/>
    <p:sldId id="279" r:id="rId13"/>
    <p:sldId id="280" r:id="rId14"/>
    <p:sldId id="259" r:id="rId15"/>
    <p:sldId id="281" r:id="rId16"/>
    <p:sldId id="260" r:id="rId17"/>
    <p:sldId id="271" r:id="rId18"/>
    <p:sldId id="268" r:id="rId19"/>
    <p:sldId id="270" r:id="rId20"/>
    <p:sldId id="269" r:id="rId21"/>
    <p:sldId id="272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3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3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9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71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9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3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0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5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8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455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7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4072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05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93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5039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Στυλ κειμένου υποδείγματος</a:t>
            </a:r>
          </a:p>
          <a:p>
            <a:pPr lvl="1"/>
            <a:r>
              <a:rPr lang="en-US"/>
              <a:t>Δεύτερο επίπεδο</a:t>
            </a:r>
          </a:p>
          <a:p>
            <a:pPr lvl="2"/>
            <a:r>
              <a:rPr lang="en-US"/>
              <a:t>Τρίτο επίπεδο</a:t>
            </a:r>
          </a:p>
          <a:p>
            <a:pPr lvl="3"/>
            <a:r>
              <a:rPr lang="en-US"/>
              <a:t>Τέταρτο επίπεδο</a:t>
            </a:r>
          </a:p>
          <a:p>
            <a:pPr lvl="4"/>
            <a:r>
              <a:rPr lang="en-US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9C3C4-525E-49BB-B174-249FBB5A5187}" type="datetimeFigureOut">
              <a:rPr lang="en-US" smtClean="0"/>
              <a:t>23/10/2025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8323565-F82B-48A0-86EB-D6D703B7C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7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../media/image7.GIF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6.pdf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570294-C9A7-B4AD-7651-1C235DAE1A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Technology</a:t>
            </a:r>
            <a:r>
              <a:rPr lang="en-US" dirty="0"/>
              <a:t xml:space="preserve"> UML</a:t>
            </a:r>
            <a:endParaRPr lang="en-US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E22A6D8-BC87-9D70-8CF0-C277C004FD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George Dimitrakopoulos</a:t>
            </a:r>
          </a:p>
        </p:txBody>
      </p:sp>
    </p:spTree>
    <p:extLst>
      <p:ext uri="{BB962C8B-B14F-4D97-AF65-F5344CB8AC3E}">
        <p14:creationId xmlns:p14="http://schemas.microsoft.com/office/powerpoint/2010/main" val="1991872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45C8ECE-3106-7D95-1F75-E2D787A2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	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3C1A649-E24B-ADEE-8A70-196B514E0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Unified Modeling Language</a:t>
            </a:r>
          </a:p>
          <a:p>
            <a:r>
              <a:rPr lang="en-US" dirty="0"/>
              <a:t>Standard language for designing and modeling software engineering.</a:t>
            </a:r>
            <a:endParaRPr lang="en-US" dirty="0"/>
          </a:p>
          <a:p>
            <a:r>
              <a:rPr lang="en-US" dirty="0"/>
              <a:t>It is used to graphically display, identify, construct, and document the elements of a</a:t>
            </a:r>
            <a:r>
              <a:rPr lang="en-US" dirty="0"/>
              <a:t/>
            </a:r>
            <a:r>
              <a:rPr lang="en-US" dirty="0"/>
              <a:t>software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5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B80AA6D-4311-0F67-D156-55AEBEA5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</a:t>
            </a:r>
            <a:r>
              <a:rPr lang="en-US" dirty="0"/>
              <a:t xml:space="preserve"> UML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93D8D40-EE71-13F3-CC17-A89174A01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43" y="2160588"/>
            <a:ext cx="6958751" cy="3881437"/>
          </a:xfrm>
        </p:spPr>
      </p:pic>
    </p:spTree>
    <p:extLst>
      <p:ext uri="{BB962C8B-B14F-4D97-AF65-F5344CB8AC3E}">
        <p14:creationId xmlns:p14="http://schemas.microsoft.com/office/powerpoint/2010/main" val="309938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F23680B-4163-7317-80B7-E63F8696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diagrams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0D09789-4049-00EA-2CC0-66516EA22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/>
          </a:bodyPr>
          <a:lstStyle/>
          <a:p>
            <a:r>
              <a:rPr lang="en-US" dirty="0"/>
              <a:t>Activity diagrams (</a:t>
            </a:r>
            <a:r>
              <a:rPr lang="en-US" dirty="0" err="1"/>
              <a:t>Activity</a:t>
            </a:r>
            <a:r>
              <a:rPr lang="en-US" dirty="0"/>
              <a:t/>
            </a:r>
            <a:r>
              <a:rPr lang="en-US" dirty="0" err="1"/>
              <a:t>diagrams</a:t>
            </a:r>
            <a:r>
              <a:rPr lang="en-US" dirty="0"/>
              <a:t>), which show the activities involved in a process or data processing.</a:t>
            </a:r>
          </a:p>
          <a:p>
            <a:r>
              <a:rPr lang="en-US" dirty="0"/>
              <a:t>Use case diagrams (</a:t>
            </a:r>
            <a:r>
              <a:rPr lang="en-US" dirty="0" err="1"/>
              <a:t>Use</a:t>
            </a:r>
            <a:r>
              <a:rPr lang="en-US" dirty="0"/>
              <a:t/>
            </a:r>
            <a:r>
              <a:rPr lang="en-US" dirty="0" err="1"/>
              <a:t>case</a:t>
            </a:r>
            <a:r>
              <a:rPr lang="en-US" dirty="0"/>
              <a:t/>
            </a:r>
            <a:r>
              <a:rPr lang="en-US" dirty="0" err="1"/>
              <a:t>diagrams</a:t>
            </a:r>
            <a:r>
              <a:rPr lang="en-US" dirty="0"/>
              <a:t>), which present the interactions between a system and its environment.</a:t>
            </a:r>
          </a:p>
          <a:p>
            <a:r>
              <a:rPr lang="en-US" dirty="0"/>
              <a:t>Sequence diagrams (</a:t>
            </a:r>
            <a:r>
              <a:rPr lang="en-US" dirty="0" err="1"/>
              <a:t>Sequence</a:t>
            </a:r>
            <a:r>
              <a:rPr lang="en-US" dirty="0"/>
              <a:t/>
            </a:r>
            <a:r>
              <a:rPr lang="en-US" dirty="0" err="1"/>
              <a:t>diagrams</a:t>
            </a:r>
            <a:r>
              <a:rPr lang="en-US" dirty="0"/>
              <a:t>), which depict interactions between users (</a:t>
            </a:r>
            <a:r>
              <a:rPr lang="en-US" dirty="0" err="1"/>
              <a:t>actors</a:t>
            </a:r>
            <a:r>
              <a:rPr lang="en-US" dirty="0"/>
              <a:t>) and the system, as well as between the individual elements of the system.</a:t>
            </a:r>
          </a:p>
          <a:p>
            <a:r>
              <a:rPr lang="en-US" dirty="0"/>
              <a:t>Class diagrams (</a:t>
            </a:r>
            <a:r>
              <a:rPr lang="en-US" dirty="0" err="1"/>
              <a:t>Class</a:t>
            </a:r>
            <a:r>
              <a:rPr lang="en-US" dirty="0"/>
              <a:t/>
            </a:r>
            <a:r>
              <a:rPr lang="en-US" dirty="0" err="1"/>
              <a:t>diagrams</a:t>
            </a:r>
            <a:r>
              <a:rPr lang="en-US" dirty="0"/>
              <a:t>), which show the classes of objects within the system and the relationships between these classes.</a:t>
            </a:r>
          </a:p>
          <a:p>
            <a:r>
              <a:rPr lang="en-US" dirty="0"/>
              <a:t>State diagrams (</a:t>
            </a:r>
            <a:r>
              <a:rPr lang="en-US" dirty="0" err="1"/>
              <a:t>State</a:t>
            </a:r>
            <a:r>
              <a:rPr lang="en-US" dirty="0"/>
              <a:t/>
            </a:r>
            <a:r>
              <a:rPr lang="en-US" dirty="0" err="1"/>
              <a:t>diagrams</a:t>
            </a:r>
            <a:r>
              <a:rPr lang="en-US" dirty="0"/>
              <a:t>), which show how the system reacts to internal and external events.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55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260AFE6-0E11-A369-8050-676EF7F5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7" name="Θέση περιεχομένου 6">
            <a:extLst>
              <a:ext uri="{FF2B5EF4-FFF2-40B4-BE49-F238E27FC236}">
                <a16:creationId xmlns:a16="http://schemas.microsoft.com/office/drawing/2014/main" id="{9142E4A5-6FB4-49C0-DE5D-F03BB11EA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297" y="2654175"/>
            <a:ext cx="3875718" cy="2067050"/>
          </a:xfrm>
        </p:spPr>
      </p:pic>
      <p:pic>
        <p:nvPicPr>
          <p:cNvPr id="9" name="Εικόνα 8">
            <a:extLst>
              <a:ext uri="{FF2B5EF4-FFF2-40B4-BE49-F238E27FC236}">
                <a16:creationId xmlns:a16="http://schemas.microsoft.com/office/drawing/2014/main" id="{A7BAB9DB-D12E-5CD1-574E-110C4FC00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987" y="2584212"/>
            <a:ext cx="3325147" cy="25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1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9AC65DC-E0B6-457E-7E5B-72276CA5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302408" cy="1320800"/>
          </a:xfrm>
        </p:spPr>
        <p:txBody>
          <a:bodyPr/>
          <a:lstStyle/>
          <a:p>
            <a:r>
              <a:rPr lang="en-US" dirty="0"/>
              <a:t>Examples</a:t>
            </a:r>
            <a:r>
              <a:rPr lang="en-US" dirty="0"/>
              <a:t> – aggregation, composition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8BE7189A-8626-1366-5E05-1C0687F0A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081" y="3458369"/>
            <a:ext cx="3571875" cy="1285875"/>
          </a:xfrm>
        </p:spPr>
      </p:pic>
    </p:spTree>
    <p:extLst>
      <p:ext uri="{BB962C8B-B14F-4D97-AF65-F5344CB8AC3E}">
        <p14:creationId xmlns:p14="http://schemas.microsoft.com/office/powerpoint/2010/main" val="241729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AD1B5A-3BFD-14B5-F2A2-7F11CA55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Multiplicity</a:t>
            </a:r>
            <a:r>
              <a:rPr lang="en-US" dirty="0"/>
              <a:t> (</a:t>
            </a:r>
            <a:r>
              <a:rPr lang="en-US" dirty="0"/>
              <a:t>cardinality)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D8D1DE2-B6E3-ED59-3801-7532DF276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BC15D8C2-F227-B544-9025-9FB09A111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53" y="2629157"/>
            <a:ext cx="3334215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15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DEFA0A-98E8-5055-F66F-FA4F27D2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r>
              <a:rPr lang="en-US" dirty="0"/>
              <a:t> - inheritance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BDA2D8AC-D85A-B28E-60E6-75535D81D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894" y="3225006"/>
            <a:ext cx="4286250" cy="1752600"/>
          </a:xfrm>
        </p:spPr>
      </p:pic>
    </p:spTree>
    <p:extLst>
      <p:ext uri="{BB962C8B-B14F-4D97-AF65-F5344CB8AC3E}">
        <p14:creationId xmlns:p14="http://schemas.microsoft.com/office/powerpoint/2010/main" val="90924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CF654A6-6839-7A95-0539-D89811A9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5B6276A5-078D-85E7-3991-B6D6E2480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25" y="2160588"/>
            <a:ext cx="3943187" cy="3881437"/>
          </a:xfrm>
        </p:spPr>
      </p:pic>
    </p:spTree>
    <p:extLst>
      <p:ext uri="{BB962C8B-B14F-4D97-AF65-F5344CB8AC3E}">
        <p14:creationId xmlns:p14="http://schemas.microsoft.com/office/powerpoint/2010/main" val="328230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055F50A-3C8A-793C-20A7-2EDD778C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71E53E73-7789-FFF0-6148-2508E4923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127" y="1930400"/>
            <a:ext cx="6594674" cy="38814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EF4D5A-92B5-BDE4-5D1E-8324E323043E}"/>
              </a:ext>
            </a:extLst>
          </p:cNvPr>
          <p:cNvSpPr txBox="1"/>
          <p:nvPr/>
        </p:nvSpPr>
        <p:spPr>
          <a:xfrm>
            <a:off x="1143000" y="5182051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Two types of nodes</a:t>
            </a:r>
            <a:r>
              <a:rPr lang="en-US" dirty="0"/>
              <a:t>: </a:t>
            </a:r>
          </a:p>
          <a:p>
            <a:pPr>
              <a:buFont typeface="+mj-lt"/>
              <a:buAutoNum type="arabicPeriod"/>
            </a:pPr>
            <a:r>
              <a:rPr lang="en-US" dirty="0"/>
              <a:t>Device Node</a:t>
            </a:r>
          </a:p>
          <a:p>
            <a:pPr>
              <a:buFont typeface="+mj-lt"/>
              <a:buAutoNum type="arabicPeriod"/>
            </a:pPr>
            <a:r>
              <a:rPr lang="en-US" dirty="0"/>
              <a:t>Execution Environment Node</a:t>
            </a:r>
          </a:p>
        </p:txBody>
      </p:sp>
    </p:spTree>
    <p:extLst>
      <p:ext uri="{BB962C8B-B14F-4D97-AF65-F5344CB8AC3E}">
        <p14:creationId xmlns:p14="http://schemas.microsoft.com/office/powerpoint/2010/main" val="250570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24ED4AC-F3D1-C74E-ADE5-77FBBB0B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FF4E083-5AF3-E377-CD4E-9C2DB9E8A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345" y="2683617"/>
            <a:ext cx="6829425" cy="11049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60F96E-2452-D99F-C760-A09327ABD572}"/>
              </a:ext>
            </a:extLst>
          </p:cNvPr>
          <p:cNvSpPr txBox="1"/>
          <p:nvPr/>
        </p:nvSpPr>
        <p:spPr>
          <a:xfrm>
            <a:off x="1828800" y="1930400"/>
            <a:ext cx="2989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0 DFD</a:t>
            </a:r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CB281431-A519-1D87-1BAF-2B8B80B65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297" y="3955640"/>
            <a:ext cx="4585519" cy="22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84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725D-A127-BA81-8381-A2C1A004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2D906B6-28AE-50F0-A626-5EDF40A2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E9DD0-36D7-2EEA-82F6-FEEDCCDC10A9}"/>
              </a:ext>
            </a:extLst>
          </p:cNvPr>
          <p:cNvSpPr txBox="1"/>
          <p:nvPr/>
        </p:nvSpPr>
        <p:spPr>
          <a:xfrm>
            <a:off x="1828800" y="1930400"/>
            <a:ext cx="2989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DFD </a:t>
            </a:r>
            <a:r>
              <a:rPr lang="en-US" dirty="0"/>
              <a:t>1</a:t>
            </a:r>
            <a:endParaRPr lang="en-US" dirty="0"/>
          </a:p>
        </p:txBody>
      </p:sp>
      <p:pic>
        <p:nvPicPr>
          <p:cNvPr id="13" name="Θέση περιεχομένου 12">
            <a:extLst>
              <a:ext uri="{FF2B5EF4-FFF2-40B4-BE49-F238E27FC236}">
                <a16:creationId xmlns:a16="http://schemas.microsoft.com/office/drawing/2014/main" id="{EB628D4B-D28A-5E26-2E82-A245D3C92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31" y="2366963"/>
            <a:ext cx="7762874" cy="3881437"/>
          </a:xfrm>
        </p:spPr>
      </p:pic>
    </p:spTree>
    <p:extLst>
      <p:ext uri="{BB962C8B-B14F-4D97-AF65-F5344CB8AC3E}">
        <p14:creationId xmlns:p14="http://schemas.microsoft.com/office/powerpoint/2010/main" val="237950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C5D55-85F6-4FE6-449C-7CA864AF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4DE65A3-5D32-4ABA-4244-41D17E77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A75D8-DDE1-74EC-22A5-66A30521DFFA}"/>
              </a:ext>
            </a:extLst>
          </p:cNvPr>
          <p:cNvSpPr txBox="1"/>
          <p:nvPr/>
        </p:nvSpPr>
        <p:spPr>
          <a:xfrm>
            <a:off x="1828800" y="1930400"/>
            <a:ext cx="2989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DFD </a:t>
            </a:r>
            <a:r>
              <a:rPr lang="en-US" dirty="0"/>
              <a:t>2</a:t>
            </a:r>
            <a:endParaRPr lang="en-US" dirty="0"/>
          </a:p>
        </p:txBody>
      </p:sp>
      <p:pic>
        <p:nvPicPr>
          <p:cNvPr id="12" name="Θέση περιεχομένου 11">
            <a:extLst>
              <a:ext uri="{FF2B5EF4-FFF2-40B4-BE49-F238E27FC236}">
                <a16:creationId xmlns:a16="http://schemas.microsoft.com/office/drawing/2014/main" id="{1B419C17-1211-458A-FF6E-26B238173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31" y="2366963"/>
            <a:ext cx="7762874" cy="3881437"/>
          </a:xfrm>
        </p:spPr>
      </p:pic>
    </p:spTree>
    <p:extLst>
      <p:ext uri="{BB962C8B-B14F-4D97-AF65-F5344CB8AC3E}">
        <p14:creationId xmlns:p14="http://schemas.microsoft.com/office/powerpoint/2010/main" val="1297012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101286C-5AD7-463A-D4EF-E4B90EEE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 (</a:t>
            </a:r>
            <a:r>
              <a:rPr lang="en-US" dirty="0"/>
              <a:t>use case)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BD1167CF-2F26-E5EA-E0E8-37317CB27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394" y="2262981"/>
            <a:ext cx="3905250" cy="3676650"/>
          </a:xfrm>
        </p:spPr>
      </p:pic>
    </p:spTree>
    <p:extLst>
      <p:ext uri="{BB962C8B-B14F-4D97-AF65-F5344CB8AC3E}">
        <p14:creationId xmlns:p14="http://schemas.microsoft.com/office/powerpoint/2010/main" val="1728055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73FB057-A19D-1789-A327-456A53A2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  <a:r>
              <a:rPr lang="en-US" dirty="0"/>
              <a:t xml:space="preserve"> Use case </a:t>
            </a:r>
            <a:r>
              <a:rPr lang="en-US" dirty="0"/>
              <a:t>in a table</a:t>
            </a:r>
          </a:p>
        </p:txBody>
      </p:sp>
      <p:pic>
        <p:nvPicPr>
          <p:cNvPr id="6" name="Picture 3" descr="5.3 UseCase.eps">
            <a:extLst>
              <a:ext uri="{FF2B5EF4-FFF2-40B4-BE49-F238E27FC236}">
                <a16:creationId xmlns:a16="http://schemas.microsoft.com/office/drawing/2014/main" id="{93C017BC-8479-F988-0335-ACEE034C034C}"/>
              </a:ext>
            </a:extLst>
          </p:cNvPr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877962" y="1484647"/>
            <a:ext cx="5494160" cy="891505"/>
          </a:xfrm>
          <a:prstGeom prst="rect">
            <a:avLst/>
          </a:prstGeom>
        </p:spPr>
      </p:pic>
      <p:graphicFrame>
        <p:nvGraphicFramePr>
          <p:cNvPr id="7" name="Πίνακας 6">
            <a:extLst>
              <a:ext uri="{FF2B5EF4-FFF2-40B4-BE49-F238E27FC236}">
                <a16:creationId xmlns:a16="http://schemas.microsoft.com/office/drawing/2014/main" id="{DA190E6D-9215-BE04-0AC8-CEF60C5A9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046895"/>
              </p:ext>
            </p:extLst>
          </p:nvPr>
        </p:nvGraphicFramePr>
        <p:xfrm>
          <a:off x="911668" y="2902427"/>
          <a:ext cx="8128000" cy="3046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189081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4118327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Use Case: data transfer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929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Roles (</a:t>
                      </a:r>
                      <a:r>
                        <a:rPr lang="en-US" sz="900" b="1"/>
                        <a:t>Actors)</a:t>
                      </a:r>
                      <a:endParaRPr lang="en-US" sz="90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Medical receptionist, patient records system (PRS)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3287888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Description (</a:t>
                      </a:r>
                      <a:r>
                        <a:rPr lang="en-US" sz="900" b="1" dirty="0"/>
                        <a:t>Description)</a:t>
                      </a:r>
                      <a:endParaRPr lang="en-US" sz="900" dirty="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The receptionist can transfer data from the MHC-PMS to a general patient record database managed by a health authority. The information transferred can be updated personal details (address, telephone number, etc.) or a summary of the patient's diagnosis and treatment.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1512569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Data (</a:t>
                      </a:r>
                      <a:r>
                        <a:rPr lang="en-US" sz="900" b="1"/>
                        <a:t>Data)</a:t>
                      </a:r>
                      <a:endParaRPr lang="en-US" sz="90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Patient personal information, treatment summary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424213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Stimulus (</a:t>
                      </a:r>
                      <a:r>
                        <a:rPr lang="en-US" sz="900" b="1"/>
                        <a:t>Stimulus)</a:t>
                      </a:r>
                      <a:endParaRPr lang="en-US" sz="90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User order issued by the medical receptionist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304599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Response (</a:t>
                      </a:r>
                      <a:r>
                        <a:rPr lang="en-US" sz="900" b="1"/>
                        <a:t>Response)</a:t>
                      </a:r>
                      <a:endParaRPr lang="en-US" sz="90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Confirmation that the PRS system has been updated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414369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/>
                        <a:t>Comments (</a:t>
                      </a:r>
                      <a:r>
                        <a:rPr lang="en-US" sz="900" b="1"/>
                        <a:t>Comments)</a:t>
                      </a:r>
                      <a:endParaRPr lang="en-US" sz="900"/>
                    </a:p>
                  </a:txBody>
                  <a:tcPr marL="47335" marR="47335" marT="23667" marB="23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The receptionist must have the appropriate security permissions to access patient information and the PRS system.</a:t>
                      </a:r>
                    </a:p>
                  </a:txBody>
                  <a:tcPr marL="47335" marR="47335" marT="23667" marB="23667" anchor="ctr"/>
                </a:tc>
                <a:extLst>
                  <a:ext uri="{0D108BD9-81ED-4DB2-BD59-A6C34878D82A}">
                    <a16:rowId xmlns:a16="http://schemas.microsoft.com/office/drawing/2014/main" val="1862342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357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912B05D-5DD1-B70B-7377-8694AB29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diagram</a:t>
            </a:r>
            <a:r>
              <a:rPr lang="en-US" dirty="0"/>
              <a:t xml:space="preserve"> (Activity)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C9FF549-8A33-175E-E707-9EE67D531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617" y="2160588"/>
            <a:ext cx="3858804" cy="3881437"/>
          </a:xfrm>
        </p:spPr>
      </p:pic>
    </p:spTree>
    <p:extLst>
      <p:ext uri="{BB962C8B-B14F-4D97-AF65-F5344CB8AC3E}">
        <p14:creationId xmlns:p14="http://schemas.microsoft.com/office/powerpoint/2010/main" val="2640965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274EEEA-D087-E193-014D-51D3C951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diagram</a:t>
            </a:r>
            <a:r>
              <a:rPr lang="en-US" dirty="0"/>
              <a:t xml:space="preserve"> (Activity)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45A94328-12E0-50D7-15D8-5B79082C8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286" y="2160588"/>
            <a:ext cx="3579465" cy="3881437"/>
          </a:xfrm>
        </p:spPr>
      </p:pic>
    </p:spTree>
    <p:extLst>
      <p:ext uri="{BB962C8B-B14F-4D97-AF65-F5344CB8AC3E}">
        <p14:creationId xmlns:p14="http://schemas.microsoft.com/office/powerpoint/2010/main" val="3296958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930B988-DA37-A9B6-6972-41850A0EF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968111" cy="1320800"/>
          </a:xfrm>
        </p:spPr>
        <p:txBody>
          <a:bodyPr/>
          <a:lstStyle/>
          <a:p>
            <a:r>
              <a:rPr lang="en-US" dirty="0"/>
              <a:t>Action diagram</a:t>
            </a:r>
            <a:r>
              <a:rPr lang="en-US" dirty="0"/>
              <a:t xml:space="preserve"> (Activity)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A5838951-78D3-5912-3B42-A59CA7682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542" y="1388935"/>
            <a:ext cx="4218038" cy="5160894"/>
          </a:xfrm>
        </p:spPr>
      </p:pic>
    </p:spTree>
    <p:extLst>
      <p:ext uri="{BB962C8B-B14F-4D97-AF65-F5344CB8AC3E}">
        <p14:creationId xmlns:p14="http://schemas.microsoft.com/office/powerpoint/2010/main" val="109832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8D1318A-1131-8392-F41E-C37D307C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diagram</a:t>
            </a:r>
            <a:r>
              <a:rPr lang="en-US" dirty="0"/>
              <a:t xml:space="preserve"> (Activity)</a:t>
            </a:r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38723EF-4679-0771-CA2E-8FF4D82D9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dirty="0" err="1"/>
              <a:t xml:space="preserve"> stages</a:t>
            </a:r>
            <a:r>
              <a:rPr lang="en-US" dirty="0"/>
              <a:t> (</a:t>
            </a:r>
            <a:r>
              <a:rPr lang="en-US" dirty="0" err="1"/>
              <a:t>stadia</a:t>
            </a:r>
            <a:r>
              <a:rPr lang="en-US" dirty="0"/>
              <a:t>) represent actions.</a:t>
            </a:r>
          </a:p>
          <a:p>
            <a:r>
              <a:rPr lang="en-US" dirty="0"/>
              <a:t>The rhombuses (</a:t>
            </a:r>
            <a:r>
              <a:rPr lang="en-US" dirty="0" err="1"/>
              <a:t>diamonds</a:t>
            </a:r>
            <a:r>
              <a:rPr lang="en-US" dirty="0"/>
              <a:t>) represent decisions.</a:t>
            </a:r>
          </a:p>
          <a:p>
            <a:r>
              <a:rPr lang="en-US" dirty="0"/>
              <a:t>The bars (</a:t>
            </a:r>
            <a:r>
              <a:rPr lang="en-US" dirty="0" err="1"/>
              <a:t>bars</a:t>
            </a:r>
            <a:r>
              <a:rPr lang="en-US" dirty="0"/>
              <a:t>) represent the beginning (separation) or the end (union) of simultaneous activities.</a:t>
            </a:r>
          </a:p>
          <a:p>
            <a:r>
              <a:rPr lang="en-US" dirty="0"/>
              <a:t>A black circle represents the beginning (initial node) of the workflow.</a:t>
            </a:r>
          </a:p>
          <a:p>
            <a:r>
              <a:rPr lang="en-US" dirty="0"/>
              <a:t>A black circle within a circle (</a:t>
            </a:r>
            <a:r>
              <a:rPr lang="en-US" dirty="0" err="1"/>
              <a:t>encircled</a:t>
            </a:r>
            <a:r>
              <a:rPr lang="en-US" dirty="0"/>
              <a:t/>
            </a:r>
            <a:r>
              <a:rPr lang="en-US" dirty="0" err="1"/>
              <a:t>black</a:t>
            </a:r>
            <a:r>
              <a:rPr lang="en-US" dirty="0"/>
              <a:t/>
            </a:r>
            <a:r>
              <a:rPr lang="en-US" dirty="0" err="1"/>
              <a:t>circle</a:t>
            </a:r>
            <a:r>
              <a:rPr lang="en-US" dirty="0"/>
              <a:t>) represents the end (terminal node).</a:t>
            </a:r>
          </a:p>
        </p:txBody>
      </p:sp>
    </p:spTree>
    <p:extLst>
      <p:ext uri="{BB962C8B-B14F-4D97-AF65-F5344CB8AC3E}">
        <p14:creationId xmlns:p14="http://schemas.microsoft.com/office/powerpoint/2010/main" val="3049664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B94EB9E-48C8-7DC9-4CF8-2A7A88D42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(</a:t>
            </a:r>
            <a:r>
              <a:rPr lang="en-US" dirty="0"/>
              <a:t>state machine)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302CA08D-0564-0AF1-967D-EE7A384E8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556" y="2160588"/>
            <a:ext cx="2908926" cy="3881437"/>
          </a:xfrm>
        </p:spPr>
      </p:pic>
    </p:spTree>
    <p:extLst>
      <p:ext uri="{BB962C8B-B14F-4D97-AF65-F5344CB8AC3E}">
        <p14:creationId xmlns:p14="http://schemas.microsoft.com/office/powerpoint/2010/main" val="1705880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FD9F442-C948-0499-7E0C-DF91D74A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(</a:t>
            </a:r>
            <a:r>
              <a:rPr lang="en-US" dirty="0"/>
              <a:t>state machine)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C90891C3-A3EF-EFC7-DAE8-CE979B54B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543" y="2672735"/>
            <a:ext cx="5180952" cy="2857143"/>
          </a:xfrm>
        </p:spPr>
      </p:pic>
    </p:spTree>
    <p:extLst>
      <p:ext uri="{BB962C8B-B14F-4D97-AF65-F5344CB8AC3E}">
        <p14:creationId xmlns:p14="http://schemas.microsoft.com/office/powerpoint/2010/main" val="2739846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97F17F1-003B-906C-EE41-A7716E4A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diagrams</a:t>
            </a:r>
            <a:r>
              <a:rPr lang="en-US" dirty="0"/>
              <a:t> (Sequence)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053D3E90-F826-ACA0-996A-EDBCA69BB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33" y="2806068"/>
            <a:ext cx="7828571" cy="2590476"/>
          </a:xfrm>
        </p:spPr>
      </p:pic>
    </p:spTree>
    <p:extLst>
      <p:ext uri="{BB962C8B-B14F-4D97-AF65-F5344CB8AC3E}">
        <p14:creationId xmlns:p14="http://schemas.microsoft.com/office/powerpoint/2010/main" val="176110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A4E98AB-227F-1126-1A84-217CFAAB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Communications diagram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FDA40AC4-F8AA-4B55-1DED-3A8D0827A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838812"/>
            <a:ext cx="3886200" cy="2066925"/>
          </a:xfrm>
        </p:spPr>
      </p:pic>
      <p:pic>
        <p:nvPicPr>
          <p:cNvPr id="7" name="Εικόνα 6">
            <a:extLst>
              <a:ext uri="{FF2B5EF4-FFF2-40B4-BE49-F238E27FC236}">
                <a16:creationId xmlns:a16="http://schemas.microsoft.com/office/drawing/2014/main" id="{D3074CDF-D391-4220-28E1-3AE9AEC19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12" y="1930400"/>
            <a:ext cx="4215713" cy="26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55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3CF19DF-80DD-6E6B-657B-2D031389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Communication Diagrams vs. Sequence Diagrams</a:t>
            </a: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74DA613C-F96D-F114-0D00-0BD2F23FD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528337"/>
            <a:ext cx="8596312" cy="3145939"/>
          </a:xfrm>
        </p:spPr>
      </p:pic>
    </p:spTree>
    <p:extLst>
      <p:ext uri="{BB962C8B-B14F-4D97-AF65-F5344CB8AC3E}">
        <p14:creationId xmlns:p14="http://schemas.microsoft.com/office/powerpoint/2010/main" val="2915653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2F9399-D37D-C4E5-6E7F-1E426721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diagram (</a:t>
            </a:r>
            <a:r>
              <a:rPr lang="en-US" dirty="0"/>
              <a:t>interaction diagram)</a:t>
            </a:r>
            <a:endParaRPr lang="en-US" dirty="0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2BFCB58-21EC-003D-6B8E-898A0D167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661" y="2160588"/>
            <a:ext cx="3102716" cy="3881437"/>
          </a:xfrm>
        </p:spPr>
      </p:pic>
    </p:spTree>
    <p:extLst>
      <p:ext uri="{BB962C8B-B14F-4D97-AF65-F5344CB8AC3E}">
        <p14:creationId xmlns:p14="http://schemas.microsoft.com/office/powerpoint/2010/main" val="163987298"/>
      </p:ext>
    </p:extLst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Όψη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Όψη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Όψ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471</Words>
  <Application>Microsoft Office PowerPoint</Application>
  <PresentationFormat>Ευρεία οθόνη</PresentationFormat>
  <Paragraphs>58</Paragraphs>
  <Slides>25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Wingdings 3</vt:lpstr>
      <vt:lpstr>Όψη</vt:lpstr>
      <vt:lpstr>Τεχνολογία Λογισμικού  UML</vt:lpstr>
      <vt:lpstr>UML </vt:lpstr>
      <vt:lpstr>Διαγράμματα UML</vt:lpstr>
      <vt:lpstr>Βασικά διαγράμματα</vt:lpstr>
      <vt:lpstr>Διάγραμμα κλάσεων</vt:lpstr>
      <vt:lpstr>Παραδείγματα – aggregation, composition</vt:lpstr>
      <vt:lpstr>Πληθικότητα (cardinality)</vt:lpstr>
      <vt:lpstr>Παραδείγματα - inheritance</vt:lpstr>
      <vt:lpstr>Component diagram</vt:lpstr>
      <vt:lpstr>Deployment diagram</vt:lpstr>
      <vt:lpstr>Διάγραμμα ροής δεδομένων</vt:lpstr>
      <vt:lpstr>Διάγραμμα ροής δεδομένων</vt:lpstr>
      <vt:lpstr>Διάγραμμα ροής δεδομένων</vt:lpstr>
      <vt:lpstr>Διάγραμμα περιπτώσεων χρήσης (use case)</vt:lpstr>
      <vt:lpstr>Περιγραφή Use case σε πίνακα</vt:lpstr>
      <vt:lpstr>Διάγραμμα ενεργειών (Activity)</vt:lpstr>
      <vt:lpstr>Διάγραμμα ενεργειών (Activity)</vt:lpstr>
      <vt:lpstr>Διάγραμμα ενεργειών (Activity)</vt:lpstr>
      <vt:lpstr>Διάγραμμα ενεργειών (Activity)</vt:lpstr>
      <vt:lpstr>Διάγραμμα καταστάσεων (state machine)</vt:lpstr>
      <vt:lpstr>Διάγραμμα καταστάσεων (state machine)</vt:lpstr>
      <vt:lpstr>διαγράμματα ακολουθίας (Sequence)</vt:lpstr>
      <vt:lpstr>Διάγραμμα επικοινωνιών</vt:lpstr>
      <vt:lpstr>Communication Diagrams vs. Sequence Diagrams</vt:lpstr>
      <vt:lpstr>Διάγραμμα αλληλεπιδράσεων (interaction diagram)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GEORGIOS DIMITRAKOPOULOS</dc:creator>
  <cp:lastModifiedBy>GEORGIOS DIMITRAKOPOULOS</cp:lastModifiedBy>
  <cp:revision>8</cp:revision>
  <dcterms:created xsi:type="dcterms:W3CDTF">2025-10-23T06:42:56Z</dcterms:created>
  <dcterms:modified xsi:type="dcterms:W3CDTF">2025-10-23T07:34:15Z</dcterms:modified>
</cp:coreProperties>
</file>