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30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  <p:sldId id="278" r:id="rId24"/>
    <p:sldId id="279" r:id="rId25"/>
    <p:sldId id="280" r:id="rId26"/>
    <p:sldId id="282" r:id="rId27"/>
    <p:sldId id="283" r:id="rId28"/>
    <p:sldId id="281" r:id="rId29"/>
    <p:sldId id="284" r:id="rId30"/>
    <p:sldId id="285" r:id="rId31"/>
    <p:sldId id="286" r:id="rId32"/>
    <p:sldId id="292" r:id="rId33"/>
    <p:sldId id="287" r:id="rId34"/>
    <p:sldId id="288" r:id="rId35"/>
    <p:sldId id="289" r:id="rId36"/>
    <p:sldId id="291" r:id="rId37"/>
    <p:sldId id="290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5" r:id="rId48"/>
    <p:sldId id="306" r:id="rId49"/>
    <p:sldId id="307" r:id="rId50"/>
    <p:sldId id="308" r:id="rId51"/>
    <p:sldId id="309" r:id="rId52"/>
    <p:sldId id="257" r:id="rId53"/>
    <p:sldId id="303" r:id="rId54"/>
    <p:sldId id="304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7" autoAdjust="0"/>
    <p:restoredTop sz="94660"/>
  </p:normalViewPr>
  <p:slideViewPr>
    <p:cSldViewPr snapToGrid="0">
      <p:cViewPr varScale="1">
        <p:scale>
          <a:sx n="61" d="100"/>
          <a:sy n="61" d="100"/>
        </p:scale>
        <p:origin x="3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IOS DIMITRAKOPOULOS" userId="0614bc40-ecc2-4674-8a86-e5df437c2e7b" providerId="ADAL" clId="{241D36BE-FE1E-4FC3-99E3-E69D34DF589D}"/>
    <pc:docChg chg="custSel modSld">
      <pc:chgData name="GEORGIOS DIMITRAKOPOULOS" userId="0614bc40-ecc2-4674-8a86-e5df437c2e7b" providerId="ADAL" clId="{241D36BE-FE1E-4FC3-99E3-E69D34DF589D}" dt="2026-10-21T16:25:39.922" v="26" actId="20577"/>
      <pc:docMkLst>
        <pc:docMk/>
      </pc:docMkLst>
      <pc:sldChg chg="modSp mod">
        <pc:chgData name="GEORGIOS DIMITRAKOPOULOS" userId="0614bc40-ecc2-4674-8a86-e5df437c2e7b" providerId="ADAL" clId="{241D36BE-FE1E-4FC3-99E3-E69D34DF589D}" dt="2026-10-21T16:25:39.922" v="26" actId="20577"/>
        <pc:sldMkLst>
          <pc:docMk/>
          <pc:sldMk cId="2128725472" sldId="256"/>
        </pc:sldMkLst>
        <pc:spChg chg="mod">
          <ac:chgData name="GEORGIOS DIMITRAKOPOULOS" userId="0614bc40-ecc2-4674-8a86-e5df437c2e7b" providerId="ADAL" clId="{241D36BE-FE1E-4FC3-99E3-E69D34DF589D}" dt="2026-10-21T16:25:39.922" v="26" actId="20577"/>
          <ac:spMkLst>
            <pc:docMk/>
            <pc:sldMk cId="2128725472" sldId="256"/>
            <ac:spMk id="2" creationId="{BF709D37-EF24-2FEB-CEF7-95D6902DA1A0}"/>
          </ac:spMkLst>
        </pc:spChg>
      </pc:sldChg>
      <pc:sldChg chg="modSp mod">
        <pc:chgData name="GEORGIOS DIMITRAKOPOULOS" userId="0614bc40-ecc2-4674-8a86-e5df437c2e7b" providerId="ADAL" clId="{241D36BE-FE1E-4FC3-99E3-E69D34DF589D}" dt="2026-10-21T15:31:51.625" v="4" actId="27636"/>
        <pc:sldMkLst>
          <pc:docMk/>
          <pc:sldMk cId="3657986509" sldId="270"/>
        </pc:sldMkLst>
        <pc:spChg chg="mod">
          <ac:chgData name="GEORGIOS DIMITRAKOPOULOS" userId="0614bc40-ecc2-4674-8a86-e5df437c2e7b" providerId="ADAL" clId="{241D36BE-FE1E-4FC3-99E3-E69D34DF589D}" dt="2026-10-21T15:31:51.625" v="4" actId="27636"/>
          <ac:spMkLst>
            <pc:docMk/>
            <pc:sldMk cId="3657986509" sldId="270"/>
            <ac:spMk id="3" creationId="{9B7F7577-56D2-B5F2-C8E8-95CFCDDB884E}"/>
          </ac:spMkLst>
        </pc:spChg>
      </pc:sldChg>
      <pc:sldChg chg="addSp delSp modSp mod">
        <pc:chgData name="GEORGIOS DIMITRAKOPOULOS" userId="0614bc40-ecc2-4674-8a86-e5df437c2e7b" providerId="ADAL" clId="{241D36BE-FE1E-4FC3-99E3-E69D34DF589D}" dt="2026-10-21T15:32:52.195" v="21"/>
        <pc:sldMkLst>
          <pc:docMk/>
          <pc:sldMk cId="4040926044" sldId="304"/>
        </pc:sldMkLst>
        <pc:spChg chg="mod">
          <ac:chgData name="GEORGIOS DIMITRAKOPOULOS" userId="0614bc40-ecc2-4674-8a86-e5df437c2e7b" providerId="ADAL" clId="{241D36BE-FE1E-4FC3-99E3-E69D34DF589D}" dt="2026-10-21T15:32:36.902" v="12" actId="113"/>
          <ac:spMkLst>
            <pc:docMk/>
            <pc:sldMk cId="4040926044" sldId="304"/>
            <ac:spMk id="2" creationId="{B202E3B7-5B13-F840-BFCA-79E1280FED04}"/>
          </ac:spMkLst>
        </pc:spChg>
        <pc:spChg chg="add del mod">
          <ac:chgData name="GEORGIOS DIMITRAKOPOULOS" userId="0614bc40-ecc2-4674-8a86-e5df437c2e7b" providerId="ADAL" clId="{241D36BE-FE1E-4FC3-99E3-E69D34DF589D}" dt="2026-10-21T15:32:52.195" v="21"/>
          <ac:spMkLst>
            <pc:docMk/>
            <pc:sldMk cId="4040926044" sldId="304"/>
            <ac:spMk id="5" creationId="{39D4A4B8-1770-46CF-3858-37E364584566}"/>
          </ac:spMkLst>
        </pc:spChg>
        <pc:spChg chg="add mod">
          <ac:chgData name="GEORGIOS DIMITRAKOPOULOS" userId="0614bc40-ecc2-4674-8a86-e5df437c2e7b" providerId="ADAL" clId="{241D36BE-FE1E-4FC3-99E3-E69D34DF589D}" dt="2026-10-21T15:32:50.913" v="19" actId="20577"/>
          <ac:spMkLst>
            <pc:docMk/>
            <pc:sldMk cId="4040926044" sldId="304"/>
            <ac:spMk id="7" creationId="{3260A721-184F-3134-9240-99CCD876243D}"/>
          </ac:spMkLst>
        </pc:spChg>
        <pc:graphicFrameChg chg="del mod">
          <ac:chgData name="GEORGIOS DIMITRAKOPOULOS" userId="0614bc40-ecc2-4674-8a86-e5df437c2e7b" providerId="ADAL" clId="{241D36BE-FE1E-4FC3-99E3-E69D34DF589D}" dt="2026-10-21T15:32:42.789" v="15" actId="478"/>
          <ac:graphicFrameMkLst>
            <pc:docMk/>
            <pc:sldMk cId="4040926044" sldId="304"/>
            <ac:graphicFrameMk id="4" creationId="{0EC51F5B-1D0A-F86D-4E70-75CC21F7D0A3}"/>
          </ac:graphicFrameMkLst>
        </pc:graphicFrameChg>
      </pc:sldChg>
      <pc:sldChg chg="modSp mod">
        <pc:chgData name="GEORGIOS DIMITRAKOPOULOS" userId="0614bc40-ecc2-4674-8a86-e5df437c2e7b" providerId="ADAL" clId="{241D36BE-FE1E-4FC3-99E3-E69D34DF589D}" dt="2026-10-21T15:32:19.581" v="5" actId="1076"/>
        <pc:sldMkLst>
          <pc:docMk/>
          <pc:sldMk cId="0" sldId="306"/>
        </pc:sldMkLst>
        <pc:spChg chg="mod">
          <ac:chgData name="GEORGIOS DIMITRAKOPOULOS" userId="0614bc40-ecc2-4674-8a86-e5df437c2e7b" providerId="ADAL" clId="{241D36BE-FE1E-4FC3-99E3-E69D34DF589D}" dt="2026-10-21T15:32:19.581" v="5" actId="1076"/>
          <ac:spMkLst>
            <pc:docMk/>
            <pc:sldMk cId="0" sldId="30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905DF-1FEB-41E0-A7E5-2F613F125B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E214-3726-424D-BFB0-BFCF47325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29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Στυλ κειμένου υποδείγματος</a:t>
            </a:r>
          </a:p>
          <a:p>
            <a:pPr lvl="1"/>
            <a:r>
              <a:rPr lang="en-US"/>
              <a:t>Δεύτερο επίπεδο</a:t>
            </a:r>
          </a:p>
          <a:p>
            <a:pPr lvl="2"/>
            <a:r>
              <a:rPr lang="en-US"/>
              <a:t>Τρίτο επίπεδο</a:t>
            </a:r>
          </a:p>
          <a:p>
            <a:pPr lvl="3"/>
            <a:r>
              <a:rPr lang="en-US"/>
              <a:t>Τέταρτο επίπεδο</a:t>
            </a:r>
          </a:p>
          <a:p>
            <a:pPr lvl="4"/>
            <a:r>
              <a:rPr lang="en-US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905DF-1FEB-41E0-A7E5-2F613F125B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E214-3726-424D-BFB0-BFCF47325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906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905DF-1FEB-41E0-A7E5-2F613F125B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E214-3726-424D-BFB0-BFCF47325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799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Στυλ κειμένου υποδείγματος</a:t>
            </a:r>
          </a:p>
          <a:p>
            <a:pPr lvl="1"/>
            <a:r>
              <a:rPr lang="en-US"/>
              <a:t>Δεύτερο επίπεδο</a:t>
            </a:r>
          </a:p>
          <a:p>
            <a:pPr lvl="2"/>
            <a:r>
              <a:rPr lang="en-US"/>
              <a:t>Τρίτο επίπεδο</a:t>
            </a:r>
          </a:p>
          <a:p>
            <a:pPr lvl="3"/>
            <a:r>
              <a:rPr lang="en-US"/>
              <a:t>Τέταρτο επίπεδο</a:t>
            </a:r>
          </a:p>
          <a:p>
            <a:pPr lvl="4"/>
            <a:r>
              <a:rPr lang="en-US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Στυλ κειμένου υποδείγματος</a:t>
            </a:r>
          </a:p>
          <a:p>
            <a:pPr lvl="1"/>
            <a:r>
              <a:rPr lang="en-US"/>
              <a:t>Δεύτερο επίπεδο</a:t>
            </a:r>
          </a:p>
          <a:p>
            <a:pPr lvl="2"/>
            <a:r>
              <a:rPr lang="en-US"/>
              <a:t>Τρίτο επίπεδο</a:t>
            </a:r>
          </a:p>
          <a:p>
            <a:pPr lvl="3"/>
            <a:r>
              <a:rPr lang="en-US"/>
              <a:t>Τέταρτο επίπεδο</a:t>
            </a:r>
          </a:p>
          <a:p>
            <a:pPr lvl="4"/>
            <a:r>
              <a:rPr lang="en-US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905DF-1FEB-41E0-A7E5-2F613F125B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E214-3726-424D-BFB0-BFCF47325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37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Στυλ κειμένου υποδείγματος</a:t>
            </a:r>
          </a:p>
          <a:p>
            <a:pPr lvl="1"/>
            <a:r>
              <a:rPr lang="en-US"/>
              <a:t>Δεύτερο επίπεδο</a:t>
            </a:r>
          </a:p>
          <a:p>
            <a:pPr lvl="2"/>
            <a:r>
              <a:rPr lang="en-US"/>
              <a:t>Τρίτο επίπεδο</a:t>
            </a:r>
          </a:p>
          <a:p>
            <a:pPr lvl="3"/>
            <a:r>
              <a:rPr lang="en-US"/>
              <a:t>Τέταρτο επίπεδο</a:t>
            </a:r>
          </a:p>
          <a:p>
            <a:pPr lvl="4"/>
            <a:r>
              <a:rPr lang="en-US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Στυλ κειμένου υποδείγματος</a:t>
            </a:r>
          </a:p>
          <a:p>
            <a:pPr lvl="1"/>
            <a:r>
              <a:rPr lang="en-US"/>
              <a:t>Δεύτερο επίπεδο</a:t>
            </a:r>
          </a:p>
          <a:p>
            <a:pPr lvl="2"/>
            <a:r>
              <a:rPr lang="en-US"/>
              <a:t>Τρίτο επίπεδο</a:t>
            </a:r>
          </a:p>
          <a:p>
            <a:pPr lvl="3"/>
            <a:r>
              <a:rPr lang="en-US"/>
              <a:t>Τέταρτο επίπεδο</a:t>
            </a:r>
          </a:p>
          <a:p>
            <a:pPr lvl="4"/>
            <a:r>
              <a:rPr lang="en-US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905DF-1FEB-41E0-A7E5-2F613F125B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E214-3726-424D-BFB0-BFCF47325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14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905DF-1FEB-41E0-A7E5-2F613F125B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E214-3726-424D-BFB0-BFCF47325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07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905DF-1FEB-41E0-A7E5-2F613F125B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E214-3726-424D-BFB0-BFCF47325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715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Στυλ κειμένου υποδείγματος</a:t>
            </a:r>
          </a:p>
          <a:p>
            <a:pPr lvl="1"/>
            <a:r>
              <a:rPr lang="en-US"/>
              <a:t>Δεύτερο επίπεδο</a:t>
            </a:r>
          </a:p>
          <a:p>
            <a:pPr lvl="2"/>
            <a:r>
              <a:rPr lang="en-US"/>
              <a:t>Τρίτο επίπεδο</a:t>
            </a:r>
          </a:p>
          <a:p>
            <a:pPr lvl="3"/>
            <a:r>
              <a:rPr lang="en-US"/>
              <a:t>Τέταρτο επίπεδο</a:t>
            </a:r>
          </a:p>
          <a:p>
            <a:pPr lvl="4"/>
            <a:r>
              <a:rPr lang="en-US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905DF-1FEB-41E0-A7E5-2F613F125B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E214-3726-424D-BFB0-BFCF47325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283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E214-3726-424D-BFB0-BFCF47325D7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905DF-1FEB-41E0-A7E5-2F613F125B10}" type="datetimeFigureOut">
              <a:rPr lang="en-US" smtClean="0"/>
              <a:t>10/21/2026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21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Τίτλος και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905DF-1FEB-41E0-A7E5-2F613F125B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E214-3726-424D-BFB0-BFCF47325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721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Εισαγωγικά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905DF-1FEB-41E0-A7E5-2F613F125B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E214-3726-424D-BFB0-BFCF47325D7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07382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905DF-1FEB-41E0-A7E5-2F613F125B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E214-3726-424D-BFB0-BFCF47325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862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 με φρά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905DF-1FEB-41E0-A7E5-2F613F125B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E214-3726-424D-BFB0-BFCF47325D7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2537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ή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905DF-1FEB-41E0-A7E5-2F613F125B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E214-3726-424D-BFB0-BFCF47325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374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Στυλ κειμένου υποδείγματος</a:t>
            </a:r>
          </a:p>
          <a:p>
            <a:pPr lvl="1"/>
            <a:r>
              <a:rPr lang="en-US"/>
              <a:t>Δεύτερο επίπεδο</a:t>
            </a:r>
          </a:p>
          <a:p>
            <a:pPr lvl="2"/>
            <a:r>
              <a:rPr lang="en-US"/>
              <a:t>Τρίτο επίπεδο</a:t>
            </a:r>
          </a:p>
          <a:p>
            <a:pPr lvl="3"/>
            <a:r>
              <a:rPr lang="en-US"/>
              <a:t>Τέταρτο επίπεδο</a:t>
            </a:r>
          </a:p>
          <a:p>
            <a:pPr lvl="4"/>
            <a:r>
              <a:rPr lang="en-US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905DF-1FEB-41E0-A7E5-2F613F125B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E214-3726-424D-BFB0-BFCF47325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791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Στυλ κειμένου υποδείγματος</a:t>
            </a:r>
          </a:p>
          <a:p>
            <a:pPr lvl="1"/>
            <a:r>
              <a:rPr lang="en-US"/>
              <a:t>Δεύτερο επίπεδο</a:t>
            </a:r>
          </a:p>
          <a:p>
            <a:pPr lvl="2"/>
            <a:r>
              <a:rPr lang="en-US"/>
              <a:t>Τρίτο επίπεδο</a:t>
            </a:r>
          </a:p>
          <a:p>
            <a:pPr lvl="3"/>
            <a:r>
              <a:rPr lang="en-US"/>
              <a:t>Τέταρτο επίπεδο</a:t>
            </a:r>
          </a:p>
          <a:p>
            <a:pPr lvl="4"/>
            <a:r>
              <a:rPr lang="en-US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905DF-1FEB-41E0-A7E5-2F613F125B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E214-3726-424D-BFB0-BFCF47325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57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Στυλ κειμένου υποδείγματος</a:t>
            </a:r>
          </a:p>
          <a:p>
            <a:pPr lvl="1"/>
            <a:r>
              <a:rPr lang="en-US"/>
              <a:t>Δεύτερο επίπεδο</a:t>
            </a:r>
          </a:p>
          <a:p>
            <a:pPr lvl="2"/>
            <a:r>
              <a:rPr lang="en-US"/>
              <a:t>Τρίτο επίπεδο</a:t>
            </a:r>
          </a:p>
          <a:p>
            <a:pPr lvl="3"/>
            <a:r>
              <a:rPr lang="en-US"/>
              <a:t>Τέταρτο επίπεδο</a:t>
            </a:r>
          </a:p>
          <a:p>
            <a:pPr lvl="4"/>
            <a:r>
              <a:rPr lang="en-US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905DF-1FEB-41E0-A7E5-2F613F125B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B90E214-3726-424D-BFB0-BFCF47325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677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F709D37-EF24-2FEB-CEF7-95D6902DA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21" y="394138"/>
            <a:ext cx="8186182" cy="3656698"/>
          </a:xfrm>
        </p:spPr>
        <p:txBody>
          <a:bodyPr/>
          <a:lstStyle/>
          <a:p>
            <a:r>
              <a:rPr lang="en-US" dirty="0"/>
              <a:t>SOFTWARE ENGINEERING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Software Architecture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3F1E35A-3EA9-8929-BE68-8053DAD1BE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Georgios Dimitrakopoulos</a:t>
            </a:r>
          </a:p>
        </p:txBody>
      </p:sp>
    </p:spTree>
    <p:extLst>
      <p:ext uri="{BB962C8B-B14F-4D97-AF65-F5344CB8AC3E}">
        <p14:creationId xmlns:p14="http://schemas.microsoft.com/office/powerpoint/2010/main" val="2128725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1E1C1BA-D876-6F9B-937A-ADEC9B4B4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architecture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34D9ABD-F7D9-D8BA-5D7A-F19AEC9E5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architecture is the basic framework for building a system.</a:t>
            </a:r>
          </a:p>
          <a:p>
            <a:endParaRPr lang="en-US" b="1" dirty="0"/>
          </a:p>
          <a:p>
            <a:r>
              <a:rPr lang="en-US" b="1" dirty="0"/>
              <a:t>Software architecture identifies the subsystems that make up a system and defines the framework for their control and communication.</a:t>
            </a:r>
          </a:p>
          <a:p>
            <a:endParaRPr lang="en-US" dirty="0"/>
          </a:p>
          <a:p>
            <a:r>
              <a:rPr lang="en-US" dirty="0"/>
              <a:t>Architectural design decisions include the application type, the distribution of the system, and the architectural styles to be used.</a:t>
            </a:r>
          </a:p>
        </p:txBody>
      </p:sp>
    </p:spTree>
    <p:extLst>
      <p:ext uri="{BB962C8B-B14F-4D97-AF65-F5344CB8AC3E}">
        <p14:creationId xmlns:p14="http://schemas.microsoft.com/office/powerpoint/2010/main" val="1402661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0A14ED7-9EC0-F5B5-9CE0-A6F62671A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design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C1AB64C4-E5A4-DEAD-CAC4-E25B89887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Early stage of the systems design process.</a:t>
            </a:r>
          </a:p>
          <a:p>
            <a:endParaRPr lang="en-US" dirty="0"/>
          </a:p>
          <a:p>
            <a:r>
              <a:rPr lang="en-US" dirty="0"/>
              <a:t>It connects the specification and design processes.</a:t>
            </a:r>
          </a:p>
          <a:p>
            <a:endParaRPr lang="en-US" dirty="0"/>
          </a:p>
          <a:p>
            <a:r>
              <a:rPr lang="en-US" dirty="0"/>
              <a:t>It is often carried out in parallel with other activities related to specifications.</a:t>
            </a:r>
          </a:p>
          <a:p>
            <a:endParaRPr lang="en-US" dirty="0"/>
          </a:p>
          <a:p>
            <a:r>
              <a:rPr lang="en-US" dirty="0"/>
              <a:t>It includes identifying the main components of the system and their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1534490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5F97537-FCA7-CAA4-716D-4C4C171A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Advantages of a well-designed architecture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6DC1AE0C-58EA-AA26-3AD7-F33CA64C6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Communication with stakeholders The architecture can be the focus of discussions with stakeholders about the system.</a:t>
            </a:r>
          </a:p>
          <a:p>
            <a:r>
              <a:rPr lang="en-US" b="1" dirty="0"/>
              <a:t>System analysis implies that it is possible to analyze whether the system will be able to satisfy its non-functional requirements.</a:t>
            </a:r>
          </a:p>
          <a:p>
            <a:r>
              <a:rPr lang="en-US" b="1" dirty="0"/>
              <a:t>Large-scale reuse There may be the possibility of reusing the architecture across multiple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434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6857F60-BE99-03AC-D8FD-ADD2E8DEE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 and features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02B126A-9053-0EA1-347B-E0AEFF307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Performance Local limitation of critical functions and minimization of communications. Use of coarse rather than detailed components.</a:t>
            </a:r>
          </a:p>
          <a:p>
            <a:r>
              <a:rPr lang="en-US" b="1" dirty="0"/>
              <a:t>Protection from external risks Use of multi-tiered architecture, with critical resources at the internal levels.</a:t>
            </a:r>
          </a:p>
          <a:p>
            <a:r>
              <a:rPr lang="en-US" b="1" dirty="0"/>
              <a:t>Security Local limitation of safety-critical features to a small number of subsystems.</a:t>
            </a:r>
          </a:p>
          <a:p>
            <a:r>
              <a:rPr lang="en-US" b="1" dirty="0"/>
              <a:t>Availability Inclusion of redundant components and fault tolerance mechanisms.</a:t>
            </a:r>
          </a:p>
          <a:p>
            <a:r>
              <a:rPr lang="en-US" b="1" dirty="0" err="1"/>
              <a:t>Maintainability Use of detailed, readily replaceable components.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442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A08E4B0-EE49-783D-528C-4BC8E5904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Disadvantages - Architectural contradictions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C0150A4-04D3-8851-8BAC-D61402047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use of component parts improves performance, but reduces maintainability.</a:t>
            </a:r>
          </a:p>
          <a:p>
            <a:r>
              <a:rPr lang="en-US" dirty="0"/>
              <a:t>Introducing redundant data improves availability, but makes it difficult to protect against external risks.</a:t>
            </a:r>
          </a:p>
          <a:p>
            <a:r>
              <a:rPr lang="en-US" dirty="0"/>
              <a:t>Locally restricting security-related features usually involves more communication, thus reduced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200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406F5F8-98E0-613D-C9ED-8FF5EC9A0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Building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924BC40-9E43-4C50-C01A-C34D3FEDB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concerns the decomposition of the system into interacting subsystems.</a:t>
            </a:r>
          </a:p>
          <a:p>
            <a:endParaRPr lang="en-US" dirty="0"/>
          </a:p>
          <a:p>
            <a:r>
              <a:rPr lang="en-US" dirty="0"/>
              <a:t>Architectural design is usually illustrated with a structural diagram that presents a high-level view of the structure of a system.</a:t>
            </a:r>
          </a:p>
          <a:p>
            <a:endParaRPr lang="en-US" dirty="0"/>
          </a:p>
          <a:p>
            <a:r>
              <a:rPr lang="en-US" dirty="0"/>
              <a:t>More specific models are also distributed that show how subsystems use data together, while interfaces between them can also be developed.</a:t>
            </a:r>
          </a:p>
        </p:txBody>
      </p:sp>
    </p:spTree>
    <p:extLst>
      <p:ext uri="{BB962C8B-B14F-4D97-AF65-F5344CB8AC3E}">
        <p14:creationId xmlns:p14="http://schemas.microsoft.com/office/powerpoint/2010/main" val="4092601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7B33B22-60B0-5CE5-1C69-0DD9AA230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robotic packaging control</a:t>
            </a:r>
          </a:p>
        </p:txBody>
      </p:sp>
      <p:pic>
        <p:nvPicPr>
          <p:cNvPr id="14" name="Εικόνα 13">
            <a:extLst>
              <a:ext uri="{FF2B5EF4-FFF2-40B4-BE49-F238E27FC236}">
                <a16:creationId xmlns:a16="http://schemas.microsoft.com/office/drawing/2014/main" id="{FA7184E3-9E8E-A05F-E57F-061A2F049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067" y="1519492"/>
            <a:ext cx="7062401" cy="501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400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2C01294-4FC9-CA48-8394-432C2904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Design Decisions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6419EE9-C0BE-3BB4-55DF-DB9D9E0D5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Architectural design is a creative process, which differs depending on the type of system being developed.</a:t>
            </a:r>
          </a:p>
          <a:p>
            <a:r>
              <a:rPr lang="en-US" dirty="0"/>
              <a:t>However, all design processes are influenced by a series of fundamental decisions.</a:t>
            </a:r>
          </a:p>
        </p:txBody>
      </p:sp>
    </p:spTree>
    <p:extLst>
      <p:ext uri="{BB962C8B-B14F-4D97-AF65-F5344CB8AC3E}">
        <p14:creationId xmlns:p14="http://schemas.microsoft.com/office/powerpoint/2010/main" val="707552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FBF11F-2B7A-8E62-B80F-1D9B45034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Design Decisions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A14EFFF-D0B0-ED80-7263-78E84C21F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These decisions include:</a:t>
            </a:r>
          </a:p>
          <a:p>
            <a:endParaRPr lang="en-US" dirty="0"/>
          </a:p>
          <a:p>
            <a:r>
              <a:rPr lang="en-US" dirty="0"/>
              <a:t>Is there a general application architecture that can be used?</a:t>
            </a:r>
          </a:p>
          <a:p>
            <a:r>
              <a:rPr lang="en-US" dirty="0"/>
              <a:t>How will the system be distributed across multiple processors?</a:t>
            </a:r>
          </a:p>
          <a:p>
            <a:r>
              <a:rPr lang="en-US" dirty="0"/>
              <a:t>What architectural styles are suitable?</a:t>
            </a:r>
          </a:p>
          <a:p>
            <a:r>
              <a:rPr lang="en-US" dirty="0"/>
              <a:t>What approach will be used to build the system?</a:t>
            </a:r>
          </a:p>
          <a:p>
            <a:r>
              <a:rPr lang="en-US" dirty="0"/>
              <a:t>How will the system be decomposed into subunits?</a:t>
            </a:r>
          </a:p>
          <a:p>
            <a:r>
              <a:rPr lang="en-US" dirty="0"/>
              <a:t>Which control strategy should be used?</a:t>
            </a:r>
          </a:p>
          <a:p>
            <a:r>
              <a:rPr lang="en-US" dirty="0"/>
              <a:t>How will the architectural design be evaluated?</a:t>
            </a:r>
          </a:p>
          <a:p>
            <a:r>
              <a:rPr lang="en-US" dirty="0"/>
              <a:t>How should the system architecture be documented?</a:t>
            </a:r>
          </a:p>
        </p:txBody>
      </p:sp>
    </p:spTree>
    <p:extLst>
      <p:ext uri="{BB962C8B-B14F-4D97-AF65-F5344CB8AC3E}">
        <p14:creationId xmlns:p14="http://schemas.microsoft.com/office/powerpoint/2010/main" val="1524039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2AFD7C9-4538-AEF4-A8CE-1EC241A76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Reuse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FC30C187-7DCA-188E-FD5E-A3547B2D3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Systems that belong to the same application domain often have similar architectures that reflect the fundamental concepts of the domain.</a:t>
            </a:r>
          </a:p>
          <a:p>
            <a:endParaRPr lang="en-US" dirty="0"/>
          </a:p>
          <a:p>
            <a:r>
              <a:rPr lang="en-US" dirty="0"/>
              <a:t>Application product lines are structured around a central architecture, with variants that meet specific customer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462209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F6EE37F-8B52-86E9-C251-23DA42875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styles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EE82B81-DFB4-DE46-D9C0-BD41DF6E2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architectural model of a system may follow a general architectural model or style.</a:t>
            </a:r>
          </a:p>
          <a:p>
            <a:r>
              <a:rPr lang="en-US" dirty="0"/>
              <a:t>Awareness of these styles can simplify the problem of defining the system architecture.</a:t>
            </a:r>
          </a:p>
          <a:p>
            <a:r>
              <a:rPr lang="en-US" dirty="0"/>
              <a:t>However, most large systems are heterogeneous and do not follow a single style.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204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7E53A6C-7370-FDDB-47DA-2AC8F0D20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Models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4F24B24-82CD-0CA6-FDC9-B47C8B18C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They are used to document architectural design.</a:t>
            </a:r>
          </a:p>
          <a:p>
            <a:endParaRPr lang="en-US" dirty="0"/>
          </a:p>
          <a:p>
            <a:r>
              <a:rPr lang="en-US" dirty="0"/>
              <a:t>Static structural models: present the main components of the system.</a:t>
            </a:r>
          </a:p>
          <a:p>
            <a:r>
              <a:rPr lang="en-US" dirty="0"/>
              <a:t>Dynamic process models: show the process structure of the system.</a:t>
            </a:r>
          </a:p>
          <a:p>
            <a:r>
              <a:rPr lang="en-US" dirty="0"/>
              <a:t>Interconnection models: define the interconnections of subsystems.</a:t>
            </a:r>
          </a:p>
          <a:p>
            <a:r>
              <a:rPr lang="en-US" dirty="0"/>
              <a:t>Relationship models: show the relationships between subsystems, for example data flow models.</a:t>
            </a:r>
          </a:p>
          <a:p>
            <a:r>
              <a:rPr lang="en-US" dirty="0"/>
              <a:t>Distribution models: show how subsystems can be distributed across multiple computers.</a:t>
            </a:r>
          </a:p>
        </p:txBody>
      </p:sp>
    </p:spTree>
    <p:extLst>
      <p:ext uri="{BB962C8B-B14F-4D97-AF65-F5344CB8AC3E}">
        <p14:creationId xmlns:p14="http://schemas.microsoft.com/office/powerpoint/2010/main" val="3820724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8A1550A-0EDD-CB9F-2873-C383A722C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Organization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3C7EFE5F-6C83-D12D-2B4F-C643F4899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reflects the basic strategy for building a system.</a:t>
            </a:r>
          </a:p>
          <a:p>
            <a:endParaRPr lang="en-US" dirty="0"/>
          </a:p>
          <a:p>
            <a:r>
              <a:rPr lang="en-US" dirty="0"/>
              <a:t>Three organizational styles are widely used:</a:t>
            </a:r>
          </a:p>
          <a:p>
            <a:endParaRPr lang="en-US" dirty="0"/>
          </a:p>
          <a:p>
            <a:r>
              <a:rPr lang="en-US" dirty="0"/>
              <a:t>The shared data repository.</a:t>
            </a:r>
          </a:p>
          <a:p>
            <a:endParaRPr lang="en-US" dirty="0"/>
          </a:p>
          <a:p>
            <a:r>
              <a:rPr lang="en-US" dirty="0"/>
              <a:t>Shared services and servers.</a:t>
            </a:r>
          </a:p>
          <a:p>
            <a:endParaRPr lang="en-US" dirty="0"/>
          </a:p>
          <a:p>
            <a:r>
              <a:rPr lang="en-US" dirty="0"/>
              <a:t>The abstract machine style (or multi-layered style).</a:t>
            </a:r>
          </a:p>
        </p:txBody>
      </p:sp>
    </p:spTree>
    <p:extLst>
      <p:ext uri="{BB962C8B-B14F-4D97-AF65-F5344CB8AC3E}">
        <p14:creationId xmlns:p14="http://schemas.microsoft.com/office/powerpoint/2010/main" val="635837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1EB6345-E01E-1838-8D76-F9DAAF931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Repository Model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B7F7577-56D2-B5F2-C8E8-95CFCDDB8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Subsystems need to exchange data. This can be done in two basic ways:</a:t>
            </a:r>
          </a:p>
          <a:p>
            <a:endParaRPr lang="en-US" dirty="0"/>
          </a:p>
          <a:p>
            <a:pPr lvl="1"/>
            <a:r>
              <a:rPr lang="en-US" sz="1800" dirty="0"/>
              <a:t>Shared data is stored in a central database or repository and can be accessed by all subsystems.</a:t>
            </a:r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Each subsystem maintains its own database and shares data explicitly with the other subsystems.</a:t>
            </a:r>
          </a:p>
          <a:p>
            <a:endParaRPr lang="en-US" dirty="0"/>
          </a:p>
          <a:p>
            <a:r>
              <a:rPr lang="en-US" dirty="0"/>
              <a:t>When large volumes of data are to be shared, the repository model is most often used.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986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588030-AEDD-2810-FD65-3B9D7FD8D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The architecture of a complete CASE toolkit</a:t>
            </a:r>
          </a:p>
        </p:txBody>
      </p:sp>
      <p:pic>
        <p:nvPicPr>
          <p:cNvPr id="9" name="Εικόνα 8">
            <a:extLst>
              <a:ext uri="{FF2B5EF4-FFF2-40B4-BE49-F238E27FC236}">
                <a16:creationId xmlns:a16="http://schemas.microsoft.com/office/drawing/2014/main" id="{D9062336-60B6-C1B8-14B3-D0C72D7D0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865" y="2258912"/>
            <a:ext cx="8365067" cy="412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751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9E4CF7C-87DE-064A-57CC-68E290EB2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the Repository Model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C15AEDD-D29F-F199-D6CA-83095D85D6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Advantages</a:t>
            </a:r>
          </a:p>
          <a:p>
            <a:r>
              <a:rPr lang="en-US" dirty="0"/>
              <a:t>Efficient way to share large amounts of data.</a:t>
            </a:r>
          </a:p>
          <a:p>
            <a:r>
              <a:rPr lang="en-US" dirty="0"/>
              <a:t>The way data is produced does not concern the subsystems.</a:t>
            </a:r>
          </a:p>
          <a:p>
            <a:r>
              <a:rPr lang="en-US" dirty="0"/>
              <a:t>Centralized management (e.g. backups, protection from external risks, etc.).</a:t>
            </a:r>
          </a:p>
          <a:p>
            <a:r>
              <a:rPr lang="en-US" dirty="0"/>
              <a:t>The model for sharing is visible through the repository schema.</a:t>
            </a:r>
          </a:p>
          <a:p>
            <a:endParaRPr lang="en-US" dirty="0"/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E044464B-B772-9019-F359-3FD10DEA4A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Disadvantages</a:t>
            </a:r>
          </a:p>
          <a:p>
            <a:r>
              <a:rPr lang="en-US" dirty="0"/>
              <a:t>The subsystems must agree on the repository data model. This is a compromise.</a:t>
            </a:r>
          </a:p>
          <a:p>
            <a:r>
              <a:rPr lang="en-US" dirty="0"/>
              <a:t>Data evolution is difficult and costly.</a:t>
            </a:r>
          </a:p>
          <a:p>
            <a:r>
              <a:rPr lang="en-US" dirty="0"/>
              <a:t>There is no provision for specialized management policies.</a:t>
            </a:r>
          </a:p>
          <a:p>
            <a:r>
              <a:rPr lang="en-US" dirty="0"/>
              <a:t>Efficiently distributing the repository across multiple machines can be difficult.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572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A5753A7-73BA-59E0-1995-8B2BCFFC3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Client-Server Model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EB8C121E-8CBE-E2E4-60DC-C5DD61AD1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a distributed system model that shows how data and its processing are distributed across a multitude of component elements.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Includes:</a:t>
            </a:r>
          </a:p>
          <a:p>
            <a:r>
              <a:rPr lang="en-US" dirty="0"/>
              <a:t>A set of standalone servers that provide specific services (such as printing services, data management services, etc.).</a:t>
            </a:r>
          </a:p>
          <a:p>
            <a:r>
              <a:rPr lang="en-US" dirty="0"/>
              <a:t>A set of customers who use these services.</a:t>
            </a:r>
          </a:p>
          <a:p>
            <a:r>
              <a:rPr lang="en-US" dirty="0"/>
              <a:t>A network that allows clients to access servers.</a:t>
            </a:r>
          </a:p>
        </p:txBody>
      </p:sp>
    </p:spTree>
    <p:extLst>
      <p:ext uri="{BB962C8B-B14F-4D97-AF65-F5344CB8AC3E}">
        <p14:creationId xmlns:p14="http://schemas.microsoft.com/office/powerpoint/2010/main" val="3917647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26BD36B-E20F-3337-A966-5A8EBDCC2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library of old movies and photos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C7CBA4E8-2EA7-D03E-6509-3D012E56E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0" name="Diagram box 100"/>
          <p:cNvSpPr/>
          <p:nvPr/>
        </p:nvSpPr>
        <p:spPr>
          <a:xfrm>
            <a:off x="4666267" y="3286594"/>
            <a:ext cx="2700000" cy="950000"/>
          </a:xfrm>
          <a:prstGeom prst="roundRect">
            <a:avLst/>
          </a:prstGeom>
          <a:solidFill>
            <a:srgbClr val="2E83C3"/>
          </a:solidFill>
          <a:ln w="19050">
            <a:solidFill>
              <a:srgbClr val="2E83C3"/>
            </a:solidFill>
          </a:ln>
        </p:spPr>
        <p:txBody>
          <a:bodyPr wrap="square" lIns="90000" tIns="60000" rIns="90000" bIns="6000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Trebuchet MS"/>
              </a:rPr>
              <a:t>Network</a:t>
            </a:r>
            <a:endParaRPr lang="en-US" sz="1500"/>
          </a:p>
        </p:txBody>
      </p:sp>
      <p:sp>
        <p:nvSpPr>
          <p:cNvPr id="110" name="Diagram box 110"/>
          <p:cNvSpPr/>
          <p:nvPr/>
        </p:nvSpPr>
        <p:spPr>
          <a:xfrm>
            <a:off x="700000" y="2397639"/>
            <a:ext cx="2800000" cy="850000"/>
          </a:xfrm>
          <a:prstGeom prst="roundRect">
            <a:avLst/>
          </a:prstGeom>
          <a:solidFill>
            <a:srgbClr val="EBEBEB"/>
          </a:solidFill>
          <a:ln w="19050">
            <a:solidFill>
              <a:srgbClr val="42D0A2"/>
            </a:solidFill>
          </a:ln>
        </p:spPr>
        <p:txBody>
          <a:bodyPr wrap="square" lIns="90000" tIns="60000" rIns="90000" bIns="60000" anchor="ctr"/>
          <a:lstStyle/>
          <a:p>
            <a:pPr algn="ctr"/>
            <a:r>
              <a:rPr lang="en-US" sz="1500" b="1">
                <a:solidFill>
                  <a:srgbClr val="2C3C43"/>
                </a:solidFill>
                <a:latin typeface="Trebuchet MS"/>
              </a:rPr>
              <a:t>Library client</a:t>
            </a:r>
            <a:endParaRPr lang="en-US" sz="1500"/>
          </a:p>
        </p:txBody>
      </p:sp>
      <p:cxnSp>
        <p:nvCxnSpPr>
          <p:cNvPr id="130" name="Arrow 130"/>
          <p:cNvCxnSpPr>
            <a:cxnSpLocks/>
            <a:stCxn id="110" idx="3"/>
          </p:cNvCxnSpPr>
          <p:nvPr/>
        </p:nvCxnSpPr>
        <p:spPr>
          <a:xfrm>
            <a:off x="3500000" y="2822639"/>
            <a:ext cx="1166267" cy="900000"/>
          </a:xfrm>
          <a:prstGeom prst="line">
            <a:avLst/>
          </a:prstGeom>
          <a:ln w="28575">
            <a:solidFill>
              <a:srgbClr val="2E83C3"/>
            </a:solidFill>
            <a:tailEnd type="none"/>
          </a:ln>
        </p:spPr>
      </p:cxnSp>
      <p:sp>
        <p:nvSpPr>
          <p:cNvPr id="111" name="Diagram box 111"/>
          <p:cNvSpPr/>
          <p:nvPr/>
        </p:nvSpPr>
        <p:spPr>
          <a:xfrm>
            <a:off x="8592002" y="2392795"/>
            <a:ext cx="2800000" cy="850000"/>
          </a:xfrm>
          <a:prstGeom prst="roundRect">
            <a:avLst/>
          </a:prstGeom>
          <a:solidFill>
            <a:srgbClr val="EBEBEB"/>
          </a:solidFill>
          <a:ln w="19050">
            <a:solidFill>
              <a:srgbClr val="42D0A2"/>
            </a:solidFill>
          </a:ln>
        </p:spPr>
        <p:txBody>
          <a:bodyPr wrap="square" lIns="90000" tIns="60000" rIns="90000" bIns="60000" anchor="ctr"/>
          <a:lstStyle/>
          <a:p>
            <a:pPr algn="ctr"/>
            <a:r>
              <a:rPr lang="en-US" sz="1500" b="1" dirty="0">
                <a:solidFill>
                  <a:srgbClr val="2C3C43"/>
                </a:solidFill>
              </a:rPr>
              <a:t>Catalogue server</a:t>
            </a:r>
            <a:endParaRPr lang="en-US" sz="1500" dirty="0"/>
          </a:p>
          <a:p>
            <a:pPr algn="ctr"/>
            <a:endParaRPr lang="en-US" sz="1500" dirty="0"/>
          </a:p>
        </p:txBody>
      </p:sp>
      <p:cxnSp>
        <p:nvCxnSpPr>
          <p:cNvPr id="131" name="Arrow 131"/>
          <p:cNvCxnSpPr>
            <a:cxnSpLocks/>
            <a:stCxn id="100" idx="3"/>
            <a:endCxn id="111" idx="1"/>
          </p:cNvCxnSpPr>
          <p:nvPr/>
        </p:nvCxnSpPr>
        <p:spPr>
          <a:xfrm flipV="1">
            <a:off x="7366267" y="2817795"/>
            <a:ext cx="1225735" cy="943799"/>
          </a:xfrm>
          <a:prstGeom prst="line">
            <a:avLst/>
          </a:prstGeom>
          <a:ln w="28575">
            <a:solidFill>
              <a:srgbClr val="2E83C3"/>
            </a:solidFill>
            <a:tailEnd type="none"/>
          </a:ln>
        </p:spPr>
      </p:cxnSp>
      <p:sp>
        <p:nvSpPr>
          <p:cNvPr id="112" name="Diagram box 112"/>
          <p:cNvSpPr/>
          <p:nvPr/>
        </p:nvSpPr>
        <p:spPr>
          <a:xfrm>
            <a:off x="700000" y="4400000"/>
            <a:ext cx="2800000" cy="850000"/>
          </a:xfrm>
          <a:prstGeom prst="roundRect">
            <a:avLst/>
          </a:prstGeom>
          <a:solidFill>
            <a:srgbClr val="EBEBEB"/>
          </a:solidFill>
          <a:ln w="19050">
            <a:solidFill>
              <a:srgbClr val="42D0A2"/>
            </a:solidFill>
          </a:ln>
        </p:spPr>
        <p:txBody>
          <a:bodyPr wrap="square" lIns="90000" tIns="60000" rIns="90000" bIns="60000" anchor="ctr"/>
          <a:lstStyle/>
          <a:p>
            <a:pPr algn="ctr"/>
            <a:r>
              <a:rPr lang="en-US" sz="1500" b="1">
                <a:solidFill>
                  <a:srgbClr val="2C3C43"/>
                </a:solidFill>
              </a:rPr>
              <a:t>Web client</a:t>
            </a:r>
            <a:endParaRPr lang="en-US" sz="1500" dirty="0"/>
          </a:p>
        </p:txBody>
      </p:sp>
      <p:cxnSp>
        <p:nvCxnSpPr>
          <p:cNvPr id="132" name="Arrow 132"/>
          <p:cNvCxnSpPr>
            <a:cxnSpLocks/>
            <a:endCxn id="100" idx="1"/>
          </p:cNvCxnSpPr>
          <p:nvPr/>
        </p:nvCxnSpPr>
        <p:spPr>
          <a:xfrm flipV="1">
            <a:off x="3466267" y="3761594"/>
            <a:ext cx="1200000" cy="1500000"/>
          </a:xfrm>
          <a:prstGeom prst="line">
            <a:avLst/>
          </a:prstGeom>
          <a:ln w="28575">
            <a:solidFill>
              <a:srgbClr val="2E83C3"/>
            </a:solidFill>
            <a:tailEnd type="none"/>
          </a:ln>
        </p:spPr>
      </p:cxnSp>
      <p:sp>
        <p:nvSpPr>
          <p:cNvPr id="113" name="Diagram box 113"/>
          <p:cNvSpPr/>
          <p:nvPr/>
        </p:nvSpPr>
        <p:spPr>
          <a:xfrm>
            <a:off x="8500000" y="4400000"/>
            <a:ext cx="2800000" cy="850000"/>
          </a:xfrm>
          <a:prstGeom prst="roundRect">
            <a:avLst/>
          </a:prstGeom>
          <a:solidFill>
            <a:srgbClr val="EBEBEB"/>
          </a:solidFill>
          <a:ln w="19050">
            <a:solidFill>
              <a:srgbClr val="42D0A2"/>
            </a:solidFill>
          </a:ln>
        </p:spPr>
        <p:txBody>
          <a:bodyPr wrap="square" lIns="90000" tIns="60000" rIns="90000" bIns="60000" anchor="ctr"/>
          <a:lstStyle/>
          <a:p>
            <a:pPr algn="ctr"/>
            <a:r>
              <a:rPr lang="en-US" sz="1500" b="1">
                <a:solidFill>
                  <a:srgbClr val="2C3C43"/>
                </a:solidFill>
                <a:latin typeface="Trebuchet MS"/>
              </a:rPr>
              <a:t>Media server</a:t>
            </a:r>
            <a:endParaRPr lang="en-US" sz="1500"/>
          </a:p>
        </p:txBody>
      </p:sp>
      <p:cxnSp>
        <p:nvCxnSpPr>
          <p:cNvPr id="133" name="Arrow 133"/>
          <p:cNvCxnSpPr>
            <a:cxnSpLocks/>
          </p:cNvCxnSpPr>
          <p:nvPr/>
        </p:nvCxnSpPr>
        <p:spPr>
          <a:xfrm>
            <a:off x="7333733" y="3722639"/>
            <a:ext cx="1132534" cy="1054722"/>
          </a:xfrm>
          <a:prstGeom prst="line">
            <a:avLst/>
          </a:prstGeom>
          <a:ln w="28575">
            <a:solidFill>
              <a:srgbClr val="2E83C3"/>
            </a:solidFill>
            <a:tailEnd type="none"/>
          </a:ln>
        </p:spPr>
      </p:cxnSp>
    </p:spTree>
    <p:extLst>
      <p:ext uri="{BB962C8B-B14F-4D97-AF65-F5344CB8AC3E}">
        <p14:creationId xmlns:p14="http://schemas.microsoft.com/office/powerpoint/2010/main" val="1666461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5941E02-9827-A2D9-1FCC-91C7EC32B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the Client-Server Model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27A8D8C4-20A0-C08F-3F8C-007A58C789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Advantages</a:t>
            </a:r>
          </a:p>
          <a:p>
            <a:endParaRPr lang="en-US" dirty="0"/>
          </a:p>
          <a:p>
            <a:r>
              <a:rPr lang="en-US" dirty="0"/>
              <a:t>Easy data sharing.</a:t>
            </a:r>
          </a:p>
          <a:p>
            <a:r>
              <a:rPr lang="en-US" dirty="0"/>
              <a:t>Efficient utilization of networked systems. Cheaper hardware is required.</a:t>
            </a:r>
          </a:p>
          <a:p>
            <a:r>
              <a:rPr lang="en-US" dirty="0"/>
              <a:t>Easily add new servers or upgrade existing ones.</a:t>
            </a:r>
          </a:p>
        </p:txBody>
      </p: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984F67BB-0554-A9A4-0C0B-8F83B328E7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Disadvantages</a:t>
            </a:r>
          </a:p>
          <a:p>
            <a:r>
              <a:rPr lang="en-US" dirty="0"/>
              <a:t>There is no common data model, so subsystems organize their data in different ways.</a:t>
            </a:r>
          </a:p>
          <a:p>
            <a:r>
              <a:rPr lang="en-US" dirty="0"/>
              <a:t>Data exchange may not be efficient.</a:t>
            </a:r>
          </a:p>
          <a:p>
            <a:r>
              <a:rPr lang="en-US" dirty="0"/>
              <a:t>Redundant management functions on each server.</a:t>
            </a:r>
          </a:p>
          <a:p>
            <a:r>
              <a:rPr lang="en-US" dirty="0"/>
              <a:t>There is no central name and service registry - it may be difficult to find available servers and services.</a:t>
            </a:r>
          </a:p>
        </p:txBody>
      </p:sp>
    </p:spTree>
    <p:extLst>
      <p:ext uri="{BB962C8B-B14F-4D97-AF65-F5344CB8AC3E}">
        <p14:creationId xmlns:p14="http://schemas.microsoft.com/office/powerpoint/2010/main" val="2806401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Τίτλος 4">
            <a:extLst>
              <a:ext uri="{FF2B5EF4-FFF2-40B4-BE49-F238E27FC236}">
                <a16:creationId xmlns:a16="http://schemas.microsoft.com/office/drawing/2014/main" id="{B70DBC27-067F-F8F2-9140-E4ADCDE70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Machine Model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D466A42D-FDC0-138F-E86D-2A414268F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Also known as layered architecture.</a:t>
            </a:r>
          </a:p>
          <a:p>
            <a:endParaRPr lang="en-US" dirty="0"/>
          </a:p>
          <a:p>
            <a:r>
              <a:rPr lang="en-US" dirty="0"/>
              <a:t>It organizes the system into layers, where each layer provides a set of services to the immediately higher layer.</a:t>
            </a:r>
          </a:p>
          <a:p>
            <a:endParaRPr lang="en-US" dirty="0"/>
          </a:p>
          <a:p>
            <a:r>
              <a:rPr lang="en-US" dirty="0"/>
              <a:t>It supports incremental system development. As a layer is added, it builds on the services of the layer immediately below.</a:t>
            </a:r>
          </a:p>
          <a:p>
            <a:endParaRPr lang="en-US" dirty="0"/>
          </a:p>
          <a:p>
            <a:r>
              <a:rPr lang="en-US" dirty="0"/>
              <a:t>During development, it is possible to replace a layer with a different and more efficient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6450209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73FE2EA-6B7C-5CE4-28FE-6B74CEC6F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code version control system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02FEF6C-E186-6894-23E2-BF85ECD58E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777D71D2-8535-8937-A9BE-755C8333C0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" name="Diagram box 100"/>
          <p:cNvSpPr/>
          <p:nvPr/>
        </p:nvSpPr>
        <p:spPr>
          <a:xfrm>
            <a:off x="2350000" y="2272516"/>
            <a:ext cx="7500000" cy="520000"/>
          </a:xfrm>
          <a:prstGeom prst="roundRect">
            <a:avLst/>
          </a:prstGeom>
          <a:solidFill>
            <a:srgbClr val="EBEBEB"/>
          </a:solidFill>
          <a:ln w="19050">
            <a:solidFill>
              <a:srgbClr val="2E83C3"/>
            </a:solidFill>
          </a:ln>
        </p:spPr>
        <p:txBody>
          <a:bodyPr wrap="square" lIns="90000" tIns="60000" rIns="90000" bIns="60000" anchor="ctr"/>
          <a:lstStyle/>
          <a:p>
            <a:pPr algn="ctr"/>
            <a:r>
              <a:rPr lang="en-US" sz="1500" b="1">
                <a:solidFill>
                  <a:srgbClr val="2C3C43"/>
                </a:solidFill>
                <a:latin typeface="Trebuchet MS"/>
              </a:rPr>
              <a:t>User interface</a:t>
            </a:r>
            <a:endParaRPr lang="en-US" sz="1500"/>
          </a:p>
        </p:txBody>
      </p:sp>
      <p:sp>
        <p:nvSpPr>
          <p:cNvPr id="101" name="Diagram box 101"/>
          <p:cNvSpPr/>
          <p:nvPr/>
        </p:nvSpPr>
        <p:spPr>
          <a:xfrm>
            <a:off x="2350000" y="2882516"/>
            <a:ext cx="7500000" cy="520000"/>
          </a:xfrm>
          <a:prstGeom prst="roundRect">
            <a:avLst/>
          </a:prstGeom>
          <a:solidFill>
            <a:srgbClr val="EBEBEB"/>
          </a:solidFill>
          <a:ln w="19050">
            <a:solidFill>
              <a:srgbClr val="2E83C3"/>
            </a:solidFill>
          </a:ln>
        </p:spPr>
        <p:txBody>
          <a:bodyPr wrap="square" lIns="90000" tIns="60000" rIns="90000" bIns="60000" anchor="ctr"/>
          <a:lstStyle/>
          <a:p>
            <a:pPr algn="ctr"/>
            <a:r>
              <a:rPr lang="en-US" sz="1500" b="1">
                <a:solidFill>
                  <a:srgbClr val="2C3C43"/>
                </a:solidFill>
                <a:latin typeface="Trebuchet MS"/>
              </a:rPr>
              <a:t>Object management</a:t>
            </a:r>
            <a:endParaRPr lang="en-US" sz="1500"/>
          </a:p>
        </p:txBody>
      </p:sp>
      <p:sp>
        <p:nvSpPr>
          <p:cNvPr id="102" name="Diagram box 102"/>
          <p:cNvSpPr/>
          <p:nvPr/>
        </p:nvSpPr>
        <p:spPr>
          <a:xfrm>
            <a:off x="2350000" y="3492516"/>
            <a:ext cx="7500000" cy="520000"/>
          </a:xfrm>
          <a:prstGeom prst="roundRect">
            <a:avLst/>
          </a:prstGeom>
          <a:solidFill>
            <a:srgbClr val="EBEBEB"/>
          </a:solidFill>
          <a:ln w="19050">
            <a:solidFill>
              <a:srgbClr val="2E83C3"/>
            </a:solidFill>
          </a:ln>
        </p:spPr>
        <p:txBody>
          <a:bodyPr wrap="square" lIns="90000" tIns="60000" rIns="90000" bIns="60000" anchor="ctr"/>
          <a:lstStyle/>
          <a:p>
            <a:pPr algn="ctr"/>
            <a:r>
              <a:rPr lang="en-US" sz="1500" b="1">
                <a:solidFill>
                  <a:srgbClr val="2C3C43"/>
                </a:solidFill>
                <a:latin typeface="Trebuchet MS"/>
              </a:rPr>
              <a:t>Version management</a:t>
            </a:r>
            <a:endParaRPr lang="en-US" sz="1500"/>
          </a:p>
        </p:txBody>
      </p:sp>
      <p:sp>
        <p:nvSpPr>
          <p:cNvPr id="103" name="Diagram box 103"/>
          <p:cNvSpPr/>
          <p:nvPr/>
        </p:nvSpPr>
        <p:spPr>
          <a:xfrm>
            <a:off x="2350000" y="4102516"/>
            <a:ext cx="7500000" cy="520000"/>
          </a:xfrm>
          <a:prstGeom prst="roundRect">
            <a:avLst/>
          </a:prstGeom>
          <a:solidFill>
            <a:srgbClr val="EBEBEB"/>
          </a:solidFill>
          <a:ln w="19050">
            <a:solidFill>
              <a:srgbClr val="2E83C3"/>
            </a:solidFill>
          </a:ln>
        </p:spPr>
        <p:txBody>
          <a:bodyPr wrap="square" lIns="90000" tIns="60000" rIns="90000" bIns="60000" anchor="ctr"/>
          <a:lstStyle/>
          <a:p>
            <a:pPr algn="ctr"/>
            <a:r>
              <a:rPr lang="en-US" sz="1500" b="1">
                <a:solidFill>
                  <a:srgbClr val="2C3C43"/>
                </a:solidFill>
                <a:latin typeface="Trebuchet MS"/>
              </a:rPr>
              <a:t>Storage management</a:t>
            </a:r>
            <a:endParaRPr lang="en-US" sz="1500"/>
          </a:p>
        </p:txBody>
      </p:sp>
      <p:sp>
        <p:nvSpPr>
          <p:cNvPr id="104" name="Diagram box 104"/>
          <p:cNvSpPr/>
          <p:nvPr/>
        </p:nvSpPr>
        <p:spPr>
          <a:xfrm>
            <a:off x="2350000" y="4712516"/>
            <a:ext cx="7500000" cy="520000"/>
          </a:xfrm>
          <a:prstGeom prst="roundRect">
            <a:avLst/>
          </a:prstGeom>
          <a:solidFill>
            <a:srgbClr val="EBEBEB"/>
          </a:solidFill>
          <a:ln w="19050">
            <a:solidFill>
              <a:srgbClr val="2E83C3"/>
            </a:solidFill>
          </a:ln>
        </p:spPr>
        <p:txBody>
          <a:bodyPr wrap="square" lIns="90000" tIns="60000" rIns="90000" bIns="60000" anchor="ctr"/>
          <a:lstStyle/>
          <a:p>
            <a:pPr algn="ctr"/>
            <a:r>
              <a:rPr lang="en-US" sz="1500" b="1">
                <a:solidFill>
                  <a:srgbClr val="2C3C43"/>
                </a:solidFill>
                <a:latin typeface="Trebuchet MS"/>
              </a:rPr>
              <a:t>Repository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429419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Τίτλος 4">
            <a:extLst>
              <a:ext uri="{FF2B5EF4-FFF2-40B4-BE49-F238E27FC236}">
                <a16:creationId xmlns:a16="http://schemas.microsoft.com/office/drawing/2014/main" id="{08B2073F-EAC6-FACD-ED2F-D86C83C50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the Abstract Machine Model</a:t>
            </a:r>
          </a:p>
        </p:txBody>
      </p:sp>
      <p:sp>
        <p:nvSpPr>
          <p:cNvPr id="7" name="Θέση περιεχομένου 6">
            <a:extLst>
              <a:ext uri="{FF2B5EF4-FFF2-40B4-BE49-F238E27FC236}">
                <a16:creationId xmlns:a16="http://schemas.microsoft.com/office/drawing/2014/main" id="{D07FAC3F-396E-8BC9-B666-E838379DD4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Advantages</a:t>
            </a:r>
          </a:p>
          <a:p>
            <a:r>
              <a:rPr lang="en-US" dirty="0"/>
              <a:t>Allows layer replacement.</a:t>
            </a:r>
          </a:p>
          <a:p>
            <a:r>
              <a:rPr lang="en-US" b="1" dirty="0"/>
              <a:t>Isolation of layers. Changing one layer affects only the immediately adjacent layers.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Θέση περιεχομένου 7">
            <a:extLst>
              <a:ext uri="{FF2B5EF4-FFF2-40B4-BE49-F238E27FC236}">
                <a16:creationId xmlns:a16="http://schemas.microsoft.com/office/drawing/2014/main" id="{F00F669A-32EF-83E6-489C-2283238F48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r>
              <a:rPr lang="en-US" dirty="0"/>
              <a:t>The practical grouping of functions into levels is often difficult.</a:t>
            </a:r>
          </a:p>
          <a:p>
            <a:r>
              <a:rPr lang="en-US" dirty="0"/>
              <a:t>System operation may be inefficient due to multiple communication interfaces.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362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8472433-330E-8F71-3D65-3C22DF1A2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 Building Models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AA11B73-1ECA-EE0E-8A72-9A400D003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Structural models show how the system is structured for development.</a:t>
            </a:r>
          </a:p>
          <a:p>
            <a:r>
              <a:rPr lang="en-US" dirty="0"/>
              <a:t>These models consist of subunits which are:</a:t>
            </a:r>
          </a:p>
          <a:p>
            <a:pPr lvl="1"/>
            <a:r>
              <a:rPr lang="en-US" dirty="0"/>
              <a:t>Development components</a:t>
            </a:r>
          </a:p>
          <a:p>
            <a:pPr lvl="1"/>
            <a:r>
              <a:rPr lang="en-US" dirty="0"/>
              <a:t>Recognizable</a:t>
            </a:r>
          </a:p>
          <a:p>
            <a:pPr lvl="1"/>
            <a:r>
              <a:rPr lang="en-US" dirty="0"/>
              <a:t>Autonomous (can be implemented independently)</a:t>
            </a:r>
          </a:p>
          <a:p>
            <a:r>
              <a:rPr lang="en-US" dirty="0"/>
              <a:t>Two styles are widely used:</a:t>
            </a:r>
          </a:p>
          <a:p>
            <a:r>
              <a:rPr lang="en-US" b="1" dirty="0"/>
              <a:t>Object model.</a:t>
            </a:r>
          </a:p>
          <a:p>
            <a:r>
              <a:rPr lang="en-US" b="1" dirty="0"/>
              <a:t>Pipeline model (or filter model).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505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6E65D48-21AA-976F-CBB7-206CA28AC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Model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84EE1D9F-EA17-671F-D017-1257E1ACF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is decomposed into discrete objects that interact with each other.</a:t>
            </a:r>
          </a:p>
          <a:p>
            <a:r>
              <a:rPr lang="en-US" dirty="0"/>
              <a:t>Each object is a self-contained component with:</a:t>
            </a:r>
          </a:p>
          <a:p>
            <a:pPr lvl="1"/>
            <a:r>
              <a:rPr lang="en-US" dirty="0"/>
              <a:t>Its own database and functions</a:t>
            </a:r>
          </a:p>
          <a:p>
            <a:pPr lvl="1"/>
            <a:r>
              <a:rPr lang="en-US" b="1" dirty="0"/>
              <a:t>No direct access to the data and functions of other objects</a:t>
            </a:r>
          </a:p>
          <a:p>
            <a:r>
              <a:rPr lang="en-US" dirty="0"/>
              <a:t>Objects have hidden information and define a public interface that allows other objects to access them.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431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9649AFF-9040-A092-749E-C609A43F7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Invoice system</a:t>
            </a:r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2AFB2522-368E-3528-54B4-462735F66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864" y="1676400"/>
            <a:ext cx="8596669" cy="481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688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9CFA21E-DD4C-C785-3DAF-0BF55ACBA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the Object-Oriented Model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46ACBD0-F630-C055-3501-5268B985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25053"/>
            <a:ext cx="5157787" cy="42646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Advantages</a:t>
            </a:r>
          </a:p>
          <a:p>
            <a:r>
              <a:rPr lang="en-US" dirty="0"/>
              <a:t>Objects are loosely coupled, so their implementation can be modified without affecting other objects.</a:t>
            </a:r>
          </a:p>
          <a:p>
            <a:endParaRPr lang="en-US" dirty="0"/>
          </a:p>
          <a:p>
            <a:r>
              <a:rPr lang="en-US" dirty="0"/>
              <a:t>Objects can be representations of real-world entities.</a:t>
            </a:r>
          </a:p>
          <a:p>
            <a:endParaRPr lang="en-US" dirty="0"/>
          </a:p>
          <a:p>
            <a:r>
              <a:rPr lang="en-US" dirty="0"/>
              <a:t>There is widespread use of object-oriented programming languages.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49863B93-34EE-E353-E6B2-4463115A1E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5053"/>
            <a:ext cx="5183188" cy="42646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Disadvantages</a:t>
            </a:r>
          </a:p>
          <a:p>
            <a:r>
              <a:rPr lang="en-US" dirty="0"/>
              <a:t>However, possible modifications to the object interface can cause problems, while it can still be difficult to represent complex entities as objects.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5145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5178B5E-4A31-24DE-C8A9-B248EE91D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Pipeline and Filter Model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340CD56A-2438-6721-7E78-CB77C0DDB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Alternative name: Functionally Oriented Pipeline Model</a:t>
            </a:r>
          </a:p>
          <a:p>
            <a:r>
              <a:rPr lang="en-US" dirty="0"/>
              <a:t>Functional transformations process input data and produce output data.</a:t>
            </a:r>
          </a:p>
          <a:p>
            <a:r>
              <a:rPr lang="en-US" dirty="0"/>
              <a:t>The system is organized as a series of processing elements (known as filters).</a:t>
            </a:r>
          </a:p>
          <a:p>
            <a:r>
              <a:rPr lang="en-US" dirty="0"/>
              <a:t>Data flows through these components (known as pipelines).</a:t>
            </a:r>
          </a:p>
          <a:p>
            <a:r>
              <a:rPr lang="en-US" dirty="0"/>
              <a:t>Data flows in one direction only.</a:t>
            </a:r>
          </a:p>
          <a:p>
            <a:r>
              <a:rPr lang="en-US" dirty="0"/>
              <a:t>It is usually used in data processing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6091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6CDA2FE-74C9-63D5-7C20-B90EE9B8C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and Filter Model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E0508FEA-08A8-BAE5-EFF8-1BA922BBF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It is called the pipe and filter model, from the terminology used in UNIX.</a:t>
            </a:r>
          </a:p>
          <a:p>
            <a:endParaRPr lang="en-US" dirty="0"/>
          </a:p>
          <a:p>
            <a:r>
              <a:rPr lang="en-US" dirty="0"/>
              <a:t>Variants of this approach are commonplace. When the transformations are serial, then the architectural model is a serial batch processing model, which is used extensively in data processing systems.</a:t>
            </a:r>
          </a:p>
          <a:p>
            <a:endParaRPr lang="en-US" dirty="0"/>
          </a:p>
          <a:p>
            <a:r>
              <a:rPr lang="en-US" dirty="0"/>
              <a:t>Not recommended for interactive systems.</a:t>
            </a:r>
          </a:p>
        </p:txBody>
      </p:sp>
    </p:spTree>
    <p:extLst>
      <p:ext uri="{BB962C8B-B14F-4D97-AF65-F5344CB8AC3E}">
        <p14:creationId xmlns:p14="http://schemas.microsoft.com/office/powerpoint/2010/main" val="35245161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BB756B8-7FFB-6240-F2BA-5CAF9C2B1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Invoice management system</a:t>
            </a: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8195B858-A670-D8C2-906B-B9D52F1D1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68" y="2099734"/>
            <a:ext cx="9245600" cy="308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0282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A759C43-0750-9B19-F96A-5F13453CA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Funnel model features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ADE836DD-8733-6028-21CC-93B22D3865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Advantages</a:t>
            </a:r>
          </a:p>
          <a:p>
            <a:r>
              <a:rPr lang="en-US" dirty="0"/>
              <a:t>Supports the reuse of transformations.</a:t>
            </a:r>
          </a:p>
          <a:p>
            <a:endParaRPr lang="en-US" dirty="0"/>
          </a:p>
          <a:p>
            <a:r>
              <a:rPr lang="en-US" b="1" dirty="0"/>
              <a:t>Intuitively understandable organization that facilitates communication with stakeholders.</a:t>
            </a:r>
          </a:p>
          <a:p>
            <a:endParaRPr lang="en-US" dirty="0"/>
          </a:p>
          <a:p>
            <a:r>
              <a:rPr lang="en-US" dirty="0"/>
              <a:t>Easy to add new transformations.</a:t>
            </a:r>
          </a:p>
          <a:p>
            <a:endParaRPr lang="en-US" dirty="0"/>
          </a:p>
          <a:p>
            <a:r>
              <a:rPr lang="en-US" dirty="0"/>
              <a:t>Relatively simple implementation of the system, either as serial or as simultaneous.</a:t>
            </a:r>
          </a:p>
        </p:txBody>
      </p: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0DCD9359-F8C2-F03E-9B89-A08828B6F6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Disadvantages</a:t>
            </a:r>
          </a:p>
          <a:p>
            <a:r>
              <a:rPr lang="en-US" dirty="0"/>
              <a:t>It requires a common format for transferring data along the pipeline, while at the same time it is difficult to support event-based interaction.</a:t>
            </a:r>
          </a:p>
        </p:txBody>
      </p:sp>
    </p:spTree>
    <p:extLst>
      <p:ext uri="{BB962C8B-B14F-4D97-AF65-F5344CB8AC3E}">
        <p14:creationId xmlns:p14="http://schemas.microsoft.com/office/powerpoint/2010/main" val="6401459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2FF484A-21BB-4D89-935D-73DFCE193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style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F63952D-F8D0-878D-BA10-BE8D42181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concerns the flow of control between subsystems. It is separate from the system decomposition model.</a:t>
            </a:r>
          </a:p>
          <a:p>
            <a:r>
              <a:rPr lang="en-US" dirty="0"/>
              <a:t>Centralized control:</a:t>
            </a:r>
          </a:p>
          <a:p>
            <a:pPr lvl="1"/>
            <a:r>
              <a:rPr lang="en-US" dirty="0"/>
              <a:t>One subsystem has overall responsibility for controlling, starting and stopping the other subsystems.</a:t>
            </a:r>
          </a:p>
          <a:p>
            <a:pPr lvl="1"/>
            <a:endParaRPr lang="en-US" dirty="0"/>
          </a:p>
          <a:p>
            <a:r>
              <a:rPr lang="en-US" dirty="0"/>
              <a:t>Event-based control</a:t>
            </a:r>
          </a:p>
          <a:p>
            <a:pPr lvl="1"/>
            <a:r>
              <a:rPr lang="en-US" dirty="0"/>
              <a:t>Each subsystem can respond to externally generated events from other subsystems or from the system environment.</a:t>
            </a:r>
          </a:p>
        </p:txBody>
      </p:sp>
    </p:spTree>
    <p:extLst>
      <p:ext uri="{BB962C8B-B14F-4D97-AF65-F5344CB8AC3E}">
        <p14:creationId xmlns:p14="http://schemas.microsoft.com/office/powerpoint/2010/main" val="30804882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3F010A2-5F26-9DF1-007A-5A19B2123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Centralized Control Model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FF3F7F5-50E7-7C0F-18F5-1DCBEDD33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subsystem is the central controller and is responsible for managing the execution of other subsystems.</a:t>
            </a:r>
          </a:p>
          <a:p>
            <a:r>
              <a:rPr lang="en-US" dirty="0"/>
              <a:t>There are two main forms of this model:</a:t>
            </a:r>
          </a:p>
          <a:p>
            <a:pPr lvl="1"/>
            <a:r>
              <a:rPr lang="en-US" b="1" dirty="0"/>
              <a:t>Call–Return Model.</a:t>
            </a:r>
          </a:p>
          <a:p>
            <a:pPr lvl="1"/>
            <a:r>
              <a:rPr lang="en-US" b="1" dirty="0"/>
              <a:t>Manager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971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105CB22-85C7-0E1D-6364-094F38ED7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Call-Return Model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912EE66-2C0D-C5EA-D915-32906AF96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1667"/>
            <a:ext cx="10515600" cy="4351338"/>
          </a:xfrm>
        </p:spPr>
        <p:txBody>
          <a:bodyPr/>
          <a:lstStyle/>
          <a:p>
            <a:r>
              <a:rPr lang="en-US" dirty="0"/>
              <a:t>It is used in centralized systems.</a:t>
            </a:r>
          </a:p>
          <a:p>
            <a:r>
              <a:rPr lang="en-US" dirty="0"/>
              <a:t>Control starts at the top of the hierarchy and is performed by a main program.</a:t>
            </a:r>
          </a:p>
          <a:p>
            <a:r>
              <a:rPr lang="en-US" dirty="0"/>
              <a:t>The system's functions are included in its subroutines or procedures.</a:t>
            </a:r>
          </a:p>
          <a:p>
            <a:r>
              <a:rPr lang="en-US" dirty="0"/>
              <a:t>Control starts at the top of the tree and moves down to the lower levels.</a:t>
            </a:r>
          </a:p>
          <a:p>
            <a:r>
              <a:rPr lang="en-US" dirty="0"/>
              <a:t>It is applicable only to serial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4800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CFFBA1A-B0EA-51B9-8715-75696434F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Call-Return Model</a:t>
            </a:r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D8305B95-9883-966B-AE1C-7F2C6280D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745053"/>
            <a:ext cx="9274002" cy="437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3245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A5CE84D-F05E-01BE-FAB8-B7B72BBEA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Administrator Model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30AF58E1-9A81-BA87-ECD7-96928C1B3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applied to concurrent systems.</a:t>
            </a:r>
          </a:p>
          <a:p>
            <a:r>
              <a:rPr lang="en-US" dirty="0"/>
              <a:t>The administrator is responsible for:</a:t>
            </a:r>
          </a:p>
          <a:p>
            <a:pPr lvl="1"/>
            <a:r>
              <a:rPr lang="en-US" dirty="0"/>
              <a:t>The beginning</a:t>
            </a:r>
          </a:p>
          <a:p>
            <a:pPr lvl="1"/>
            <a:r>
              <a:rPr lang="en-US" dirty="0"/>
              <a:t>The interruption</a:t>
            </a:r>
          </a:p>
          <a:p>
            <a:pPr lvl="1"/>
            <a:r>
              <a:rPr lang="en-US" dirty="0"/>
              <a:t>Coordination of the remaining subsystems.</a:t>
            </a:r>
          </a:p>
          <a:p>
            <a:r>
              <a:rPr lang="en-US" dirty="0"/>
              <a:t>This model is often implemented together with the object model.</a:t>
            </a:r>
          </a:p>
          <a:p>
            <a:r>
              <a:rPr lang="en-US" dirty="0"/>
              <a:t>It only applies to concurrent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5839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264DA3B-56E2-063E-EE21-EFACDE9A9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Administrator Model</a:t>
            </a: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D7E41AB1-E7CA-5310-A083-AF7871EC0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33" y="1737031"/>
            <a:ext cx="8042328" cy="479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6923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E3AF1FD-3A86-53EA-BCB6-3D2D00385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Event-driven Model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EB671F1A-DA9F-C334-9E31-C9EBDF740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subsystems of the system operate in parallel and compete for control.</a:t>
            </a:r>
          </a:p>
          <a:p>
            <a:r>
              <a:rPr lang="en-US" dirty="0"/>
              <a:t>The control is decided by an external event that occurs, which triggers its processing by one of the subsystems.</a:t>
            </a:r>
          </a:p>
          <a:p>
            <a:r>
              <a:rPr lang="en-US" dirty="0"/>
              <a:t>This model is often applied to real-time and interactive systems.</a:t>
            </a:r>
          </a:p>
          <a:p>
            <a:r>
              <a:rPr lang="en-US" dirty="0"/>
              <a:t>Types:</a:t>
            </a:r>
          </a:p>
          <a:p>
            <a:pPr lvl="1"/>
            <a:r>
              <a:rPr lang="en-US" dirty="0"/>
              <a:t>Emission Model</a:t>
            </a:r>
          </a:p>
          <a:p>
            <a:pPr lvl="1"/>
            <a:r>
              <a:rPr lang="en-US" dirty="0"/>
              <a:t>Holiday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659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59C3F09-9B6B-98A1-458B-4F8276943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Broadcast Model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9343412-806A-F373-0C54-2062D196A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  <a:p>
            <a:r>
              <a:rPr lang="en-US" dirty="0"/>
              <a:t>It is effective in integrating subsystems that are distributed across various computers on a network.</a:t>
            </a:r>
          </a:p>
          <a:p>
            <a:endParaRPr lang="en-US" dirty="0"/>
          </a:p>
          <a:p>
            <a:r>
              <a:rPr lang="en-US" dirty="0"/>
              <a:t>Subsystems declare interest in some specific events.</a:t>
            </a:r>
          </a:p>
          <a:p>
            <a:endParaRPr lang="en-US" dirty="0"/>
          </a:p>
          <a:p>
            <a:r>
              <a:rPr lang="en-US" dirty="0"/>
              <a:t>When one of these events occurs, control is transferred to the subsystem that can handle that specific event.</a:t>
            </a:r>
          </a:p>
          <a:p>
            <a:endParaRPr lang="en-US" dirty="0"/>
          </a:p>
          <a:p>
            <a:r>
              <a:rPr lang="en-US" dirty="0"/>
              <a:t>The control policy is not built into the event and message handler. Subsystems decide which events concern them.</a:t>
            </a:r>
          </a:p>
          <a:p>
            <a:endParaRPr lang="en-US" dirty="0"/>
          </a:p>
          <a:p>
            <a:r>
              <a:rPr lang="en-US" dirty="0"/>
              <a:t>However, they do not know if and when an incident will be handled.</a:t>
            </a:r>
          </a:p>
        </p:txBody>
      </p:sp>
    </p:spTree>
    <p:extLst>
      <p:ext uri="{BB962C8B-B14F-4D97-AF65-F5344CB8AC3E}">
        <p14:creationId xmlns:p14="http://schemas.microsoft.com/office/powerpoint/2010/main" val="4529934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7261946-5C70-7A9B-6A78-066D8DE8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 broadcast model</a:t>
            </a: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9B9E4915-58D4-3426-5EBE-A0B7A1CC8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02" y="1930400"/>
            <a:ext cx="8839200" cy="295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3147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10CFA49-9B23-5073-D303-0AB694781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Interrupt-driven Systems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45E16C5C-B2E1-15E5-46C7-478C6C94A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They are used in real-time systems, where a quick response to an event is essential.</a:t>
            </a:r>
          </a:p>
          <a:p>
            <a:endParaRPr lang="en-US" dirty="0"/>
          </a:p>
          <a:p>
            <a:r>
              <a:rPr lang="en-US" dirty="0"/>
              <a:t>There are a known number of types of interrupts, each of which has a handler defined.</a:t>
            </a:r>
          </a:p>
          <a:p>
            <a:endParaRPr lang="en-US" dirty="0"/>
          </a:p>
          <a:p>
            <a:r>
              <a:rPr lang="en-US" dirty="0"/>
              <a:t>Each interrupt type corresponds to a memory location and a hardware switch causes control to be transferred directly to its handler.</a:t>
            </a:r>
          </a:p>
          <a:p>
            <a:endParaRPr lang="en-US" dirty="0"/>
          </a:p>
          <a:p>
            <a:r>
              <a:rPr lang="en-US" dirty="0"/>
              <a:t>They allow for quick response, but their programming is complex and their validation is difficult.</a:t>
            </a:r>
          </a:p>
        </p:txBody>
      </p:sp>
    </p:spTree>
    <p:extLst>
      <p:ext uri="{BB962C8B-B14F-4D97-AF65-F5344CB8AC3E}">
        <p14:creationId xmlns:p14="http://schemas.microsoft.com/office/powerpoint/2010/main" val="13999601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C7B26F3-D264-3049-EEA3-51EA159BB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Interruption-driven control model</a:t>
            </a: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B631160B-1193-BDE3-42E4-B73D81969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29" y="1732832"/>
            <a:ext cx="6988612" cy="476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842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760CAE7-F53D-F02C-3B0B-10F3A809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 Architectures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F9BD453C-72C6-6825-C564-25DF4AAF0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Architectural models may only be suitable for specific application fields.</a:t>
            </a:r>
          </a:p>
          <a:p>
            <a:endParaRPr lang="en-US" dirty="0"/>
          </a:p>
          <a:p>
            <a:r>
              <a:rPr lang="en-US" dirty="0"/>
              <a:t>There are two types of domain architecture models:</a:t>
            </a:r>
          </a:p>
          <a:p>
            <a:endParaRPr lang="en-US" dirty="0"/>
          </a:p>
          <a:p>
            <a:pPr lvl="1"/>
            <a:r>
              <a:rPr lang="en-US" dirty="0"/>
              <a:t>General models: Abstractions that represent a set of real systems and encapsulate the main characteristics of these systems.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Reference models: More abstract, idealized models. They are a way of providing information about a specific class of systems and a way of comparing architectures.</a:t>
            </a:r>
          </a:p>
          <a:p>
            <a:endParaRPr lang="en-US" dirty="0"/>
          </a:p>
          <a:p>
            <a:r>
              <a:rPr lang="en-US" dirty="0"/>
              <a:t>Typically, general models are synthetic in their approach, while reference models are analytical.</a:t>
            </a:r>
          </a:p>
        </p:txBody>
      </p:sp>
    </p:spTree>
    <p:extLst>
      <p:ext uri="{BB962C8B-B14F-4D97-AF65-F5344CB8AC3E}">
        <p14:creationId xmlns:p14="http://schemas.microsoft.com/office/powerpoint/2010/main" val="18920552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861CEA1-ABE3-21E1-8DAC-AF44D3E1C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Architectures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49A8DE8-3F3E-CE90-168E-DD98709BD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 models usually result from a study of the scope of application and not a study of existing systems.</a:t>
            </a:r>
          </a:p>
          <a:p>
            <a:endParaRPr lang="en-US" dirty="0"/>
          </a:p>
          <a:p>
            <a:r>
              <a:rPr lang="en-US" dirty="0"/>
              <a:t>They can form the basis for implementing a system or for comparing different systems.</a:t>
            </a:r>
          </a:p>
          <a:p>
            <a:endParaRPr lang="en-US" dirty="0"/>
          </a:p>
          <a:p>
            <a:r>
              <a:rPr lang="en-US" dirty="0"/>
              <a:t>They constitute standards against which systems can be evaluated.</a:t>
            </a:r>
          </a:p>
          <a:p>
            <a:endParaRPr lang="en-US" dirty="0"/>
          </a:p>
          <a:p>
            <a:r>
              <a:rPr lang="en-US" dirty="0"/>
              <a:t>The OSI model is a multi-layered model of communication systems.</a:t>
            </a:r>
          </a:p>
        </p:txBody>
      </p:sp>
    </p:spTree>
    <p:extLst>
      <p:ext uri="{BB962C8B-B14F-4D97-AF65-F5344CB8AC3E}">
        <p14:creationId xmlns:p14="http://schemas.microsoft.com/office/powerpoint/2010/main" val="36685758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E60FFCF-B100-B751-F378-3A3D73C26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OSI Reference Model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278DD5F-DE97-CE1C-F1EF-59EC06EB8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" name="Diagram box 100"/>
          <p:cNvSpPr/>
          <p:nvPr/>
        </p:nvSpPr>
        <p:spPr>
          <a:xfrm>
            <a:off x="2350000" y="1500000"/>
            <a:ext cx="7500000" cy="520000"/>
          </a:xfrm>
          <a:prstGeom prst="roundRect">
            <a:avLst/>
          </a:prstGeom>
          <a:solidFill>
            <a:srgbClr val="EBEBEB"/>
          </a:solidFill>
          <a:ln w="19050">
            <a:solidFill>
              <a:srgbClr val="2E83C3"/>
            </a:solidFill>
          </a:ln>
        </p:spPr>
        <p:txBody>
          <a:bodyPr wrap="square" lIns="90000" tIns="60000" rIns="90000" bIns="60000" anchor="ctr"/>
          <a:lstStyle/>
          <a:p>
            <a:pPr algn="ctr"/>
            <a:r>
              <a:rPr lang="en-US" sz="1500" b="1">
                <a:solidFill>
                  <a:srgbClr val="2C3C43"/>
                </a:solidFill>
                <a:latin typeface="Trebuchet MS"/>
              </a:rPr>
              <a:t>7  Application</a:t>
            </a:r>
            <a:endParaRPr lang="en-US" sz="1500"/>
          </a:p>
        </p:txBody>
      </p:sp>
      <p:sp>
        <p:nvSpPr>
          <p:cNvPr id="101" name="Diagram box 101"/>
          <p:cNvSpPr/>
          <p:nvPr/>
        </p:nvSpPr>
        <p:spPr>
          <a:xfrm>
            <a:off x="2350000" y="2110000"/>
            <a:ext cx="7500000" cy="520000"/>
          </a:xfrm>
          <a:prstGeom prst="roundRect">
            <a:avLst/>
          </a:prstGeom>
          <a:solidFill>
            <a:srgbClr val="EBEBEB"/>
          </a:solidFill>
          <a:ln w="19050">
            <a:solidFill>
              <a:srgbClr val="2E83C3"/>
            </a:solidFill>
          </a:ln>
        </p:spPr>
        <p:txBody>
          <a:bodyPr wrap="square" lIns="90000" tIns="60000" rIns="90000" bIns="60000" anchor="ctr"/>
          <a:lstStyle/>
          <a:p>
            <a:pPr algn="ctr"/>
            <a:r>
              <a:rPr lang="en-US" sz="1500" b="1">
                <a:solidFill>
                  <a:srgbClr val="2C3C43"/>
                </a:solidFill>
                <a:latin typeface="Trebuchet MS"/>
              </a:rPr>
              <a:t>6  Presentation</a:t>
            </a:r>
            <a:endParaRPr lang="en-US" sz="1500"/>
          </a:p>
        </p:txBody>
      </p:sp>
      <p:sp>
        <p:nvSpPr>
          <p:cNvPr id="102" name="Diagram box 102"/>
          <p:cNvSpPr/>
          <p:nvPr/>
        </p:nvSpPr>
        <p:spPr>
          <a:xfrm>
            <a:off x="2350000" y="2720000"/>
            <a:ext cx="7500000" cy="520000"/>
          </a:xfrm>
          <a:prstGeom prst="roundRect">
            <a:avLst/>
          </a:prstGeom>
          <a:solidFill>
            <a:srgbClr val="EBEBEB"/>
          </a:solidFill>
          <a:ln w="19050">
            <a:solidFill>
              <a:srgbClr val="2E83C3"/>
            </a:solidFill>
          </a:ln>
        </p:spPr>
        <p:txBody>
          <a:bodyPr wrap="square" lIns="90000" tIns="60000" rIns="90000" bIns="60000" anchor="ctr"/>
          <a:lstStyle/>
          <a:p>
            <a:pPr algn="ctr"/>
            <a:r>
              <a:rPr lang="en-US" sz="1500" b="1">
                <a:solidFill>
                  <a:srgbClr val="2C3C43"/>
                </a:solidFill>
                <a:latin typeface="Trebuchet MS"/>
              </a:rPr>
              <a:t>5  Session</a:t>
            </a:r>
            <a:endParaRPr lang="en-US" sz="1500"/>
          </a:p>
        </p:txBody>
      </p:sp>
      <p:sp>
        <p:nvSpPr>
          <p:cNvPr id="103" name="Diagram box 103"/>
          <p:cNvSpPr/>
          <p:nvPr/>
        </p:nvSpPr>
        <p:spPr>
          <a:xfrm>
            <a:off x="2350000" y="3330000"/>
            <a:ext cx="7500000" cy="520000"/>
          </a:xfrm>
          <a:prstGeom prst="roundRect">
            <a:avLst/>
          </a:prstGeom>
          <a:solidFill>
            <a:srgbClr val="EBEBEB"/>
          </a:solidFill>
          <a:ln w="19050">
            <a:solidFill>
              <a:srgbClr val="2E83C3"/>
            </a:solidFill>
          </a:ln>
        </p:spPr>
        <p:txBody>
          <a:bodyPr wrap="square" lIns="90000" tIns="60000" rIns="90000" bIns="60000" anchor="ctr"/>
          <a:lstStyle/>
          <a:p>
            <a:pPr algn="ctr"/>
            <a:r>
              <a:rPr lang="en-US" sz="1500" b="1">
                <a:solidFill>
                  <a:srgbClr val="2C3C43"/>
                </a:solidFill>
                <a:latin typeface="Trebuchet MS"/>
              </a:rPr>
              <a:t>4  Transport</a:t>
            </a:r>
            <a:endParaRPr lang="en-US" sz="1500"/>
          </a:p>
        </p:txBody>
      </p:sp>
      <p:sp>
        <p:nvSpPr>
          <p:cNvPr id="104" name="Diagram box 104"/>
          <p:cNvSpPr/>
          <p:nvPr/>
        </p:nvSpPr>
        <p:spPr>
          <a:xfrm>
            <a:off x="2350000" y="3940000"/>
            <a:ext cx="7500000" cy="520000"/>
          </a:xfrm>
          <a:prstGeom prst="roundRect">
            <a:avLst/>
          </a:prstGeom>
          <a:solidFill>
            <a:srgbClr val="EBEBEB"/>
          </a:solidFill>
          <a:ln w="19050">
            <a:solidFill>
              <a:srgbClr val="2E83C3"/>
            </a:solidFill>
          </a:ln>
        </p:spPr>
        <p:txBody>
          <a:bodyPr wrap="square" lIns="90000" tIns="60000" rIns="90000" bIns="60000" anchor="ctr"/>
          <a:lstStyle/>
          <a:p>
            <a:pPr algn="ctr"/>
            <a:r>
              <a:rPr lang="en-US" sz="1500" b="1">
                <a:solidFill>
                  <a:srgbClr val="2C3C43"/>
                </a:solidFill>
                <a:latin typeface="Trebuchet MS"/>
              </a:rPr>
              <a:t>3  Network</a:t>
            </a:r>
            <a:endParaRPr lang="en-US" sz="1500"/>
          </a:p>
        </p:txBody>
      </p:sp>
      <p:sp>
        <p:nvSpPr>
          <p:cNvPr id="105" name="Diagram box 105"/>
          <p:cNvSpPr/>
          <p:nvPr/>
        </p:nvSpPr>
        <p:spPr>
          <a:xfrm>
            <a:off x="2350000" y="4550000"/>
            <a:ext cx="7500000" cy="520000"/>
          </a:xfrm>
          <a:prstGeom prst="roundRect">
            <a:avLst/>
          </a:prstGeom>
          <a:solidFill>
            <a:srgbClr val="EBEBEB"/>
          </a:solidFill>
          <a:ln w="19050">
            <a:solidFill>
              <a:srgbClr val="2E83C3"/>
            </a:solidFill>
          </a:ln>
        </p:spPr>
        <p:txBody>
          <a:bodyPr wrap="square" lIns="90000" tIns="60000" rIns="90000" bIns="60000" anchor="ctr"/>
          <a:lstStyle/>
          <a:p>
            <a:pPr algn="ctr"/>
            <a:r>
              <a:rPr lang="en-US" sz="1500" b="1">
                <a:solidFill>
                  <a:srgbClr val="2C3C43"/>
                </a:solidFill>
                <a:latin typeface="Trebuchet MS"/>
              </a:rPr>
              <a:t>2  Data Link</a:t>
            </a:r>
            <a:endParaRPr lang="en-US" sz="1500"/>
          </a:p>
        </p:txBody>
      </p:sp>
      <p:sp>
        <p:nvSpPr>
          <p:cNvPr id="106" name="Diagram box 106"/>
          <p:cNvSpPr/>
          <p:nvPr/>
        </p:nvSpPr>
        <p:spPr>
          <a:xfrm>
            <a:off x="2350000" y="5160000"/>
            <a:ext cx="7500000" cy="520000"/>
          </a:xfrm>
          <a:prstGeom prst="roundRect">
            <a:avLst/>
          </a:prstGeom>
          <a:solidFill>
            <a:srgbClr val="EBEBEB"/>
          </a:solidFill>
          <a:ln w="19050">
            <a:solidFill>
              <a:srgbClr val="2E83C3"/>
            </a:solidFill>
          </a:ln>
        </p:spPr>
        <p:txBody>
          <a:bodyPr wrap="square" lIns="90000" tIns="60000" rIns="90000" bIns="60000" anchor="ctr"/>
          <a:lstStyle/>
          <a:p>
            <a:pPr algn="ctr"/>
            <a:r>
              <a:rPr lang="en-US" sz="1500" b="1">
                <a:solidFill>
                  <a:srgbClr val="2C3C43"/>
                </a:solidFill>
                <a:latin typeface="Trebuchet MS"/>
              </a:rPr>
              <a:t>1  Physical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6642912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2007B4D-2EF8-97E6-78C4-3867ED8D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services stack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121BF38-C6EF-3E36-1350-30514133E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7F25C19C-AEDA-5366-9704-2BD0AEFFD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389" y="1809583"/>
            <a:ext cx="7135221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8393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Modern architectural choices</a:t>
            </a:r>
          </a:p>
        </p:txBody>
      </p:sp>
      <p:sp>
        <p:nvSpPr>
          <p:cNvPr id="11" name="Υπότιτλος"/>
          <p:cNvSpPr/>
          <p:nvPr/>
        </p:nvSpPr>
        <p:spPr>
          <a:xfrm>
            <a:off x="1450000" y="2250000"/>
            <a:ext cx="9300000" cy="1900000"/>
          </a:xfrm>
          <a:prstGeom prst="roundRect">
            <a:avLst/>
          </a:prstGeom>
          <a:solidFill>
            <a:srgbClr val="2E83C3"/>
          </a:solidFill>
          <a:ln w="12700">
            <a:solidFill>
              <a:srgbClr val="2E83C3"/>
            </a:solidFill>
          </a:ln>
        </p:spPr>
        <p:txBody>
          <a:bodyPr wrap="square" lIns="300000" tIns="300000" rIns="300000" bIns="300000" anchor="ctr"/>
          <a:lstStyle/>
          <a:p>
            <a:pPr marL="0" indent="0">
              <a:buNone/>
            </a:pPr>
            <a:r>
              <a:rPr lang="en-US" sz="2100">
                <a:solidFill>
                  <a:srgbClr val="FFFFFF"/>
                </a:solidFill>
                <a:latin typeface="Trebuchet MS"/>
              </a:rPr>
              <a:t>Classic styles remain useful; today they are combined with new forms of organization and development.</a:t>
            </a:r>
            <a:endParaRPr lang="en-US" sz="21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000" y="259200"/>
            <a:ext cx="8596668" cy="1320800"/>
          </a:xfrm>
        </p:spPr>
        <p:txBody>
          <a:bodyPr/>
          <a:lstStyle/>
          <a:p>
            <a:r>
              <a:rPr lang="en-US" dirty="0"/>
              <a:t>From a Monolith to a Distributed System</a:t>
            </a:r>
          </a:p>
        </p:txBody>
      </p:sp>
      <p:sp>
        <p:nvSpPr>
          <p:cNvPr id="10" name="Κάρτα 1"/>
          <p:cNvSpPr/>
          <p:nvPr/>
        </p:nvSpPr>
        <p:spPr>
          <a:xfrm>
            <a:off x="610000" y="1580000"/>
            <a:ext cx="3300000" cy="4470000"/>
          </a:xfrm>
          <a:prstGeom prst="roundRect">
            <a:avLst/>
          </a:prstGeom>
          <a:solidFill>
            <a:srgbClr val="5FCBEF"/>
          </a:solidFill>
          <a:ln w="12700">
            <a:solidFill>
              <a:srgbClr val="5FCBEF"/>
            </a:solidFill>
          </a:ln>
        </p:spPr>
        <p:txBody>
          <a:bodyPr wrap="square" lIns="210000" tIns="210000" rIns="210000" bIns="210000" anchor="t"/>
          <a:lstStyle/>
          <a:p>
            <a:pPr marL="0" indent="0">
              <a:buNone/>
            </a:pPr>
            <a:r>
              <a:rPr lang="en-US" sz="2150" b="1">
                <a:solidFill>
                  <a:srgbClr val="FFFFFF"/>
                </a:solidFill>
                <a:latin typeface="Trebuchet MS"/>
              </a:rPr>
              <a:t>Monolithic application</a:t>
            </a:r>
            <a:endParaRPr lang="en-US" sz="215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A development unit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Simple operation and testing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Strong coupling when growing up</a:t>
            </a:r>
            <a:endParaRPr lang="en-US" sz="1650"/>
          </a:p>
        </p:txBody>
      </p:sp>
      <p:sp>
        <p:nvSpPr>
          <p:cNvPr id="11" name="Κάρτα 2"/>
          <p:cNvSpPr/>
          <p:nvPr/>
        </p:nvSpPr>
        <p:spPr>
          <a:xfrm>
            <a:off x="4350000" y="1580000"/>
            <a:ext cx="3300000" cy="4470000"/>
          </a:xfrm>
          <a:prstGeom prst="roundRect">
            <a:avLst/>
          </a:prstGeom>
          <a:solidFill>
            <a:srgbClr val="42D0A2"/>
          </a:solidFill>
          <a:ln w="12700">
            <a:solidFill>
              <a:srgbClr val="42D0A2"/>
            </a:solidFill>
          </a:ln>
        </p:spPr>
        <p:txBody>
          <a:bodyPr wrap="square" lIns="210000" tIns="210000" rIns="210000" bIns="210000" anchor="t"/>
          <a:lstStyle/>
          <a:p>
            <a:pPr marL="0" indent="0">
              <a:buNone/>
            </a:pPr>
            <a:r>
              <a:rPr lang="en-US" sz="2150" b="1">
                <a:solidFill>
                  <a:srgbClr val="FFFFFF"/>
                </a:solidFill>
                <a:latin typeface="Trebuchet MS"/>
              </a:rPr>
              <a:t>Modular monolith</a:t>
            </a:r>
            <a:endParaRPr lang="en-US" sz="215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Clear internal boundaries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One development, independent modules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A good starting point for development</a:t>
            </a:r>
            <a:endParaRPr lang="en-US" sz="1650"/>
          </a:p>
        </p:txBody>
      </p:sp>
      <p:sp>
        <p:nvSpPr>
          <p:cNvPr id="12" name="Κάρτα 3"/>
          <p:cNvSpPr/>
          <p:nvPr/>
        </p:nvSpPr>
        <p:spPr>
          <a:xfrm>
            <a:off x="8090000" y="1580000"/>
            <a:ext cx="3300000" cy="4470000"/>
          </a:xfrm>
          <a:prstGeom prst="roundRect">
            <a:avLst/>
          </a:prstGeom>
          <a:solidFill>
            <a:srgbClr val="96D141"/>
          </a:solidFill>
          <a:ln w="12700">
            <a:solidFill>
              <a:srgbClr val="96D141"/>
            </a:solidFill>
          </a:ln>
        </p:spPr>
        <p:txBody>
          <a:bodyPr wrap="square" lIns="210000" tIns="210000" rIns="210000" bIns="210000" anchor="t"/>
          <a:lstStyle/>
          <a:p>
            <a:pPr marL="0" indent="0">
              <a:buNone/>
            </a:pPr>
            <a:r>
              <a:rPr lang="en-US" sz="2150" b="1">
                <a:solidFill>
                  <a:srgbClr val="FFFFFF"/>
                </a:solidFill>
                <a:latin typeface="Trebuchet MS"/>
              </a:rPr>
              <a:t>Microservices</a:t>
            </a:r>
            <a:endParaRPr lang="en-US" sz="215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Autonomous services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Independent scaling/development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Greater functional complexity</a:t>
            </a:r>
            <a:endParaRPr lang="en-US" sz="165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Microservices: When Do They Make Sense?</a:t>
            </a:r>
          </a:p>
        </p:txBody>
      </p:sp>
      <p:sp>
        <p:nvSpPr>
          <p:cNvPr id="10" name="Αριστερά"/>
          <p:cNvSpPr/>
          <p:nvPr/>
        </p:nvSpPr>
        <p:spPr>
          <a:xfrm>
            <a:off x="610000" y="1580000"/>
            <a:ext cx="5200000" cy="4470000"/>
          </a:xfrm>
          <a:prstGeom prst="roundRect">
            <a:avLst/>
          </a:prstGeom>
          <a:solidFill>
            <a:srgbClr val="5FCBEF"/>
          </a:solidFill>
          <a:ln w="12700">
            <a:solidFill>
              <a:srgbClr val="5FCBEF"/>
            </a:solidFill>
          </a:ln>
        </p:spPr>
        <p:txBody>
          <a:bodyPr wrap="square" lIns="230000" tIns="230000" rIns="230000" bIns="230000" anchor="t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/>
              </a:rPr>
              <a:t>A suitable choice when…</a:t>
            </a:r>
            <a:endParaRPr lang="en-US" sz="220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There are clear operational boundaries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Teams need autonomy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Scaling varies by service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There is a mature DevOps infrastructure</a:t>
            </a:r>
            <a:endParaRPr lang="en-US" sz="1700"/>
          </a:p>
        </p:txBody>
      </p:sp>
      <p:sp>
        <p:nvSpPr>
          <p:cNvPr id="11" name="Δεξιά"/>
          <p:cNvSpPr/>
          <p:nvPr/>
        </p:nvSpPr>
        <p:spPr>
          <a:xfrm>
            <a:off x="5980000" y="1580000"/>
            <a:ext cx="5200000" cy="4470000"/>
          </a:xfrm>
          <a:prstGeom prst="roundRect">
            <a:avLst/>
          </a:prstGeom>
          <a:solidFill>
            <a:srgbClr val="42D0A2"/>
          </a:solidFill>
          <a:ln w="12700">
            <a:solidFill>
              <a:srgbClr val="42D0A2"/>
            </a:solidFill>
          </a:ln>
        </p:spPr>
        <p:txBody>
          <a:bodyPr wrap="square" lIns="230000" tIns="230000" rIns="230000" bIns="230000" anchor="t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/>
              </a:rPr>
              <a:t>Warning signs</a:t>
            </a:r>
            <a:endParaRPr lang="en-US" sz="220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Small group or simple product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Unclear boundaries and common ground everywhere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Absence of monitoring and automation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Networks are treated as reliable</a:t>
            </a:r>
            <a:endParaRPr lang="en-US" sz="17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Hexagonal / Ports &amp; Adapters</a:t>
            </a:r>
          </a:p>
        </p:txBody>
      </p:sp>
      <p:sp>
        <p:nvSpPr>
          <p:cNvPr id="10" name="Κάρτα 1"/>
          <p:cNvSpPr/>
          <p:nvPr/>
        </p:nvSpPr>
        <p:spPr>
          <a:xfrm>
            <a:off x="610000" y="1580000"/>
            <a:ext cx="3300000" cy="4470000"/>
          </a:xfrm>
          <a:prstGeom prst="roundRect">
            <a:avLst/>
          </a:prstGeom>
          <a:solidFill>
            <a:srgbClr val="5FCBEF"/>
          </a:solidFill>
          <a:ln w="12700">
            <a:solidFill>
              <a:srgbClr val="5FCBEF"/>
            </a:solidFill>
          </a:ln>
        </p:spPr>
        <p:txBody>
          <a:bodyPr wrap="square" lIns="210000" tIns="210000" rIns="210000" bIns="210000" anchor="t"/>
          <a:lstStyle/>
          <a:p>
            <a:pPr marL="0" indent="0">
              <a:buNone/>
            </a:pPr>
            <a:r>
              <a:rPr lang="en-US" sz="2150" b="1">
                <a:solidFill>
                  <a:srgbClr val="FFFFFF"/>
                </a:solidFill>
                <a:latin typeface="Trebuchet MS"/>
              </a:rPr>
              <a:t>Core</a:t>
            </a:r>
            <a:endParaRPr lang="en-US" sz="215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Business rules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Doesn't know UI, base or framework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Easy clean tests</a:t>
            </a:r>
            <a:endParaRPr lang="en-US" sz="1650"/>
          </a:p>
        </p:txBody>
      </p:sp>
      <p:sp>
        <p:nvSpPr>
          <p:cNvPr id="11" name="Κάρτα 2"/>
          <p:cNvSpPr/>
          <p:nvPr/>
        </p:nvSpPr>
        <p:spPr>
          <a:xfrm>
            <a:off x="4350000" y="1580000"/>
            <a:ext cx="3300000" cy="4470000"/>
          </a:xfrm>
          <a:prstGeom prst="roundRect">
            <a:avLst/>
          </a:prstGeom>
          <a:solidFill>
            <a:srgbClr val="42D0A2"/>
          </a:solidFill>
          <a:ln w="12700">
            <a:solidFill>
              <a:srgbClr val="42D0A2"/>
            </a:solidFill>
          </a:ln>
        </p:spPr>
        <p:txBody>
          <a:bodyPr wrap="square" lIns="210000" tIns="210000" rIns="210000" bIns="210000" anchor="t"/>
          <a:lstStyle/>
          <a:p>
            <a:pPr marL="0" indent="0">
              <a:buNone/>
            </a:pPr>
            <a:r>
              <a:rPr lang="en-US" sz="2150" b="1">
                <a:solidFill>
                  <a:srgbClr val="FFFFFF"/>
                </a:solidFill>
                <a:latin typeface="Trebuchet MS"/>
              </a:rPr>
              <a:t>Ports</a:t>
            </a:r>
            <a:endParaRPr lang="en-US" sz="215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Entry and exit contracts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They define what the kernel needs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Inversion of dependencies</a:t>
            </a:r>
            <a:endParaRPr lang="en-US" sz="1650"/>
          </a:p>
        </p:txBody>
      </p:sp>
      <p:sp>
        <p:nvSpPr>
          <p:cNvPr id="12" name="Κάρτα 3"/>
          <p:cNvSpPr/>
          <p:nvPr/>
        </p:nvSpPr>
        <p:spPr>
          <a:xfrm>
            <a:off x="8090000" y="1580000"/>
            <a:ext cx="3300000" cy="4470000"/>
          </a:xfrm>
          <a:prstGeom prst="roundRect">
            <a:avLst/>
          </a:prstGeom>
          <a:solidFill>
            <a:srgbClr val="96D141"/>
          </a:solidFill>
          <a:ln w="12700">
            <a:solidFill>
              <a:srgbClr val="96D141"/>
            </a:solidFill>
          </a:ln>
        </p:spPr>
        <p:txBody>
          <a:bodyPr wrap="square" lIns="210000" tIns="210000" rIns="210000" bIns="210000" anchor="t"/>
          <a:lstStyle/>
          <a:p>
            <a:pPr marL="0" indent="0">
              <a:buNone/>
            </a:pPr>
            <a:r>
              <a:rPr lang="en-US" sz="2150" b="1">
                <a:solidFill>
                  <a:srgbClr val="FFFFFF"/>
                </a:solidFill>
                <a:latin typeface="Trebuchet MS"/>
              </a:rPr>
              <a:t>Adapters</a:t>
            </a:r>
            <a:endParaRPr lang="en-US" sz="215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Web API, database, queues, CLI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They translate technological details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They are replaced at low cost</a:t>
            </a:r>
            <a:endParaRPr lang="en-US" sz="165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Evaluating an Architecture</a:t>
            </a:r>
          </a:p>
        </p:txBody>
      </p:sp>
      <p:sp>
        <p:nvSpPr>
          <p:cNvPr id="10" name="Βήμα 10"/>
          <p:cNvSpPr/>
          <p:nvPr/>
        </p:nvSpPr>
        <p:spPr>
          <a:xfrm>
            <a:off x="520000" y="2100000"/>
            <a:ext cx="1900000" cy="1450000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5FCBEF"/>
            </a:solidFill>
          </a:ln>
        </p:spPr>
        <p:txBody>
          <a:bodyPr wrap="square" lIns="130000" tIns="130000" rIns="130000" bIns="130000" anchor="ctr"/>
          <a:lstStyle/>
          <a:p>
            <a:pPr marL="0" indent="0">
              <a:buNone/>
            </a:pPr>
            <a:r>
              <a:rPr lang="en-US" sz="1450" b="1">
                <a:solidFill>
                  <a:srgbClr val="2E83C3"/>
                </a:solidFill>
                <a:latin typeface="Trebuchet MS"/>
              </a:rPr>
              <a:t>1. Scenarios</a:t>
            </a:r>
            <a:endParaRPr lang="en-US" sz="1450"/>
          </a:p>
          <a:p>
            <a:pPr>
              <a:buNone/>
            </a:pPr>
            <a:endParaRPr lang="en-US" sz="600"/>
          </a:p>
          <a:p>
            <a:pPr marL="0" indent="0">
              <a:buNone/>
            </a:pPr>
            <a:r>
              <a:rPr lang="en-US" sz="1500">
                <a:solidFill>
                  <a:srgbClr val="2C3C43"/>
                </a:solidFill>
                <a:latin typeface="Trebuchet MS"/>
              </a:rPr>
              <a:t>E.g. 10× load</a:t>
            </a:r>
            <a:endParaRPr lang="en-US" sz="1500"/>
          </a:p>
        </p:txBody>
      </p:sp>
      <p:cxnSp>
        <p:nvCxnSpPr>
          <p:cNvPr id="50" name="Σύνδεση 50"/>
          <p:cNvCxnSpPr/>
          <p:nvPr/>
        </p:nvCxnSpPr>
        <p:spPr>
          <a:xfrm>
            <a:off x="2420000" y="2825000"/>
            <a:ext cx="350000" cy="0"/>
          </a:xfrm>
          <a:prstGeom prst="line">
            <a:avLst/>
          </a:prstGeom>
          <a:ln w="38100">
            <a:solidFill>
              <a:srgbClr val="2E83C3"/>
            </a:solidFill>
            <a:tailEnd type="none"/>
          </a:ln>
        </p:spPr>
      </p:cxnSp>
      <p:sp>
        <p:nvSpPr>
          <p:cNvPr id="11" name="Βήμα 11"/>
          <p:cNvSpPr/>
          <p:nvPr/>
        </p:nvSpPr>
        <p:spPr>
          <a:xfrm>
            <a:off x="2770000" y="2100000"/>
            <a:ext cx="1900000" cy="1450000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5FCBEF"/>
            </a:solidFill>
          </a:ln>
        </p:spPr>
        <p:txBody>
          <a:bodyPr wrap="square" lIns="130000" tIns="130000" rIns="130000" bIns="130000" anchor="ctr"/>
          <a:lstStyle/>
          <a:p>
            <a:pPr marL="0" indent="0">
              <a:buNone/>
            </a:pPr>
            <a:r>
              <a:rPr lang="en-US" sz="1450" b="1">
                <a:solidFill>
                  <a:srgbClr val="2E83C3"/>
                </a:solidFill>
                <a:latin typeface="Trebuchet MS"/>
              </a:rPr>
              <a:t>2. Criteria</a:t>
            </a:r>
            <a:endParaRPr lang="en-US" sz="1450"/>
          </a:p>
          <a:p>
            <a:pPr>
              <a:buNone/>
            </a:pPr>
            <a:endParaRPr lang="en-US" sz="600"/>
          </a:p>
          <a:p>
            <a:pPr marL="0" indent="0">
              <a:buNone/>
            </a:pPr>
            <a:r>
              <a:rPr lang="en-US" sz="1500">
                <a:solidFill>
                  <a:srgbClr val="2C3C43"/>
                </a:solidFill>
                <a:latin typeface="Trebuchet MS"/>
              </a:rPr>
              <a:t>latency, cost</a:t>
            </a:r>
            <a:endParaRPr lang="en-US" sz="1500"/>
          </a:p>
        </p:txBody>
      </p:sp>
      <p:cxnSp>
        <p:nvCxnSpPr>
          <p:cNvPr id="51" name="Σύνδεση 51"/>
          <p:cNvCxnSpPr/>
          <p:nvPr/>
        </p:nvCxnSpPr>
        <p:spPr>
          <a:xfrm>
            <a:off x="4670000" y="2825000"/>
            <a:ext cx="350000" cy="0"/>
          </a:xfrm>
          <a:prstGeom prst="line">
            <a:avLst/>
          </a:prstGeom>
          <a:ln w="38100">
            <a:solidFill>
              <a:srgbClr val="2E83C3"/>
            </a:solidFill>
            <a:tailEnd type="none"/>
          </a:ln>
        </p:spPr>
      </p:cxnSp>
      <p:sp>
        <p:nvSpPr>
          <p:cNvPr id="12" name="Βήμα 12"/>
          <p:cNvSpPr/>
          <p:nvPr/>
        </p:nvSpPr>
        <p:spPr>
          <a:xfrm>
            <a:off x="5020000" y="2100000"/>
            <a:ext cx="1900000" cy="1450000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5FCBEF"/>
            </a:solidFill>
          </a:ln>
        </p:spPr>
        <p:txBody>
          <a:bodyPr wrap="square" lIns="130000" tIns="130000" rIns="130000" bIns="130000" anchor="ctr"/>
          <a:lstStyle/>
          <a:p>
            <a:pPr marL="0" indent="0">
              <a:buNone/>
            </a:pPr>
            <a:r>
              <a:rPr lang="en-US" sz="1450" b="1">
                <a:solidFill>
                  <a:srgbClr val="2E83C3"/>
                </a:solidFill>
                <a:latin typeface="Trebuchet MS"/>
              </a:rPr>
              <a:t>3. Options</a:t>
            </a:r>
            <a:endParaRPr lang="en-US" sz="1450"/>
          </a:p>
          <a:p>
            <a:pPr>
              <a:buNone/>
            </a:pPr>
            <a:endParaRPr lang="en-US" sz="600"/>
          </a:p>
          <a:p>
            <a:pPr marL="0" indent="0">
              <a:buNone/>
            </a:pPr>
            <a:r>
              <a:rPr lang="en-US" sz="1500">
                <a:solidFill>
                  <a:srgbClr val="2C3C43"/>
                </a:solidFill>
                <a:latin typeface="Trebuchet MS"/>
              </a:rPr>
              <a:t>style &amp; tactics</a:t>
            </a:r>
            <a:endParaRPr lang="en-US" sz="1500"/>
          </a:p>
        </p:txBody>
      </p:sp>
      <p:cxnSp>
        <p:nvCxnSpPr>
          <p:cNvPr id="52" name="Σύνδεση 52"/>
          <p:cNvCxnSpPr/>
          <p:nvPr/>
        </p:nvCxnSpPr>
        <p:spPr>
          <a:xfrm>
            <a:off x="6920000" y="2825000"/>
            <a:ext cx="350000" cy="0"/>
          </a:xfrm>
          <a:prstGeom prst="line">
            <a:avLst/>
          </a:prstGeom>
          <a:ln w="38100">
            <a:solidFill>
              <a:srgbClr val="2E83C3"/>
            </a:solidFill>
            <a:tailEnd type="none"/>
          </a:ln>
        </p:spPr>
      </p:cxnSp>
      <p:sp>
        <p:nvSpPr>
          <p:cNvPr id="13" name="Βήμα 13"/>
          <p:cNvSpPr/>
          <p:nvPr/>
        </p:nvSpPr>
        <p:spPr>
          <a:xfrm>
            <a:off x="7270000" y="2100000"/>
            <a:ext cx="1900000" cy="1450000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5FCBEF"/>
            </a:solidFill>
          </a:ln>
        </p:spPr>
        <p:txBody>
          <a:bodyPr wrap="square" lIns="130000" tIns="130000" rIns="130000" bIns="130000" anchor="ctr"/>
          <a:lstStyle/>
          <a:p>
            <a:pPr marL="0" indent="0">
              <a:buNone/>
            </a:pPr>
            <a:r>
              <a:rPr lang="en-US" sz="1450" b="1">
                <a:solidFill>
                  <a:srgbClr val="2E83C3"/>
                </a:solidFill>
                <a:latin typeface="Trebuchet MS"/>
              </a:rPr>
              <a:t>4. Trade-offs</a:t>
            </a:r>
            <a:endParaRPr lang="en-US" sz="1450"/>
          </a:p>
          <a:p>
            <a:pPr>
              <a:buNone/>
            </a:pPr>
            <a:endParaRPr lang="en-US" sz="600"/>
          </a:p>
          <a:p>
            <a:pPr marL="0" indent="0">
              <a:buNone/>
            </a:pPr>
            <a:r>
              <a:rPr lang="en-US" sz="1500">
                <a:solidFill>
                  <a:srgbClr val="2C3C43"/>
                </a:solidFill>
                <a:latin typeface="Trebuchet MS"/>
              </a:rPr>
              <a:t>profits / risks</a:t>
            </a:r>
            <a:endParaRPr lang="en-US" sz="1500"/>
          </a:p>
        </p:txBody>
      </p:sp>
      <p:cxnSp>
        <p:nvCxnSpPr>
          <p:cNvPr id="53" name="Σύνδεση 53"/>
          <p:cNvCxnSpPr/>
          <p:nvPr/>
        </p:nvCxnSpPr>
        <p:spPr>
          <a:xfrm>
            <a:off x="9170000" y="2825000"/>
            <a:ext cx="350000" cy="0"/>
          </a:xfrm>
          <a:prstGeom prst="line">
            <a:avLst/>
          </a:prstGeom>
          <a:ln w="38100">
            <a:solidFill>
              <a:srgbClr val="2E83C3"/>
            </a:solidFill>
            <a:tailEnd type="none"/>
          </a:ln>
        </p:spPr>
      </p:cxnSp>
      <p:sp>
        <p:nvSpPr>
          <p:cNvPr id="14" name="Βήμα 14"/>
          <p:cNvSpPr/>
          <p:nvPr/>
        </p:nvSpPr>
        <p:spPr>
          <a:xfrm>
            <a:off x="9520000" y="2100000"/>
            <a:ext cx="1900000" cy="1450000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5FCBEF"/>
            </a:solidFill>
          </a:ln>
        </p:spPr>
        <p:txBody>
          <a:bodyPr wrap="square" lIns="130000" tIns="130000" rIns="130000" bIns="130000" anchor="ctr"/>
          <a:lstStyle/>
          <a:p>
            <a:pPr marL="0" indent="0">
              <a:buNone/>
            </a:pPr>
            <a:r>
              <a:rPr lang="en-US" sz="1450" b="1">
                <a:solidFill>
                  <a:srgbClr val="2E83C3"/>
                </a:solidFill>
                <a:latin typeface="Trebuchet MS"/>
              </a:rPr>
              <a:t>5. Decision</a:t>
            </a:r>
            <a:endParaRPr lang="en-US" sz="1450"/>
          </a:p>
          <a:p>
            <a:pPr>
              <a:buNone/>
            </a:pPr>
            <a:endParaRPr lang="en-US" sz="600"/>
          </a:p>
          <a:p>
            <a:pPr marL="0" indent="0">
              <a:buNone/>
            </a:pPr>
            <a:r>
              <a:rPr lang="en-US" sz="1500">
                <a:solidFill>
                  <a:srgbClr val="2C3C43"/>
                </a:solidFill>
                <a:latin typeface="Trebuchet MS"/>
              </a:rPr>
              <a:t>Document the decision and measure the results</a:t>
            </a:r>
            <a:endParaRPr lang="en-US" sz="1500"/>
          </a:p>
        </p:txBody>
      </p:sp>
      <p:sp>
        <p:nvSpPr>
          <p:cNvPr id="70" name="Σημείωση"/>
          <p:cNvSpPr/>
          <p:nvPr/>
        </p:nvSpPr>
        <p:spPr>
          <a:xfrm>
            <a:off x="1100000" y="4300000"/>
            <a:ext cx="10000000" cy="1000000"/>
          </a:xfrm>
          <a:prstGeom prst="roundRect">
            <a:avLst/>
          </a:prstGeom>
          <a:solidFill>
            <a:srgbClr val="2E946B"/>
          </a:solidFill>
          <a:ln w="12700">
            <a:solidFill>
              <a:srgbClr val="2E946B"/>
            </a:solidFill>
          </a:ln>
        </p:spPr>
        <p:txBody>
          <a:bodyPr wrap="square" lIns="180000" tIns="180000" rIns="180000" bIns="180000" anchor="ctr"/>
          <a:lstStyle/>
          <a:p>
            <a:pPr marL="0" indent="0">
              <a:buNone/>
            </a:pPr>
            <a:r>
              <a:rPr lang="en-US" sz="1750" b="1">
                <a:solidFill>
                  <a:srgbClr val="FFFFFF"/>
                </a:solidFill>
                <a:latin typeface="Trebuchet MS"/>
              </a:rPr>
              <a:t>The “best” architecture does not exist out of context: it is evaluated against specific quality scenarios.</a:t>
            </a:r>
            <a:endParaRPr lang="en-US" sz="175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78E7923-C718-A2B5-C4D7-5818D0D96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MVC (Model-View-Controller)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D432FE8-1FB6-C007-CC79-2FF284A3A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separates presentation and interaction from system data.</a:t>
            </a:r>
          </a:p>
          <a:p>
            <a:r>
              <a:rPr lang="en-US" dirty="0"/>
              <a:t>The system is structured in three logical components that interact with each other.</a:t>
            </a:r>
          </a:p>
          <a:p>
            <a:pPr lvl="1"/>
            <a:r>
              <a:rPr lang="en-US" b="1" dirty="0" err="1"/>
              <a:t>Model: manages the system data and the operations related to it.</a:t>
            </a:r>
            <a:endParaRPr lang="en-US" dirty="0"/>
          </a:p>
          <a:p>
            <a:pPr lvl="1"/>
            <a:r>
              <a:rPr lang="en-US" b="1" dirty="0" err="1"/>
              <a:t>View: defines and manages how data is presented to the user.</a:t>
            </a:r>
            <a:endParaRPr lang="en-US" dirty="0"/>
          </a:p>
          <a:p>
            <a:pPr lvl="1"/>
            <a:r>
              <a:rPr lang="en-US" b="1" dirty="0" err="1"/>
              <a:t>Controller: manages user interaction (e.g. keystrokes, mouse clicks, etc.) and passes these interactions to the View and Model.</a:t>
            </a:r>
          </a:p>
        </p:txBody>
      </p:sp>
    </p:spTree>
    <p:extLst>
      <p:ext uri="{BB962C8B-B14F-4D97-AF65-F5344CB8AC3E}">
        <p14:creationId xmlns:p14="http://schemas.microsoft.com/office/powerpoint/2010/main" val="1837688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F62DA8E-5191-BCE3-1747-8CBF94DCB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MVC</a:t>
            </a:r>
          </a:p>
        </p:txBody>
      </p:sp>
      <p:pic>
        <p:nvPicPr>
          <p:cNvPr id="6" name="Θέση περιεχομένου 5">
            <a:extLst>
              <a:ext uri="{FF2B5EF4-FFF2-40B4-BE49-F238E27FC236}">
                <a16:creationId xmlns:a16="http://schemas.microsoft.com/office/drawing/2014/main" id="{37FBE5EB-F22A-2347-A4DE-13496D86F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3998" y="1690688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7129204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202E3B7-5B13-F840-BFCA-79E1280FE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MVC — When to use it</a:t>
            </a:r>
          </a:p>
        </p:txBody>
      </p:sp>
      <p:sp>
        <p:nvSpPr>
          <p:cNvPr id="7" name="Θέση περιεχομένου 6">
            <a:extLst>
              <a:ext uri="{FF2B5EF4-FFF2-40B4-BE49-F238E27FC236}">
                <a16:creationId xmlns:a16="http://schemas.microsoft.com/office/drawing/2014/main" id="{3260A721-184F-3134-9240-99CCD8762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1607370"/>
          </a:xfrm>
        </p:spPr>
        <p:txBody>
          <a:bodyPr/>
          <a:lstStyle/>
          <a:p>
            <a:r>
              <a:rPr lang="en-US" dirty="0"/>
              <a:t>It is used when there are many ways to present and interact with the data.</a:t>
            </a:r>
          </a:p>
          <a:p>
            <a:r>
              <a:rPr lang="en-US" dirty="0"/>
              <a:t>It is also used when future requirements for data interaction and presentation are unknown.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9260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MVC in Depth</a:t>
            </a:r>
          </a:p>
        </p:txBody>
      </p:sp>
      <p:sp>
        <p:nvSpPr>
          <p:cNvPr id="11" name="Υπότιτλος"/>
          <p:cNvSpPr/>
          <p:nvPr/>
        </p:nvSpPr>
        <p:spPr>
          <a:xfrm>
            <a:off x="1450000" y="2250000"/>
            <a:ext cx="9300000" cy="1900000"/>
          </a:xfrm>
          <a:prstGeom prst="roundRect">
            <a:avLst/>
          </a:prstGeom>
          <a:solidFill>
            <a:srgbClr val="2E83C3"/>
          </a:solidFill>
          <a:ln w="12700">
            <a:solidFill>
              <a:srgbClr val="2E83C3"/>
            </a:solidFill>
          </a:ln>
        </p:spPr>
        <p:txBody>
          <a:bodyPr wrap="square" lIns="300000" tIns="300000" rIns="300000" bIns="300000" anchor="ctr"/>
          <a:lstStyle/>
          <a:p>
            <a:pPr marL="0" indent="0">
              <a:buNone/>
            </a:pPr>
            <a:r>
              <a:rPr lang="en-US" sz="2100">
                <a:solidFill>
                  <a:srgbClr val="FFFFFF"/>
                </a:solidFill>
                <a:latin typeface="Trebuchet MS"/>
              </a:rPr>
              <a:t>From definition to request flow, to variations and practical design decisions.</a:t>
            </a:r>
            <a:endParaRPr lang="en-US" sz="21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Responsibilities of the Three Components</a:t>
            </a:r>
          </a:p>
        </p:txBody>
      </p:sp>
      <p:sp>
        <p:nvSpPr>
          <p:cNvPr id="10" name="Κάρτα 1"/>
          <p:cNvSpPr/>
          <p:nvPr/>
        </p:nvSpPr>
        <p:spPr>
          <a:xfrm>
            <a:off x="610000" y="1580000"/>
            <a:ext cx="3300000" cy="4470000"/>
          </a:xfrm>
          <a:prstGeom prst="roundRect">
            <a:avLst/>
          </a:prstGeom>
          <a:solidFill>
            <a:srgbClr val="5FCBEF"/>
          </a:solidFill>
          <a:ln w="12700">
            <a:solidFill>
              <a:srgbClr val="5FCBEF"/>
            </a:solidFill>
          </a:ln>
        </p:spPr>
        <p:txBody>
          <a:bodyPr wrap="square" lIns="210000" tIns="210000" rIns="210000" bIns="210000" anchor="t"/>
          <a:lstStyle/>
          <a:p>
            <a:pPr marL="0" indent="0">
              <a:buNone/>
            </a:pPr>
            <a:r>
              <a:rPr lang="en-US" sz="2150" b="1">
                <a:solidFill>
                  <a:srgbClr val="FFFFFF"/>
                </a:solidFill>
                <a:latin typeface="Trebuchet MS"/>
              </a:rPr>
              <a:t>Model</a:t>
            </a:r>
            <a:endParaRPr lang="en-US" sz="215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Status and business rules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Validation of immutable rules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Access to services/data</a:t>
            </a:r>
            <a:endParaRPr lang="en-US" sz="1650"/>
          </a:p>
        </p:txBody>
      </p:sp>
      <p:sp>
        <p:nvSpPr>
          <p:cNvPr id="11" name="Κάρτα 2"/>
          <p:cNvSpPr/>
          <p:nvPr/>
        </p:nvSpPr>
        <p:spPr>
          <a:xfrm>
            <a:off x="4350000" y="1580000"/>
            <a:ext cx="3300000" cy="4470000"/>
          </a:xfrm>
          <a:prstGeom prst="roundRect">
            <a:avLst/>
          </a:prstGeom>
          <a:solidFill>
            <a:srgbClr val="42D0A2"/>
          </a:solidFill>
          <a:ln w="12700">
            <a:solidFill>
              <a:srgbClr val="42D0A2"/>
            </a:solidFill>
          </a:ln>
        </p:spPr>
        <p:txBody>
          <a:bodyPr wrap="square" lIns="210000" tIns="210000" rIns="210000" bIns="210000" anchor="t"/>
          <a:lstStyle/>
          <a:p>
            <a:pPr marL="0" indent="0">
              <a:buNone/>
            </a:pPr>
            <a:r>
              <a:rPr lang="en-US" sz="2150" b="1">
                <a:solidFill>
                  <a:srgbClr val="FFFFFF"/>
                </a:solidFill>
                <a:latin typeface="Trebuchet MS"/>
              </a:rPr>
              <a:t>View</a:t>
            </a:r>
            <a:endParaRPr lang="en-US" sz="215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View Model visualization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Formatting and accessibility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No operational decision</a:t>
            </a:r>
            <a:endParaRPr lang="en-US" sz="1650"/>
          </a:p>
        </p:txBody>
      </p:sp>
      <p:sp>
        <p:nvSpPr>
          <p:cNvPr id="12" name="Κάρτα 3"/>
          <p:cNvSpPr/>
          <p:nvPr/>
        </p:nvSpPr>
        <p:spPr>
          <a:xfrm>
            <a:off x="8090000" y="1580000"/>
            <a:ext cx="3300000" cy="4470000"/>
          </a:xfrm>
          <a:prstGeom prst="roundRect">
            <a:avLst/>
          </a:prstGeom>
          <a:solidFill>
            <a:srgbClr val="96D141"/>
          </a:solidFill>
          <a:ln w="12700">
            <a:solidFill>
              <a:srgbClr val="96D141"/>
            </a:solidFill>
          </a:ln>
        </p:spPr>
        <p:txBody>
          <a:bodyPr wrap="square" lIns="210000" tIns="210000" rIns="210000" bIns="210000" anchor="t"/>
          <a:lstStyle/>
          <a:p>
            <a:pPr marL="0" indent="0">
              <a:buNone/>
            </a:pPr>
            <a:r>
              <a:rPr lang="en-US" sz="2150" b="1">
                <a:solidFill>
                  <a:srgbClr val="FFFFFF"/>
                </a:solidFill>
                <a:latin typeface="Trebuchet MS"/>
              </a:rPr>
              <a:t>Controller</a:t>
            </a:r>
            <a:endParaRPr lang="en-US" sz="215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Receives input/request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Coordinates use case and Model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Selects View or response</a:t>
            </a:r>
            <a:endParaRPr lang="en-US" sz="165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Flow of a Web Request in MVC</a:t>
            </a:r>
          </a:p>
        </p:txBody>
      </p:sp>
      <p:sp>
        <p:nvSpPr>
          <p:cNvPr id="10" name="Βήμα 10"/>
          <p:cNvSpPr/>
          <p:nvPr/>
        </p:nvSpPr>
        <p:spPr>
          <a:xfrm>
            <a:off x="520000" y="2100000"/>
            <a:ext cx="1900000" cy="1450000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5FCBEF"/>
            </a:solidFill>
          </a:ln>
        </p:spPr>
        <p:txBody>
          <a:bodyPr wrap="square" lIns="130000" tIns="130000" rIns="130000" bIns="130000" anchor="ctr"/>
          <a:lstStyle/>
          <a:p>
            <a:pPr marL="0" indent="0">
              <a:buNone/>
            </a:pPr>
            <a:r>
              <a:rPr lang="en-US" sz="1450" b="1">
                <a:solidFill>
                  <a:srgbClr val="2E83C3"/>
                </a:solidFill>
                <a:latin typeface="Trebuchet MS"/>
              </a:rPr>
              <a:t>User</a:t>
            </a:r>
            <a:endParaRPr lang="en-US" sz="1450"/>
          </a:p>
          <a:p>
            <a:pPr>
              <a:buNone/>
            </a:pPr>
            <a:endParaRPr lang="en-US" sz="600"/>
          </a:p>
          <a:p>
            <a:pPr marL="0" indent="0">
              <a:buNone/>
            </a:pPr>
            <a:r>
              <a:rPr lang="en-US" sz="1500">
                <a:solidFill>
                  <a:srgbClr val="2C3C43"/>
                </a:solidFill>
                <a:latin typeface="Trebuchet MS"/>
              </a:rPr>
              <a:t>GET /products</a:t>
            </a:r>
            <a:endParaRPr lang="en-US" sz="1500"/>
          </a:p>
        </p:txBody>
      </p:sp>
      <p:cxnSp>
        <p:nvCxnSpPr>
          <p:cNvPr id="50" name="Σύνδεση 50"/>
          <p:cNvCxnSpPr/>
          <p:nvPr/>
        </p:nvCxnSpPr>
        <p:spPr>
          <a:xfrm>
            <a:off x="2420000" y="2825000"/>
            <a:ext cx="350000" cy="0"/>
          </a:xfrm>
          <a:prstGeom prst="line">
            <a:avLst/>
          </a:prstGeom>
          <a:ln w="38100">
            <a:solidFill>
              <a:srgbClr val="2E83C3"/>
            </a:solidFill>
            <a:tailEnd type="none"/>
          </a:ln>
        </p:spPr>
      </p:cxnSp>
      <p:sp>
        <p:nvSpPr>
          <p:cNvPr id="11" name="Βήμα 11"/>
          <p:cNvSpPr/>
          <p:nvPr/>
        </p:nvSpPr>
        <p:spPr>
          <a:xfrm>
            <a:off x="2770000" y="2100000"/>
            <a:ext cx="1900000" cy="1450000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5FCBEF"/>
            </a:solidFill>
          </a:ln>
        </p:spPr>
        <p:txBody>
          <a:bodyPr wrap="square" lIns="130000" tIns="130000" rIns="130000" bIns="130000" anchor="ctr"/>
          <a:lstStyle/>
          <a:p>
            <a:pPr marL="0" indent="0">
              <a:buNone/>
            </a:pPr>
            <a:r>
              <a:rPr lang="en-US" sz="1450" b="1">
                <a:solidFill>
                  <a:srgbClr val="2E83C3"/>
                </a:solidFill>
                <a:latin typeface="Trebuchet MS"/>
              </a:rPr>
              <a:t>Router</a:t>
            </a:r>
            <a:endParaRPr lang="en-US" sz="1450"/>
          </a:p>
          <a:p>
            <a:pPr>
              <a:buNone/>
            </a:pPr>
            <a:endParaRPr lang="en-US" sz="600"/>
          </a:p>
          <a:p>
            <a:pPr marL="0" indent="0">
              <a:buNone/>
            </a:pPr>
            <a:r>
              <a:rPr lang="en-US" sz="1500">
                <a:solidFill>
                  <a:srgbClr val="2C3C43"/>
                </a:solidFill>
                <a:latin typeface="Trebuchet MS"/>
              </a:rPr>
              <a:t>action selection</a:t>
            </a:r>
            <a:endParaRPr lang="en-US" sz="1500"/>
          </a:p>
        </p:txBody>
      </p:sp>
      <p:cxnSp>
        <p:nvCxnSpPr>
          <p:cNvPr id="51" name="Σύνδεση 51"/>
          <p:cNvCxnSpPr/>
          <p:nvPr/>
        </p:nvCxnSpPr>
        <p:spPr>
          <a:xfrm>
            <a:off x="4670000" y="2825000"/>
            <a:ext cx="350000" cy="0"/>
          </a:xfrm>
          <a:prstGeom prst="line">
            <a:avLst/>
          </a:prstGeom>
          <a:ln w="38100">
            <a:solidFill>
              <a:srgbClr val="2E83C3"/>
            </a:solidFill>
            <a:tailEnd type="none"/>
          </a:ln>
        </p:spPr>
      </p:cxnSp>
      <p:sp>
        <p:nvSpPr>
          <p:cNvPr id="12" name="Βήμα 12"/>
          <p:cNvSpPr/>
          <p:nvPr/>
        </p:nvSpPr>
        <p:spPr>
          <a:xfrm>
            <a:off x="5020000" y="2100000"/>
            <a:ext cx="1900000" cy="1450000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5FCBEF"/>
            </a:solidFill>
          </a:ln>
        </p:spPr>
        <p:txBody>
          <a:bodyPr wrap="square" lIns="130000" tIns="130000" rIns="130000" bIns="130000" anchor="ctr"/>
          <a:lstStyle/>
          <a:p>
            <a:pPr marL="0" indent="0">
              <a:buNone/>
            </a:pPr>
            <a:r>
              <a:rPr lang="en-US" sz="1450" b="1">
                <a:solidFill>
                  <a:srgbClr val="2E83C3"/>
                </a:solidFill>
                <a:latin typeface="Trebuchet MS"/>
              </a:rPr>
              <a:t>Controller</a:t>
            </a:r>
            <a:endParaRPr lang="en-US" sz="1450"/>
          </a:p>
          <a:p>
            <a:pPr>
              <a:buNone/>
            </a:pPr>
            <a:endParaRPr lang="en-US" sz="600"/>
          </a:p>
          <a:p>
            <a:pPr marL="0" indent="0">
              <a:buNone/>
            </a:pPr>
            <a:r>
              <a:rPr lang="en-US" sz="1500">
                <a:solidFill>
                  <a:srgbClr val="2C3C43"/>
                </a:solidFill>
                <a:latin typeface="Trebuchet MS"/>
              </a:rPr>
              <a:t>calls use case</a:t>
            </a:r>
            <a:endParaRPr lang="en-US" sz="1500"/>
          </a:p>
        </p:txBody>
      </p:sp>
      <p:cxnSp>
        <p:nvCxnSpPr>
          <p:cNvPr id="52" name="Σύνδεση 52"/>
          <p:cNvCxnSpPr/>
          <p:nvPr/>
        </p:nvCxnSpPr>
        <p:spPr>
          <a:xfrm>
            <a:off x="6920000" y="2825000"/>
            <a:ext cx="350000" cy="0"/>
          </a:xfrm>
          <a:prstGeom prst="line">
            <a:avLst/>
          </a:prstGeom>
          <a:ln w="38100">
            <a:solidFill>
              <a:srgbClr val="2E83C3"/>
            </a:solidFill>
            <a:tailEnd type="none"/>
          </a:ln>
        </p:spPr>
      </p:cxnSp>
      <p:sp>
        <p:nvSpPr>
          <p:cNvPr id="13" name="Βήμα 13"/>
          <p:cNvSpPr/>
          <p:nvPr/>
        </p:nvSpPr>
        <p:spPr>
          <a:xfrm>
            <a:off x="7270000" y="2100000"/>
            <a:ext cx="1900000" cy="1450000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5FCBEF"/>
            </a:solidFill>
          </a:ln>
        </p:spPr>
        <p:txBody>
          <a:bodyPr wrap="square" lIns="130000" tIns="130000" rIns="130000" bIns="130000" anchor="ctr"/>
          <a:lstStyle/>
          <a:p>
            <a:pPr marL="0" indent="0">
              <a:buNone/>
            </a:pPr>
            <a:r>
              <a:rPr lang="en-US" sz="1450" b="1">
                <a:solidFill>
                  <a:srgbClr val="2E83C3"/>
                </a:solidFill>
                <a:latin typeface="Trebuchet MS"/>
              </a:rPr>
              <a:t>Model</a:t>
            </a:r>
            <a:endParaRPr lang="en-US" sz="1450"/>
          </a:p>
          <a:p>
            <a:pPr>
              <a:buNone/>
            </a:pPr>
            <a:endParaRPr lang="en-US" sz="600"/>
          </a:p>
          <a:p>
            <a:pPr marL="0" indent="0">
              <a:buNone/>
            </a:pPr>
            <a:r>
              <a:rPr lang="en-US" sz="1500">
                <a:solidFill>
                  <a:srgbClr val="2C3C43"/>
                </a:solidFill>
                <a:latin typeface="Trebuchet MS"/>
              </a:rPr>
              <a:t>rules + data</a:t>
            </a:r>
            <a:endParaRPr lang="en-US" sz="1500"/>
          </a:p>
        </p:txBody>
      </p:sp>
      <p:cxnSp>
        <p:nvCxnSpPr>
          <p:cNvPr id="53" name="Σύνδεση 53"/>
          <p:cNvCxnSpPr/>
          <p:nvPr/>
        </p:nvCxnSpPr>
        <p:spPr>
          <a:xfrm>
            <a:off x="9170000" y="2825000"/>
            <a:ext cx="350000" cy="0"/>
          </a:xfrm>
          <a:prstGeom prst="line">
            <a:avLst/>
          </a:prstGeom>
          <a:ln w="38100">
            <a:solidFill>
              <a:srgbClr val="2E83C3"/>
            </a:solidFill>
            <a:tailEnd type="none"/>
          </a:ln>
        </p:spPr>
      </p:cxnSp>
      <p:sp>
        <p:nvSpPr>
          <p:cNvPr id="14" name="Βήμα 14"/>
          <p:cNvSpPr/>
          <p:nvPr/>
        </p:nvSpPr>
        <p:spPr>
          <a:xfrm>
            <a:off x="9520000" y="2100000"/>
            <a:ext cx="1900000" cy="1450000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5FCBEF"/>
            </a:solidFill>
          </a:ln>
        </p:spPr>
        <p:txBody>
          <a:bodyPr wrap="square" lIns="130000" tIns="130000" rIns="130000" bIns="130000" anchor="ctr"/>
          <a:lstStyle/>
          <a:p>
            <a:pPr marL="0" indent="0">
              <a:buNone/>
            </a:pPr>
            <a:r>
              <a:rPr lang="en-US" sz="1450" b="1">
                <a:solidFill>
                  <a:srgbClr val="2E83C3"/>
                </a:solidFill>
                <a:latin typeface="Trebuchet MS"/>
              </a:rPr>
              <a:t>View</a:t>
            </a:r>
            <a:endParaRPr lang="en-US" sz="1450"/>
          </a:p>
          <a:p>
            <a:pPr>
              <a:buNone/>
            </a:pPr>
            <a:endParaRPr lang="en-US" sz="600"/>
          </a:p>
          <a:p>
            <a:pPr marL="0" indent="0">
              <a:buNone/>
            </a:pPr>
            <a:r>
              <a:rPr lang="en-US" sz="1500">
                <a:solidFill>
                  <a:srgbClr val="2C3C43"/>
                </a:solidFill>
                <a:latin typeface="Trebuchet MS"/>
              </a:rPr>
              <a:t>HTML / JSON</a:t>
            </a:r>
            <a:endParaRPr lang="en-US" sz="1500"/>
          </a:p>
        </p:txBody>
      </p:sp>
      <p:sp>
        <p:nvSpPr>
          <p:cNvPr id="70" name="Σημείωση"/>
          <p:cNvSpPr/>
          <p:nvPr/>
        </p:nvSpPr>
        <p:spPr>
          <a:xfrm>
            <a:off x="1100000" y="4300000"/>
            <a:ext cx="10000000" cy="1000000"/>
          </a:xfrm>
          <a:prstGeom prst="roundRect">
            <a:avLst/>
          </a:prstGeom>
          <a:solidFill>
            <a:srgbClr val="2E946B"/>
          </a:solidFill>
          <a:ln w="12700">
            <a:solidFill>
              <a:srgbClr val="2E946B"/>
            </a:solidFill>
          </a:ln>
        </p:spPr>
        <p:txBody>
          <a:bodyPr wrap="square" lIns="180000" tIns="180000" rIns="180000" bIns="180000" anchor="ctr"/>
          <a:lstStyle/>
          <a:p>
            <a:pPr marL="0" indent="0">
              <a:buNone/>
            </a:pPr>
            <a:r>
              <a:rPr lang="en-US" sz="1750" b="1">
                <a:solidFill>
                  <a:srgbClr val="FFFFFF"/>
                </a:solidFill>
                <a:latin typeface="Trebuchet MS"/>
              </a:rPr>
              <a:t>The Controller coordinates; it should not become a repository for all business logic.</a:t>
            </a:r>
            <a:endParaRPr lang="en-US" sz="175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Adding a Product to the Cart</a:t>
            </a:r>
          </a:p>
        </p:txBody>
      </p:sp>
      <p:sp>
        <p:nvSpPr>
          <p:cNvPr id="10" name="Βήμα 10"/>
          <p:cNvSpPr/>
          <p:nvPr/>
        </p:nvSpPr>
        <p:spPr>
          <a:xfrm>
            <a:off x="520000" y="2100000"/>
            <a:ext cx="1900000" cy="1450000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5FCBEF"/>
            </a:solidFill>
          </a:ln>
        </p:spPr>
        <p:txBody>
          <a:bodyPr wrap="square" lIns="130000" tIns="130000" rIns="130000" bIns="130000" anchor="ctr"/>
          <a:lstStyle/>
          <a:p>
            <a:pPr marL="0" indent="0">
              <a:buNone/>
            </a:pPr>
            <a:r>
              <a:rPr lang="en-US" sz="1450" b="1">
                <a:solidFill>
                  <a:srgbClr val="2E83C3"/>
                </a:solidFill>
                <a:latin typeface="Trebuchet MS"/>
              </a:rPr>
              <a:t>1. Event</a:t>
            </a:r>
            <a:endParaRPr lang="en-US" sz="1450"/>
          </a:p>
          <a:p>
            <a:pPr>
              <a:buNone/>
            </a:pPr>
            <a:endParaRPr lang="en-US" sz="600"/>
          </a:p>
          <a:p>
            <a:pPr marL="0" indent="0">
              <a:buNone/>
            </a:pPr>
            <a:r>
              <a:rPr lang="en-US" sz="1500">
                <a:solidFill>
                  <a:srgbClr val="2C3C43"/>
                </a:solidFill>
                <a:latin typeface="Trebuchet MS"/>
              </a:rPr>
              <a:t>“Add”</a:t>
            </a:r>
            <a:endParaRPr lang="en-US" sz="1500"/>
          </a:p>
        </p:txBody>
      </p:sp>
      <p:cxnSp>
        <p:nvCxnSpPr>
          <p:cNvPr id="50" name="Σύνδεση 50"/>
          <p:cNvCxnSpPr/>
          <p:nvPr/>
        </p:nvCxnSpPr>
        <p:spPr>
          <a:xfrm>
            <a:off x="2420000" y="2825000"/>
            <a:ext cx="350000" cy="0"/>
          </a:xfrm>
          <a:prstGeom prst="line">
            <a:avLst/>
          </a:prstGeom>
          <a:ln w="38100">
            <a:solidFill>
              <a:srgbClr val="2E83C3"/>
            </a:solidFill>
            <a:tailEnd type="none"/>
          </a:ln>
        </p:spPr>
      </p:cxnSp>
      <p:sp>
        <p:nvSpPr>
          <p:cNvPr id="11" name="Βήμα 11"/>
          <p:cNvSpPr/>
          <p:nvPr/>
        </p:nvSpPr>
        <p:spPr>
          <a:xfrm>
            <a:off x="2770000" y="2100000"/>
            <a:ext cx="1900000" cy="1450000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5FCBEF"/>
            </a:solidFill>
          </a:ln>
        </p:spPr>
        <p:txBody>
          <a:bodyPr wrap="square" lIns="130000" tIns="130000" rIns="130000" bIns="130000" anchor="ctr"/>
          <a:lstStyle/>
          <a:p>
            <a:pPr marL="0" indent="0">
              <a:buNone/>
            </a:pPr>
            <a:r>
              <a:rPr lang="en-US" sz="1450" b="1">
                <a:solidFill>
                  <a:srgbClr val="2E83C3"/>
                </a:solidFill>
                <a:latin typeface="Trebuchet MS"/>
              </a:rPr>
              <a:t>2. Controller</a:t>
            </a:r>
            <a:endParaRPr lang="en-US" sz="1450"/>
          </a:p>
          <a:p>
            <a:pPr>
              <a:buNone/>
            </a:pPr>
            <a:endParaRPr lang="en-US" sz="600"/>
          </a:p>
          <a:p>
            <a:pPr marL="0" indent="0">
              <a:buNone/>
            </a:pPr>
            <a:r>
              <a:rPr lang="en-US" sz="1500">
                <a:solidFill>
                  <a:srgbClr val="2C3C43"/>
                </a:solidFill>
                <a:latin typeface="Trebuchet MS"/>
              </a:rPr>
              <a:t>addToCart(id)</a:t>
            </a:r>
            <a:endParaRPr lang="en-US" sz="1500"/>
          </a:p>
        </p:txBody>
      </p:sp>
      <p:cxnSp>
        <p:nvCxnSpPr>
          <p:cNvPr id="51" name="Σύνδεση 51"/>
          <p:cNvCxnSpPr/>
          <p:nvPr/>
        </p:nvCxnSpPr>
        <p:spPr>
          <a:xfrm>
            <a:off x="4670000" y="2825000"/>
            <a:ext cx="350000" cy="0"/>
          </a:xfrm>
          <a:prstGeom prst="line">
            <a:avLst/>
          </a:prstGeom>
          <a:ln w="38100">
            <a:solidFill>
              <a:srgbClr val="2E83C3"/>
            </a:solidFill>
            <a:tailEnd type="none"/>
          </a:ln>
        </p:spPr>
      </p:cxnSp>
      <p:sp>
        <p:nvSpPr>
          <p:cNvPr id="12" name="Βήμα 12"/>
          <p:cNvSpPr/>
          <p:nvPr/>
        </p:nvSpPr>
        <p:spPr>
          <a:xfrm>
            <a:off x="5020000" y="2100000"/>
            <a:ext cx="1900000" cy="1450000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5FCBEF"/>
            </a:solidFill>
          </a:ln>
        </p:spPr>
        <p:txBody>
          <a:bodyPr wrap="square" lIns="130000" tIns="130000" rIns="130000" bIns="130000" anchor="ctr"/>
          <a:lstStyle/>
          <a:p>
            <a:pPr marL="0" indent="0">
              <a:buNone/>
            </a:pPr>
            <a:r>
              <a:rPr lang="en-US" sz="1450" b="1">
                <a:solidFill>
                  <a:srgbClr val="2E83C3"/>
                </a:solidFill>
                <a:latin typeface="Trebuchet MS"/>
              </a:rPr>
              <a:t>3. Model</a:t>
            </a:r>
            <a:endParaRPr lang="en-US" sz="1450"/>
          </a:p>
          <a:p>
            <a:pPr>
              <a:buNone/>
            </a:pPr>
            <a:endParaRPr lang="en-US" sz="600"/>
          </a:p>
          <a:p>
            <a:pPr marL="0" indent="0">
              <a:buNone/>
            </a:pPr>
            <a:r>
              <a:rPr lang="en-US" sz="1500">
                <a:solidFill>
                  <a:srgbClr val="2C3C43"/>
                </a:solidFill>
                <a:latin typeface="Trebuchet MS"/>
              </a:rPr>
              <a:t>stock control</a:t>
            </a:r>
            <a:endParaRPr lang="en-US" sz="1500"/>
          </a:p>
        </p:txBody>
      </p:sp>
      <p:cxnSp>
        <p:nvCxnSpPr>
          <p:cNvPr id="52" name="Σύνδεση 52"/>
          <p:cNvCxnSpPr/>
          <p:nvPr/>
        </p:nvCxnSpPr>
        <p:spPr>
          <a:xfrm>
            <a:off x="6920000" y="2825000"/>
            <a:ext cx="350000" cy="0"/>
          </a:xfrm>
          <a:prstGeom prst="line">
            <a:avLst/>
          </a:prstGeom>
          <a:ln w="38100">
            <a:solidFill>
              <a:srgbClr val="2E83C3"/>
            </a:solidFill>
            <a:tailEnd type="none"/>
          </a:ln>
        </p:spPr>
      </p:cxnSp>
      <p:sp>
        <p:nvSpPr>
          <p:cNvPr id="13" name="Βήμα 13"/>
          <p:cNvSpPr/>
          <p:nvPr/>
        </p:nvSpPr>
        <p:spPr>
          <a:xfrm>
            <a:off x="7270000" y="2100000"/>
            <a:ext cx="1900000" cy="1450000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5FCBEF"/>
            </a:solidFill>
          </a:ln>
        </p:spPr>
        <p:txBody>
          <a:bodyPr wrap="square" lIns="130000" tIns="130000" rIns="130000" bIns="130000" anchor="ctr"/>
          <a:lstStyle/>
          <a:p>
            <a:pPr marL="0" indent="0">
              <a:buNone/>
            </a:pPr>
            <a:r>
              <a:rPr lang="en-US" sz="1450" b="1">
                <a:solidFill>
                  <a:srgbClr val="2E83C3"/>
                </a:solidFill>
                <a:latin typeface="Trebuchet MS"/>
              </a:rPr>
              <a:t>4. Model</a:t>
            </a:r>
            <a:endParaRPr lang="en-US" sz="1450"/>
          </a:p>
          <a:p>
            <a:pPr>
              <a:buNone/>
            </a:pPr>
            <a:endParaRPr lang="en-US" sz="600"/>
          </a:p>
          <a:p>
            <a:pPr marL="0" indent="0">
              <a:buNone/>
            </a:pPr>
            <a:r>
              <a:rPr lang="en-US" sz="1500">
                <a:solidFill>
                  <a:srgbClr val="2C3C43"/>
                </a:solidFill>
                <a:latin typeface="Trebuchet MS"/>
              </a:rPr>
              <a:t>cart update</a:t>
            </a:r>
            <a:endParaRPr lang="en-US" sz="1500"/>
          </a:p>
        </p:txBody>
      </p:sp>
      <p:cxnSp>
        <p:nvCxnSpPr>
          <p:cNvPr id="53" name="Σύνδεση 53"/>
          <p:cNvCxnSpPr/>
          <p:nvPr/>
        </p:nvCxnSpPr>
        <p:spPr>
          <a:xfrm>
            <a:off x="9170000" y="2825000"/>
            <a:ext cx="350000" cy="0"/>
          </a:xfrm>
          <a:prstGeom prst="line">
            <a:avLst/>
          </a:prstGeom>
          <a:ln w="38100">
            <a:solidFill>
              <a:srgbClr val="2E83C3"/>
            </a:solidFill>
            <a:tailEnd type="none"/>
          </a:ln>
        </p:spPr>
      </p:cxnSp>
      <p:sp>
        <p:nvSpPr>
          <p:cNvPr id="14" name="Βήμα 14"/>
          <p:cNvSpPr/>
          <p:nvPr/>
        </p:nvSpPr>
        <p:spPr>
          <a:xfrm>
            <a:off x="9520000" y="2100000"/>
            <a:ext cx="1900000" cy="1450000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5FCBEF"/>
            </a:solidFill>
          </a:ln>
        </p:spPr>
        <p:txBody>
          <a:bodyPr wrap="square" lIns="130000" tIns="130000" rIns="130000" bIns="130000" anchor="ctr"/>
          <a:lstStyle/>
          <a:p>
            <a:pPr marL="0" indent="0">
              <a:buNone/>
            </a:pPr>
            <a:r>
              <a:rPr lang="en-US" sz="1450" b="1">
                <a:solidFill>
                  <a:srgbClr val="2E83C3"/>
                </a:solidFill>
                <a:latin typeface="Trebuchet MS"/>
              </a:rPr>
              <a:t>5. View</a:t>
            </a:r>
            <a:endParaRPr lang="en-US" sz="1450"/>
          </a:p>
          <a:p>
            <a:pPr>
              <a:buNone/>
            </a:pPr>
            <a:endParaRPr lang="en-US" sz="600"/>
          </a:p>
          <a:p>
            <a:pPr marL="0" indent="0">
              <a:buNone/>
            </a:pPr>
            <a:r>
              <a:rPr lang="en-US" sz="1500">
                <a:solidFill>
                  <a:srgbClr val="2C3C43"/>
                </a:solidFill>
                <a:latin typeface="Trebuchet MS"/>
              </a:rPr>
              <a:t>new set</a:t>
            </a:r>
            <a:endParaRPr lang="en-US" sz="1500"/>
          </a:p>
        </p:txBody>
      </p:sp>
      <p:sp>
        <p:nvSpPr>
          <p:cNvPr id="70" name="Σημείωση"/>
          <p:cNvSpPr/>
          <p:nvPr/>
        </p:nvSpPr>
        <p:spPr>
          <a:xfrm>
            <a:off x="1100000" y="4300000"/>
            <a:ext cx="10000000" cy="1000000"/>
          </a:xfrm>
          <a:prstGeom prst="roundRect">
            <a:avLst/>
          </a:prstGeom>
          <a:solidFill>
            <a:srgbClr val="2E946B"/>
          </a:solidFill>
          <a:ln w="12700">
            <a:solidFill>
              <a:srgbClr val="2E946B"/>
            </a:solidFill>
          </a:ln>
        </p:spPr>
        <p:txBody>
          <a:bodyPr wrap="square" lIns="180000" tIns="180000" rIns="180000" bIns="180000" anchor="ctr"/>
          <a:lstStyle/>
          <a:p>
            <a:pPr marL="0" indent="0">
              <a:buNone/>
            </a:pPr>
            <a:r>
              <a:rPr lang="en-US" sz="1750" b="1">
                <a:solidFill>
                  <a:srgbClr val="FFFFFF"/>
                </a:solidFill>
                <a:latin typeface="Trebuchet MS"/>
              </a:rPr>
              <a:t>Availability failure → the Model returns a clear result; the Controller selects an appropriate message and status.</a:t>
            </a:r>
            <a:endParaRPr lang="en-US" sz="175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MVC and Layered Architecture</a:t>
            </a:r>
          </a:p>
        </p:txBody>
      </p:sp>
      <p:sp>
        <p:nvSpPr>
          <p:cNvPr id="10" name="Αριστερά"/>
          <p:cNvSpPr/>
          <p:nvPr/>
        </p:nvSpPr>
        <p:spPr>
          <a:xfrm>
            <a:off x="610000" y="1580000"/>
            <a:ext cx="5200000" cy="4470000"/>
          </a:xfrm>
          <a:prstGeom prst="roundRect">
            <a:avLst/>
          </a:prstGeom>
          <a:solidFill>
            <a:srgbClr val="5FCBEF"/>
          </a:solidFill>
          <a:ln w="12700">
            <a:solidFill>
              <a:srgbClr val="5FCBEF"/>
            </a:solidFill>
          </a:ln>
        </p:spPr>
        <p:txBody>
          <a:bodyPr wrap="square" lIns="230000" tIns="230000" rIns="230000" bIns="230000" anchor="t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/>
              </a:rPr>
              <a:t>MVC</a:t>
            </a:r>
            <a:endParaRPr lang="en-US" sz="220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It mainly organizes the presentation level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Separates input, status, and output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Describes the interaction flow</a:t>
            </a:r>
            <a:endParaRPr lang="en-US" sz="1700"/>
          </a:p>
        </p:txBody>
      </p:sp>
      <p:sp>
        <p:nvSpPr>
          <p:cNvPr id="11" name="Δεξιά"/>
          <p:cNvSpPr/>
          <p:nvPr/>
        </p:nvSpPr>
        <p:spPr>
          <a:xfrm>
            <a:off x="5980000" y="1580000"/>
            <a:ext cx="5200000" cy="4470000"/>
          </a:xfrm>
          <a:prstGeom prst="roundRect">
            <a:avLst/>
          </a:prstGeom>
          <a:solidFill>
            <a:srgbClr val="42D0A2"/>
          </a:solidFill>
          <a:ln w="12700">
            <a:solidFill>
              <a:srgbClr val="42D0A2"/>
            </a:solidFill>
          </a:ln>
        </p:spPr>
        <p:txBody>
          <a:bodyPr wrap="square" lIns="230000" tIns="230000" rIns="230000" bIns="230000" anchor="t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/>
              </a:rPr>
              <a:t>Layers</a:t>
            </a:r>
            <a:endParaRPr lang="en-US" sz="220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They organize the entire system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Presentation → Application → Domain → Infrastructure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They define allowable dependencies</a:t>
            </a:r>
            <a:endParaRPr lang="en-US" sz="17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Variants and Related Patterns</a:t>
            </a:r>
          </a:p>
        </p:txBody>
      </p:sp>
      <p:sp>
        <p:nvSpPr>
          <p:cNvPr id="10" name="Κάρτα 1"/>
          <p:cNvSpPr/>
          <p:nvPr/>
        </p:nvSpPr>
        <p:spPr>
          <a:xfrm>
            <a:off x="610000" y="1580000"/>
            <a:ext cx="3300000" cy="4470000"/>
          </a:xfrm>
          <a:prstGeom prst="roundRect">
            <a:avLst/>
          </a:prstGeom>
          <a:solidFill>
            <a:srgbClr val="5FCBEF"/>
          </a:solidFill>
          <a:ln w="12700">
            <a:solidFill>
              <a:srgbClr val="5FCBEF"/>
            </a:solidFill>
          </a:ln>
        </p:spPr>
        <p:txBody>
          <a:bodyPr wrap="square" lIns="210000" tIns="210000" rIns="210000" bIns="210000" anchor="t"/>
          <a:lstStyle/>
          <a:p>
            <a:pPr marL="0" indent="0">
              <a:buNone/>
            </a:pPr>
            <a:r>
              <a:rPr lang="en-US" sz="2150" b="1">
                <a:solidFill>
                  <a:srgbClr val="FFFFFF"/>
                </a:solidFill>
                <a:latin typeface="Trebuchet MS"/>
              </a:rPr>
              <a:t>Passive Model</a:t>
            </a:r>
            <a:endParaRPr lang="en-US" sz="215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The Controller updates the Model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View is refreshed on command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Simple and predictable flow</a:t>
            </a:r>
            <a:endParaRPr lang="en-US" sz="1650"/>
          </a:p>
        </p:txBody>
      </p:sp>
      <p:sp>
        <p:nvSpPr>
          <p:cNvPr id="11" name="Κάρτα 2"/>
          <p:cNvSpPr/>
          <p:nvPr/>
        </p:nvSpPr>
        <p:spPr>
          <a:xfrm>
            <a:off x="4350000" y="1580000"/>
            <a:ext cx="3300000" cy="4470000"/>
          </a:xfrm>
          <a:prstGeom prst="roundRect">
            <a:avLst/>
          </a:prstGeom>
          <a:solidFill>
            <a:srgbClr val="42D0A2"/>
          </a:solidFill>
          <a:ln w="12700">
            <a:solidFill>
              <a:srgbClr val="42D0A2"/>
            </a:solidFill>
          </a:ln>
        </p:spPr>
        <p:txBody>
          <a:bodyPr wrap="square" lIns="210000" tIns="210000" rIns="210000" bIns="210000" anchor="t"/>
          <a:lstStyle/>
          <a:p>
            <a:pPr marL="0" indent="0">
              <a:buNone/>
            </a:pPr>
            <a:r>
              <a:rPr lang="en-US" sz="2150" b="1">
                <a:solidFill>
                  <a:srgbClr val="FFFFFF"/>
                </a:solidFill>
                <a:latin typeface="Trebuchet MS"/>
              </a:rPr>
              <a:t>Active Model</a:t>
            </a:r>
            <a:endParaRPr lang="en-US" sz="215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The Model notifies of changes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Multiple Views are synchronized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Often with Observer/events</a:t>
            </a:r>
            <a:endParaRPr lang="en-US" sz="1650"/>
          </a:p>
        </p:txBody>
      </p:sp>
      <p:sp>
        <p:nvSpPr>
          <p:cNvPr id="12" name="Κάρτα 3"/>
          <p:cNvSpPr/>
          <p:nvPr/>
        </p:nvSpPr>
        <p:spPr>
          <a:xfrm>
            <a:off x="8090000" y="1580000"/>
            <a:ext cx="3300000" cy="4470000"/>
          </a:xfrm>
          <a:prstGeom prst="roundRect">
            <a:avLst/>
          </a:prstGeom>
          <a:solidFill>
            <a:srgbClr val="96D141"/>
          </a:solidFill>
          <a:ln w="12700">
            <a:solidFill>
              <a:srgbClr val="96D141"/>
            </a:solidFill>
          </a:ln>
        </p:spPr>
        <p:txBody>
          <a:bodyPr wrap="square" lIns="210000" tIns="210000" rIns="210000" bIns="210000" anchor="t"/>
          <a:lstStyle/>
          <a:p>
            <a:pPr marL="0" indent="0">
              <a:buNone/>
            </a:pPr>
            <a:r>
              <a:rPr lang="en-US" sz="2150" b="1">
                <a:solidFill>
                  <a:srgbClr val="FFFFFF"/>
                </a:solidFill>
                <a:latin typeface="Trebuchet MS"/>
              </a:rPr>
              <a:t>MVP / MVVM</a:t>
            </a:r>
            <a:endParaRPr lang="en-US" sz="215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Presenter or ViewModel mediates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Strong binding in MVVM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Common in rich UI</a:t>
            </a:r>
            <a:endParaRPr lang="en-US" sz="165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 and Costs of MVC</a:t>
            </a:r>
          </a:p>
        </p:txBody>
      </p:sp>
      <p:sp>
        <p:nvSpPr>
          <p:cNvPr id="10" name="Αριστερά"/>
          <p:cNvSpPr/>
          <p:nvPr/>
        </p:nvSpPr>
        <p:spPr>
          <a:xfrm>
            <a:off x="610000" y="1580000"/>
            <a:ext cx="5200000" cy="4470000"/>
          </a:xfrm>
          <a:prstGeom prst="roundRect">
            <a:avLst/>
          </a:prstGeom>
          <a:solidFill>
            <a:srgbClr val="5FCBEF"/>
          </a:solidFill>
          <a:ln w="12700">
            <a:solidFill>
              <a:srgbClr val="5FCBEF"/>
            </a:solidFill>
          </a:ln>
        </p:spPr>
        <p:txBody>
          <a:bodyPr wrap="square" lIns="230000" tIns="230000" rIns="230000" bIns="230000" anchor="t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/>
              </a:rPr>
              <a:t>Benefits</a:t>
            </a:r>
            <a:endParaRPr lang="en-US" sz="220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Parallel work of UI and logic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Multiple views of the same Model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Better testability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Easier interface development</a:t>
            </a:r>
            <a:endParaRPr lang="en-US" sz="1700"/>
          </a:p>
        </p:txBody>
      </p:sp>
      <p:sp>
        <p:nvSpPr>
          <p:cNvPr id="11" name="Δεξιά"/>
          <p:cNvSpPr/>
          <p:nvPr/>
        </p:nvSpPr>
        <p:spPr>
          <a:xfrm>
            <a:off x="5980000" y="1580000"/>
            <a:ext cx="5200000" cy="4470000"/>
          </a:xfrm>
          <a:prstGeom prst="roundRect">
            <a:avLst/>
          </a:prstGeom>
          <a:solidFill>
            <a:srgbClr val="42D0A2"/>
          </a:solidFill>
          <a:ln w="12700">
            <a:solidFill>
              <a:srgbClr val="42D0A2"/>
            </a:solidFill>
          </a:ln>
        </p:spPr>
        <p:txBody>
          <a:bodyPr wrap="square" lIns="230000" tIns="230000" rIns="230000" bIns="230000" anchor="t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/>
              </a:rPr>
              <a:t>Costs / risks</a:t>
            </a:r>
            <a:endParaRPr lang="en-US" sz="220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More files and contracts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Complexity in small applications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Fat Controllers or Anemic Model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Strong coupling with framework</a:t>
            </a:r>
            <a:endParaRPr lang="en-US" sz="17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Common Anti-Patterns</a:t>
            </a:r>
          </a:p>
        </p:txBody>
      </p:sp>
      <p:sp>
        <p:nvSpPr>
          <p:cNvPr id="10" name="Κάρτα 1"/>
          <p:cNvSpPr/>
          <p:nvPr/>
        </p:nvSpPr>
        <p:spPr>
          <a:xfrm>
            <a:off x="610000" y="1580000"/>
            <a:ext cx="3300000" cy="4470000"/>
          </a:xfrm>
          <a:prstGeom prst="roundRect">
            <a:avLst/>
          </a:prstGeom>
          <a:solidFill>
            <a:srgbClr val="5FCBEF"/>
          </a:solidFill>
          <a:ln w="12700">
            <a:solidFill>
              <a:srgbClr val="5FCBEF"/>
            </a:solidFill>
          </a:ln>
        </p:spPr>
        <p:txBody>
          <a:bodyPr wrap="square" lIns="210000" tIns="210000" rIns="210000" bIns="210000" anchor="t"/>
          <a:lstStyle/>
          <a:p>
            <a:pPr marL="0" indent="0">
              <a:buNone/>
            </a:pPr>
            <a:r>
              <a:rPr lang="en-US" sz="2150" b="1">
                <a:solidFill>
                  <a:srgbClr val="FFFFFF"/>
                </a:solidFill>
                <a:latin typeface="Trebuchet MS"/>
              </a:rPr>
              <a:t>Fat Controller</a:t>
            </a:r>
            <a:endParaRPr lang="en-US" sz="215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Contains SQL and rules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Difficult tests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Solution: application services</a:t>
            </a:r>
            <a:endParaRPr lang="en-US" sz="1650"/>
          </a:p>
        </p:txBody>
      </p:sp>
      <p:sp>
        <p:nvSpPr>
          <p:cNvPr id="11" name="Κάρτα 2"/>
          <p:cNvSpPr/>
          <p:nvPr/>
        </p:nvSpPr>
        <p:spPr>
          <a:xfrm>
            <a:off x="4350000" y="1580000"/>
            <a:ext cx="3300000" cy="4470000"/>
          </a:xfrm>
          <a:prstGeom prst="roundRect">
            <a:avLst/>
          </a:prstGeom>
          <a:solidFill>
            <a:srgbClr val="42D0A2"/>
          </a:solidFill>
          <a:ln w="12700">
            <a:solidFill>
              <a:srgbClr val="42D0A2"/>
            </a:solidFill>
          </a:ln>
        </p:spPr>
        <p:txBody>
          <a:bodyPr wrap="square" lIns="210000" tIns="210000" rIns="210000" bIns="210000" anchor="t"/>
          <a:lstStyle/>
          <a:p>
            <a:pPr marL="0" indent="0">
              <a:buNone/>
            </a:pPr>
            <a:r>
              <a:rPr lang="en-US" sz="2150" b="1">
                <a:solidFill>
                  <a:srgbClr val="FFFFFF"/>
                </a:solidFill>
                <a:latin typeface="Trebuchet MS"/>
              </a:rPr>
              <a:t>Smart View</a:t>
            </a:r>
            <a:endParaRPr lang="en-US" sz="215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Calculates prices and policies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Doubling logic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Solution: View Models</a:t>
            </a:r>
            <a:endParaRPr lang="en-US" sz="1650"/>
          </a:p>
        </p:txBody>
      </p:sp>
      <p:sp>
        <p:nvSpPr>
          <p:cNvPr id="12" name="Κάρτα 3"/>
          <p:cNvSpPr/>
          <p:nvPr/>
        </p:nvSpPr>
        <p:spPr>
          <a:xfrm>
            <a:off x="8090000" y="1580000"/>
            <a:ext cx="3300000" cy="4470000"/>
          </a:xfrm>
          <a:prstGeom prst="roundRect">
            <a:avLst/>
          </a:prstGeom>
          <a:solidFill>
            <a:srgbClr val="96D141"/>
          </a:solidFill>
          <a:ln w="12700">
            <a:solidFill>
              <a:srgbClr val="96D141"/>
            </a:solidFill>
          </a:ln>
        </p:spPr>
        <p:txBody>
          <a:bodyPr wrap="square" lIns="210000" tIns="210000" rIns="210000" bIns="210000" anchor="t"/>
          <a:lstStyle/>
          <a:p>
            <a:pPr marL="0" indent="0">
              <a:buNone/>
            </a:pPr>
            <a:r>
              <a:rPr lang="en-US" sz="2150" b="1">
                <a:solidFill>
                  <a:srgbClr val="FFFFFF"/>
                </a:solidFill>
                <a:latin typeface="Trebuchet MS"/>
              </a:rPr>
              <a:t>God Model</a:t>
            </a:r>
            <a:endParaRPr lang="en-US" sz="215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One object does everything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High coupling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Solution: small coherent concepts</a:t>
            </a:r>
            <a:endParaRPr lang="en-US" sz="165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MVC Testing Strategy</a:t>
            </a:r>
          </a:p>
        </p:txBody>
      </p:sp>
      <p:sp>
        <p:nvSpPr>
          <p:cNvPr id="10" name="Κάρτα 1"/>
          <p:cNvSpPr/>
          <p:nvPr/>
        </p:nvSpPr>
        <p:spPr>
          <a:xfrm>
            <a:off x="610000" y="1580000"/>
            <a:ext cx="3300000" cy="4470000"/>
          </a:xfrm>
          <a:prstGeom prst="roundRect">
            <a:avLst/>
          </a:prstGeom>
          <a:solidFill>
            <a:srgbClr val="5FCBEF"/>
          </a:solidFill>
          <a:ln w="12700">
            <a:solidFill>
              <a:srgbClr val="5FCBEF"/>
            </a:solidFill>
          </a:ln>
        </p:spPr>
        <p:txBody>
          <a:bodyPr wrap="square" lIns="210000" tIns="210000" rIns="210000" bIns="210000" anchor="t"/>
          <a:lstStyle/>
          <a:p>
            <a:pPr marL="0" indent="0">
              <a:buNone/>
            </a:pPr>
            <a:r>
              <a:rPr lang="en-US" sz="2150" b="1">
                <a:solidFill>
                  <a:srgbClr val="FFFFFF"/>
                </a:solidFill>
                <a:latin typeface="Trebuchet MS"/>
              </a:rPr>
              <a:t>Model tests</a:t>
            </a:r>
            <a:endParaRPr lang="en-US" sz="215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Clear business rules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Fast unit tests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Many borderline cases</a:t>
            </a:r>
            <a:endParaRPr lang="en-US" sz="1650"/>
          </a:p>
        </p:txBody>
      </p:sp>
      <p:sp>
        <p:nvSpPr>
          <p:cNvPr id="11" name="Κάρτα 2"/>
          <p:cNvSpPr/>
          <p:nvPr/>
        </p:nvSpPr>
        <p:spPr>
          <a:xfrm>
            <a:off x="4350000" y="1580000"/>
            <a:ext cx="3300000" cy="4470000"/>
          </a:xfrm>
          <a:prstGeom prst="roundRect">
            <a:avLst/>
          </a:prstGeom>
          <a:solidFill>
            <a:srgbClr val="42D0A2"/>
          </a:solidFill>
          <a:ln w="12700">
            <a:solidFill>
              <a:srgbClr val="42D0A2"/>
            </a:solidFill>
          </a:ln>
        </p:spPr>
        <p:txBody>
          <a:bodyPr wrap="square" lIns="210000" tIns="210000" rIns="210000" bIns="210000" anchor="t"/>
          <a:lstStyle/>
          <a:p>
            <a:pPr marL="0" indent="0">
              <a:buNone/>
            </a:pPr>
            <a:r>
              <a:rPr lang="en-US" sz="2150" b="1">
                <a:solidFill>
                  <a:srgbClr val="FFFFFF"/>
                </a:solidFill>
                <a:latin typeface="Trebuchet MS"/>
              </a:rPr>
              <a:t>Controller tests</a:t>
            </a:r>
            <a:endParaRPr lang="en-US" sz="215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Routing and status check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Mock at the outer limits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No repeat domain tests</a:t>
            </a:r>
            <a:endParaRPr lang="en-US" sz="1650"/>
          </a:p>
        </p:txBody>
      </p:sp>
      <p:sp>
        <p:nvSpPr>
          <p:cNvPr id="12" name="Κάρτα 3"/>
          <p:cNvSpPr/>
          <p:nvPr/>
        </p:nvSpPr>
        <p:spPr>
          <a:xfrm>
            <a:off x="8090000" y="1580000"/>
            <a:ext cx="3300000" cy="4470000"/>
          </a:xfrm>
          <a:prstGeom prst="roundRect">
            <a:avLst/>
          </a:prstGeom>
          <a:solidFill>
            <a:srgbClr val="96D141"/>
          </a:solidFill>
          <a:ln w="12700">
            <a:solidFill>
              <a:srgbClr val="96D141"/>
            </a:solidFill>
          </a:ln>
        </p:spPr>
        <p:txBody>
          <a:bodyPr wrap="square" lIns="210000" tIns="210000" rIns="210000" bIns="210000" anchor="t"/>
          <a:lstStyle/>
          <a:p>
            <a:pPr marL="0" indent="0">
              <a:buNone/>
            </a:pPr>
            <a:r>
              <a:rPr lang="en-US" sz="2150" b="1">
                <a:solidFill>
                  <a:srgbClr val="FFFFFF"/>
                </a:solidFill>
                <a:latin typeface="Trebuchet MS"/>
              </a:rPr>
              <a:t>End-to-end</a:t>
            </a:r>
            <a:endParaRPr lang="en-US" sz="215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Critical user paths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Actual completion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Few, consistent tests</a:t>
            </a:r>
            <a:endParaRPr lang="en-US" sz="165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 and Performance in MVC</a:t>
            </a:r>
          </a:p>
        </p:txBody>
      </p:sp>
      <p:sp>
        <p:nvSpPr>
          <p:cNvPr id="10" name="Αριστερά"/>
          <p:cNvSpPr/>
          <p:nvPr/>
        </p:nvSpPr>
        <p:spPr>
          <a:xfrm>
            <a:off x="610000" y="1580000"/>
            <a:ext cx="5200000" cy="4470000"/>
          </a:xfrm>
          <a:prstGeom prst="roundRect">
            <a:avLst/>
          </a:prstGeom>
          <a:solidFill>
            <a:srgbClr val="5FCBEF"/>
          </a:solidFill>
          <a:ln w="12700">
            <a:solidFill>
              <a:srgbClr val="5FCBEF"/>
            </a:solidFill>
          </a:ln>
        </p:spPr>
        <p:txBody>
          <a:bodyPr wrap="square" lIns="230000" tIns="230000" rIns="230000" bIns="230000" anchor="t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/>
              </a:rPr>
              <a:t>Safety</a:t>
            </a:r>
            <a:endParaRPr lang="en-US" sz="220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Identity verification before action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Authorization per use case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Input validation and output encoding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CSRF protection and secure cookies</a:t>
            </a:r>
            <a:endParaRPr lang="en-US" sz="1700"/>
          </a:p>
        </p:txBody>
      </p:sp>
      <p:sp>
        <p:nvSpPr>
          <p:cNvPr id="11" name="Δεξιά"/>
          <p:cNvSpPr/>
          <p:nvPr/>
        </p:nvSpPr>
        <p:spPr>
          <a:xfrm>
            <a:off x="5980000" y="1580000"/>
            <a:ext cx="5200000" cy="4470000"/>
          </a:xfrm>
          <a:prstGeom prst="roundRect">
            <a:avLst/>
          </a:prstGeom>
          <a:solidFill>
            <a:srgbClr val="42D0A2"/>
          </a:solidFill>
          <a:ln w="12700">
            <a:solidFill>
              <a:srgbClr val="42D0A2"/>
            </a:solidFill>
          </a:ln>
        </p:spPr>
        <p:txBody>
          <a:bodyPr wrap="square" lIns="230000" tIns="230000" rIns="230000" bIns="230000" anchor="t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/>
              </a:rPr>
              <a:t>Performance</a:t>
            </a:r>
            <a:endParaRPr lang="en-US" sz="220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Pagination instead of full loading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Caching with explicit invalidation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Avoiding N+1 queries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Async I/O where there is a wait</a:t>
            </a:r>
            <a:endParaRPr lang="en-US" sz="17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MVC: A Short Case Study</a:t>
            </a:r>
          </a:p>
        </p:txBody>
      </p:sp>
      <p:sp>
        <p:nvSpPr>
          <p:cNvPr id="10" name="Αριστερά"/>
          <p:cNvSpPr/>
          <p:nvPr/>
        </p:nvSpPr>
        <p:spPr>
          <a:xfrm>
            <a:off x="610000" y="1580000"/>
            <a:ext cx="5200000" cy="4470000"/>
          </a:xfrm>
          <a:prstGeom prst="roundRect">
            <a:avLst/>
          </a:prstGeom>
          <a:solidFill>
            <a:srgbClr val="5FCBEF"/>
          </a:solidFill>
          <a:ln w="12700">
            <a:solidFill>
              <a:srgbClr val="5FCBEF"/>
            </a:solidFill>
          </a:ln>
        </p:spPr>
        <p:txBody>
          <a:bodyPr wrap="square" lIns="230000" tIns="230000" rIns="230000" bIns="230000" anchor="t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/>
              </a:rPr>
              <a:t>Use case: checkout</a:t>
            </a:r>
            <a:endParaRPr lang="en-US" sz="220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CheckoutController: receives command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OrderService: orchestrates the transaction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Order/Cart: enforce rules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Repository/Payment: infrastructure adapters</a:t>
            </a:r>
            <a:endParaRPr lang="en-US" sz="1700"/>
          </a:p>
        </p:txBody>
      </p:sp>
      <p:sp>
        <p:nvSpPr>
          <p:cNvPr id="11" name="Δεξιά"/>
          <p:cNvSpPr/>
          <p:nvPr/>
        </p:nvSpPr>
        <p:spPr>
          <a:xfrm>
            <a:off x="5980000" y="1580000"/>
            <a:ext cx="5200000" cy="4470000"/>
          </a:xfrm>
          <a:prstGeom prst="roundRect">
            <a:avLst/>
          </a:prstGeom>
          <a:solidFill>
            <a:srgbClr val="42D0A2"/>
          </a:solidFill>
          <a:ln w="12700">
            <a:solidFill>
              <a:srgbClr val="42D0A2"/>
            </a:solidFill>
          </a:ln>
        </p:spPr>
        <p:txBody>
          <a:bodyPr wrap="square" lIns="230000" tIns="230000" rIns="230000" bIns="230000" anchor="t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/>
              </a:rPr>
              <a:t>Result</a:t>
            </a:r>
            <a:endParaRPr lang="en-US" sz="220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OrderViewModel: view data only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View: summary or error page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No SQL or pricing in View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No HTML inside the Model</a:t>
            </a:r>
            <a:endParaRPr lang="en-US" sz="17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Exercise</a:t>
            </a:r>
          </a:p>
        </p:txBody>
      </p:sp>
      <p:sp>
        <p:nvSpPr>
          <p:cNvPr id="10" name="Αριστερά"/>
          <p:cNvSpPr/>
          <p:nvPr/>
        </p:nvSpPr>
        <p:spPr>
          <a:xfrm>
            <a:off x="610000" y="1580000"/>
            <a:ext cx="5200000" cy="4470000"/>
          </a:xfrm>
          <a:prstGeom prst="roundRect">
            <a:avLst/>
          </a:prstGeom>
          <a:solidFill>
            <a:srgbClr val="5FCBEF"/>
          </a:solidFill>
          <a:ln w="12700">
            <a:solidFill>
              <a:srgbClr val="5FCBEF"/>
            </a:solidFill>
          </a:ln>
        </p:spPr>
        <p:txBody>
          <a:bodyPr wrap="square" lIns="230000" tIns="230000" rIns="230000" bIns="230000" anchor="t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/>
              </a:rPr>
              <a:t>Scenario</a:t>
            </a:r>
            <a:endParaRPr lang="en-US" sz="220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Room reservation application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The user chooses a time and room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Overlapping reservations are prohibited.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The administrator approves special requests</a:t>
            </a:r>
            <a:endParaRPr lang="en-US" sz="1700"/>
          </a:p>
        </p:txBody>
      </p:sp>
      <p:sp>
        <p:nvSpPr>
          <p:cNvPr id="11" name="Δεξιά"/>
          <p:cNvSpPr/>
          <p:nvPr/>
        </p:nvSpPr>
        <p:spPr>
          <a:xfrm>
            <a:off x="5980000" y="1580000"/>
            <a:ext cx="5200000" cy="4470000"/>
          </a:xfrm>
          <a:prstGeom prst="roundRect">
            <a:avLst/>
          </a:prstGeom>
          <a:solidFill>
            <a:srgbClr val="42D0A2"/>
          </a:solidFill>
          <a:ln w="12700">
            <a:solidFill>
              <a:srgbClr val="42D0A2"/>
            </a:solidFill>
          </a:ln>
        </p:spPr>
        <p:txBody>
          <a:bodyPr wrap="square" lIns="230000" tIns="230000" rIns="230000" bIns="230000" anchor="t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/>
              </a:rPr>
              <a:t>10 minute deliverable</a:t>
            </a:r>
            <a:endParaRPr lang="en-US" sz="220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Define Model, Views and Controllers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Design the “new booking” flow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Place the overlay rule</a:t>
            </a:r>
            <a:endParaRPr lang="en-US" sz="1700"/>
          </a:p>
          <a:p>
            <a:pPr marL="0" indent="0">
              <a:buChar char="•"/>
            </a:pPr>
            <a:r>
              <a:rPr lang="en-US" sz="1700">
                <a:solidFill>
                  <a:srgbClr val="2C3C43"/>
                </a:solidFill>
                <a:latin typeface="Trebuchet MS"/>
              </a:rPr>
              <a:t>Suggest 3 automated tests</a:t>
            </a:r>
            <a:endParaRPr lang="en-US" sz="17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MVC Selection Checklist</a:t>
            </a:r>
          </a:p>
        </p:txBody>
      </p:sp>
      <p:sp>
        <p:nvSpPr>
          <p:cNvPr id="10" name="Κάρτα 1"/>
          <p:cNvSpPr/>
          <p:nvPr/>
        </p:nvSpPr>
        <p:spPr>
          <a:xfrm>
            <a:off x="610000" y="1580000"/>
            <a:ext cx="3300000" cy="4470000"/>
          </a:xfrm>
          <a:prstGeom prst="roundRect">
            <a:avLst/>
          </a:prstGeom>
          <a:solidFill>
            <a:srgbClr val="5FCBEF"/>
          </a:solidFill>
          <a:ln w="12700">
            <a:solidFill>
              <a:srgbClr val="5FCBEF"/>
            </a:solidFill>
          </a:ln>
        </p:spPr>
        <p:txBody>
          <a:bodyPr wrap="square" lIns="210000" tIns="210000" rIns="210000" bIns="210000" anchor="t"/>
          <a:lstStyle/>
          <a:p>
            <a:pPr marL="0" indent="0">
              <a:buNone/>
            </a:pPr>
            <a:r>
              <a:rPr lang="en-US" sz="2150" b="1">
                <a:solidFill>
                  <a:srgbClr val="FFFFFF"/>
                </a:solidFill>
                <a:latin typeface="Trebuchet MS"/>
              </a:rPr>
              <a:t>Choose MVC when…</a:t>
            </a:r>
            <a:endParaRPr lang="en-US" sz="215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There is rich interaction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Many aspects are expected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Need to separate groups</a:t>
            </a:r>
            <a:endParaRPr lang="en-US" sz="1650"/>
          </a:p>
        </p:txBody>
      </p:sp>
      <p:sp>
        <p:nvSpPr>
          <p:cNvPr id="11" name="Κάρτα 2"/>
          <p:cNvSpPr/>
          <p:nvPr/>
        </p:nvSpPr>
        <p:spPr>
          <a:xfrm>
            <a:off x="4350000" y="1580000"/>
            <a:ext cx="3300000" cy="4470000"/>
          </a:xfrm>
          <a:prstGeom prst="roundRect">
            <a:avLst/>
          </a:prstGeom>
          <a:solidFill>
            <a:srgbClr val="42D0A2"/>
          </a:solidFill>
          <a:ln w="12700">
            <a:solidFill>
              <a:srgbClr val="42D0A2"/>
            </a:solidFill>
          </a:ln>
        </p:spPr>
        <p:txBody>
          <a:bodyPr wrap="square" lIns="210000" tIns="210000" rIns="210000" bIns="210000" anchor="t"/>
          <a:lstStyle/>
          <a:p>
            <a:pPr marL="0" indent="0">
              <a:buNone/>
            </a:pPr>
            <a:r>
              <a:rPr lang="en-US" sz="2150" b="1">
                <a:solidFill>
                  <a:srgbClr val="FFFFFF"/>
                </a:solidFill>
                <a:latin typeface="Trebuchet MS"/>
              </a:rPr>
              <a:t>Be careful…</a:t>
            </a:r>
            <a:endParaRPr lang="en-US" sz="215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Clear liability limits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Small and thin controllers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The Domain is independent of UI</a:t>
            </a:r>
            <a:endParaRPr lang="en-US" sz="1650"/>
          </a:p>
        </p:txBody>
      </p:sp>
      <p:sp>
        <p:nvSpPr>
          <p:cNvPr id="12" name="Κάρτα 3"/>
          <p:cNvSpPr/>
          <p:nvPr/>
        </p:nvSpPr>
        <p:spPr>
          <a:xfrm>
            <a:off x="8090000" y="1580000"/>
            <a:ext cx="3300000" cy="4470000"/>
          </a:xfrm>
          <a:prstGeom prst="roundRect">
            <a:avLst/>
          </a:prstGeom>
          <a:solidFill>
            <a:srgbClr val="96D141"/>
          </a:solidFill>
          <a:ln w="12700">
            <a:solidFill>
              <a:srgbClr val="96D141"/>
            </a:solidFill>
          </a:ln>
        </p:spPr>
        <p:txBody>
          <a:bodyPr wrap="square" lIns="210000" tIns="210000" rIns="210000" bIns="210000" anchor="t"/>
          <a:lstStyle/>
          <a:p>
            <a:pPr marL="0" indent="0">
              <a:buNone/>
            </a:pPr>
            <a:r>
              <a:rPr lang="en-US" sz="2150" b="1">
                <a:solidFill>
                  <a:srgbClr val="FFFFFF"/>
                </a:solidFill>
                <a:latin typeface="Trebuchet MS"/>
              </a:rPr>
              <a:t>Count…</a:t>
            </a:r>
            <a:endParaRPr lang="en-US" sz="2150"/>
          </a:p>
          <a:p>
            <a:pPr>
              <a:buNone/>
            </a:pPr>
            <a:endParaRPr lang="en-US" sz="8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Time to change a function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Coverage of critical rules</a:t>
            </a:r>
            <a:endParaRPr lang="en-US" sz="1650"/>
          </a:p>
          <a:p>
            <a:pPr marL="0" indent="0">
              <a:buChar char="•"/>
            </a:pPr>
            <a:r>
              <a:rPr lang="en-US" sz="1650">
                <a:solidFill>
                  <a:srgbClr val="2C3C43"/>
                </a:solidFill>
                <a:latin typeface="Trebuchet MS"/>
              </a:rPr>
              <a:t>Coupling and response time</a:t>
            </a:r>
            <a:endParaRPr lang="en-US" sz="16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Όψη">
  <a:themeElements>
    <a:clrScheme name="Όψη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Όψη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Όψη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</TotalTime>
  <Words>2996</Words>
  <Application>Microsoft Office PowerPoint</Application>
  <PresentationFormat>Ευρεία οθόνη</PresentationFormat>
  <Paragraphs>529</Paragraphs>
  <Slides>67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67</vt:i4>
      </vt:variant>
    </vt:vector>
  </HeadingPairs>
  <TitlesOfParts>
    <vt:vector size="71" baseType="lpstr">
      <vt:lpstr>Arial</vt:lpstr>
      <vt:lpstr>Trebuchet MS</vt:lpstr>
      <vt:lpstr>Wingdings 3</vt:lpstr>
      <vt:lpstr>Όψη</vt:lpstr>
      <vt:lpstr>SOFTWARE ENGINEERING    Software Architecture</vt:lpstr>
      <vt:lpstr>Software architecture</vt:lpstr>
      <vt:lpstr>Architectural design</vt:lpstr>
      <vt:lpstr>Advantages of a well-designed architecture </vt:lpstr>
      <vt:lpstr>System architecture and features</vt:lpstr>
      <vt:lpstr>Disadvantages - Architectural contradictions </vt:lpstr>
      <vt:lpstr>System Building</vt:lpstr>
      <vt:lpstr>Example: robotic packaging control</vt:lpstr>
      <vt:lpstr>Architectural Design Decisions</vt:lpstr>
      <vt:lpstr>Architectural Design Decisions</vt:lpstr>
      <vt:lpstr>Architectural Reuse</vt:lpstr>
      <vt:lpstr>Architectural styles</vt:lpstr>
      <vt:lpstr>Architectural Models</vt:lpstr>
      <vt:lpstr>System Organization</vt:lpstr>
      <vt:lpstr>Repository Model</vt:lpstr>
      <vt:lpstr>Example: The architecture of a complete CASE toolkit</vt:lpstr>
      <vt:lpstr>Features of the Repository Model</vt:lpstr>
      <vt:lpstr>Client-Server Model</vt:lpstr>
      <vt:lpstr>Example: library of old movies and photos</vt:lpstr>
      <vt:lpstr>Characteristics of the Client-Server Model</vt:lpstr>
      <vt:lpstr>Abstract Machine Model</vt:lpstr>
      <vt:lpstr>Example: code version control system</vt:lpstr>
      <vt:lpstr>Characteristics of the Abstract Machine Model</vt:lpstr>
      <vt:lpstr>Modular Building Models</vt:lpstr>
      <vt:lpstr>Object Model</vt:lpstr>
      <vt:lpstr>Example: Invoice system</vt:lpstr>
      <vt:lpstr>Characteristics of the Object-Oriented Model</vt:lpstr>
      <vt:lpstr>Pipeline and Filter Model</vt:lpstr>
      <vt:lpstr>Pipeline and Filter Model</vt:lpstr>
      <vt:lpstr>Example: Invoice management system</vt:lpstr>
      <vt:lpstr>Funnel model features</vt:lpstr>
      <vt:lpstr>Control style</vt:lpstr>
      <vt:lpstr>Centralized Control Model</vt:lpstr>
      <vt:lpstr>Call-Return Model</vt:lpstr>
      <vt:lpstr>Example: Call-Return Model</vt:lpstr>
      <vt:lpstr>Administrator Model</vt:lpstr>
      <vt:lpstr>Example: Administrator Model</vt:lpstr>
      <vt:lpstr>Event-driven Model</vt:lpstr>
      <vt:lpstr>Broadcast Model</vt:lpstr>
      <vt:lpstr>Example of a broadcast model</vt:lpstr>
      <vt:lpstr>Interrupt-driven Systems</vt:lpstr>
      <vt:lpstr>Example: Interruption-driven control model</vt:lpstr>
      <vt:lpstr>Reference Architectures</vt:lpstr>
      <vt:lpstr>Reference Architectures</vt:lpstr>
      <vt:lpstr>OSI Reference Model</vt:lpstr>
      <vt:lpstr>Web services stack</vt:lpstr>
      <vt:lpstr>Modern architectural choices</vt:lpstr>
      <vt:lpstr>From a Monolith to a Distributed System</vt:lpstr>
      <vt:lpstr>Microservices: When Do They Make Sense?</vt:lpstr>
      <vt:lpstr>Hexagonal / Ports &amp; Adapters</vt:lpstr>
      <vt:lpstr>Evaluating an Architecture</vt:lpstr>
      <vt:lpstr>MVC (Model-View-Controller)</vt:lpstr>
      <vt:lpstr>MVC</vt:lpstr>
      <vt:lpstr>MVC — When to use it</vt:lpstr>
      <vt:lpstr>MVC in Depth</vt:lpstr>
      <vt:lpstr>Responsibilities of the Three Components</vt:lpstr>
      <vt:lpstr>Flow of a Web Request in MVC</vt:lpstr>
      <vt:lpstr>Example: Adding a Product to the Cart</vt:lpstr>
      <vt:lpstr>MVC and Layered Architecture</vt:lpstr>
      <vt:lpstr>Variants and Related Patterns</vt:lpstr>
      <vt:lpstr>Benefits and Costs of MVC</vt:lpstr>
      <vt:lpstr>Common Anti-Patterns</vt:lpstr>
      <vt:lpstr>MVC Testing Strategy</vt:lpstr>
      <vt:lpstr>Security and Performance in MVC</vt:lpstr>
      <vt:lpstr>MVC: A Short Case Study</vt:lpstr>
      <vt:lpstr>Design Exercise</vt:lpstr>
      <vt:lpstr>MVC Selection Checklist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GEORGIOS DIMITRAKOPOULOS</dc:creator>
  <cp:lastModifiedBy>GEORGIOS DIMITRAKOPOULOS</cp:lastModifiedBy>
  <cp:revision>7</cp:revision>
  <dcterms:created xsi:type="dcterms:W3CDTF">2025-11-09T21:09:42Z</dcterms:created>
  <dcterms:modified xsi:type="dcterms:W3CDTF">2026-10-21T16:25:44Z</dcterms:modified>
</cp:coreProperties>
</file>